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7018000" cy="10795000"/>
  <p:notesSz cx="6858000" cy="9144000"/>
  <p:embeddedFontLst>
    <p:embeddedFont>
      <p:font typeface="等线" panose="02010600030101010101" pitchFamily="2" charset="-122"/>
      <p:regular r:id="rId4"/>
      <p:bold r:id="rId5"/>
    </p:embeddedFont>
    <p:embeddedFont>
      <p:font typeface="等线 Light" panose="02010600030101010101" pitchFamily="2" charset="-122"/>
      <p:regular r:id="rId6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5" Type="http://schemas.openxmlformats.org/officeDocument/2006/relationships/font" Target="fonts/font2.fntdata"/><Relationship Id="rId10" Type="http://schemas.openxmlformats.org/officeDocument/2006/relationships/tableStyles" Target="tableStyles.xml"/><Relationship Id="rId4" Type="http://schemas.openxmlformats.org/officeDocument/2006/relationships/font" Target="fonts/font1.fntdata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366771-5B97-4EA8-8E63-6E4C07BAF4A4}" type="datetimeFigureOut">
              <a:rPr lang="zh-CN" altLang="en-US" smtClean="0"/>
              <a:t>2026/10/9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996950" y="1143000"/>
            <a:ext cx="48641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E629A3-F4A6-40BE-A991-BE9AF11C3E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27074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000">
                <a:latin typeface="Arial" panose="020B0604020202020204" pitchFamily="34" charset="0"/>
              </a:rPr>
              <a:t>LoRA fitting and completed D data construction, updated 2026-10-09. Styling only inspired by supplied Jeong2026 references: bordered parallel stages, muted blue frozen weights and peach low-rank update. All scientific content derives from this project. No real93 photo is displayed. LoRA: 93 reviewed image-caption pairs; DiffSynth-Studio SFT; AdamW; FlowMatchSFTLoss; constant LR 1e-4; rank16; batch1; max pixels1048576; 93x5x4=1860 steps. LoRA base is DiT; adapters cover attention and image-MLP projections, not text encoder. The W + BA diagram is conceptual, not a claim about exact attention architecture. Generation: Qwen-Image-2.1 INT8 convrot; Qwen3VL 8B INT8; step-1860 strength0.8; Euler/simple25 steps; CFG1; random seed; denoise1;1184x896; batch1; empty negative prompt; BF16 VAE. Actual sequence: planned generation, screening, supplementary generation, screening, 1085 accepted images. No intermediate candidate counts shown. Examples D_0003,D_0159,D_0985,D_1006 are accepted dataset images. Evidence docs/v5_prompts/qwen21_lora_training_validation.md; experiments/v5_d/acceptance.md. No reference contents reused.</a:t>
            </a:r>
            <a:endParaRPr lang="zh-CN" altLang="en-US" sz="1000">
              <a:latin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E629A3-F4A6-40BE-A991-BE9AF11C3E96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51665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D37FC4-F7A9-B7D3-BB8F-84A109B4B8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27250" y="1766683"/>
            <a:ext cx="12763500" cy="3758259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BEC2F4A-1B1A-50E1-5F05-F67D6AE0AE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27250" y="5669875"/>
            <a:ext cx="12763500" cy="260629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BEB448C-8C54-B0C4-06A3-771DB1AE3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823F6-9C72-4945-B60C-9BC4B86F10D3}" type="datetimeFigureOut">
              <a:rPr lang="zh-CN" altLang="en-US" smtClean="0"/>
              <a:t>2026/10/9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1EF35F3-A88F-422F-063B-CE85108B0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48884-22DE-37ED-FF31-D95EA7B65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B84D3-C9B3-4F17-A163-31137DDDBB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11446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6781D6-BA44-662D-7439-E8BBA71EC7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6F85A31-E3B2-3EB9-BAAA-48DF669446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F4D25C5-7DBC-125B-5AA3-B233EF5AC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823F6-9C72-4945-B60C-9BC4B86F10D3}" type="datetimeFigureOut">
              <a:rPr lang="zh-CN" altLang="en-US" smtClean="0"/>
              <a:t>2026/10/9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DAC2AE2-56CB-8953-69E7-B31610D78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13EA361-AA57-233C-4BF0-D7EAF25EA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B84D3-C9B3-4F17-A163-31137DDDBB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25316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446195-951D-10B8-75A5-F9D2A5107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1125" y="2691257"/>
            <a:ext cx="14678025" cy="4490419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3AB852B-0B2B-9A8E-5F9E-467AF603A1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61125" y="7224157"/>
            <a:ext cx="14678025" cy="236140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7EF6AC1-1235-D984-230C-B0CC7F0B2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823F6-9C72-4945-B60C-9BC4B86F10D3}" type="datetimeFigureOut">
              <a:rPr lang="zh-CN" altLang="en-US" smtClean="0"/>
              <a:t>2026/10/9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83FE392-CA9D-6ED0-0F41-5672BEDF1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3BE99B0-A01F-04D0-F168-CAA74E9F0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B84D3-C9B3-4F17-A163-31137DDDBB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81544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CFC0CC-253D-DDC0-AC21-E2252EE27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52E74AA-8888-4B01-BA4B-A65EFBE506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69988" y="2873669"/>
            <a:ext cx="7232650" cy="684932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0A3D22C-746B-5280-82EF-23617E166E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615363" y="2873669"/>
            <a:ext cx="7232650" cy="684932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DD0332E-31E8-464F-B9D8-E643644D4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823F6-9C72-4945-B60C-9BC4B86F10D3}" type="datetimeFigureOut">
              <a:rPr lang="zh-CN" altLang="en-US" smtClean="0"/>
              <a:t>2026/10/9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99BD5C0-1BE7-65BB-181B-B0FC49369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F02C1DD-B22E-B0F4-89F7-3024E354A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B84D3-C9B3-4F17-A163-31137DDDBB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56394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4DC97A-64CC-EF5F-9328-6ACFD0DC5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2205" y="574736"/>
            <a:ext cx="14678025" cy="2086534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36A9691-7834-D23F-40B4-DDFAEB578D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72206" y="2646275"/>
            <a:ext cx="7199411" cy="129689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27D28F0-B17A-F6D9-DE52-6029D15CD4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72206" y="3943174"/>
            <a:ext cx="7199411" cy="579981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7BAF20B-338A-0B43-FCC4-01CF8E5C98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615363" y="2646275"/>
            <a:ext cx="7234867" cy="129689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6E5EDA6-F734-3EFE-4810-14B6E27AD3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615363" y="3943174"/>
            <a:ext cx="7234867" cy="579981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BB58A83-6689-E066-9DCE-702F88B90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823F6-9C72-4945-B60C-9BC4B86F10D3}" type="datetimeFigureOut">
              <a:rPr lang="zh-CN" altLang="en-US" smtClean="0"/>
              <a:t>2026/10/9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E7573B9-FD56-D8B6-1773-44EBA9056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33FB7F7-D56B-5DD9-6AF6-9F8DA03E2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B84D3-C9B3-4F17-A163-31137DDDBB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03140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B87211-AFB9-E209-CD96-0405E0514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B23A17F-0EB1-193A-7A54-E384A3809F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823F6-9C72-4945-B60C-9BC4B86F10D3}" type="datetimeFigureOut">
              <a:rPr lang="zh-CN" altLang="en-US" smtClean="0"/>
              <a:t>2026/10/9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C95AED5-323A-8531-0CDC-D57F691E8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DBB2A59-3A0E-3CC6-403C-E4F146AD1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B84D3-C9B3-4F17-A163-31137DDDBB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93215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04D89B7-667B-D13B-0575-541715DE2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823F6-9C72-4945-B60C-9BC4B86F10D3}" type="datetimeFigureOut">
              <a:rPr lang="zh-CN" altLang="en-US" smtClean="0"/>
              <a:t>2026/10/9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5AFCE56-2014-6220-004C-708AC539D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7D1B5ED-1578-419C-2A3A-DA5DB8EB6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B84D3-C9B3-4F17-A163-31137DDDBB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81718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983079-24F2-D196-1F41-2E8BB54FC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2206" y="719667"/>
            <a:ext cx="5488747" cy="251883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D9E1685-2ED4-2897-EBFE-CEC61885D1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34867" y="1554282"/>
            <a:ext cx="8615363" cy="767144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92DC46E-E79D-77D4-C3EE-54103579AF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72206" y="3238500"/>
            <a:ext cx="5488747" cy="599972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7A0975F-6943-7D45-7D5D-F7984DE6B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823F6-9C72-4945-B60C-9BC4B86F10D3}" type="datetimeFigureOut">
              <a:rPr lang="zh-CN" altLang="en-US" smtClean="0"/>
              <a:t>2026/10/9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3F6549F-1A56-3235-02BC-CB777CA24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FC48E61-0373-23C9-6711-9A2A985A4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B84D3-C9B3-4F17-A163-31137DDDBB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31903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026C27-01D2-4939-676E-A70C78C2D6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2206" y="719667"/>
            <a:ext cx="5488747" cy="251883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4C1E3CC-7696-26AB-93F9-00ACFAB923B8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7234867" y="1554282"/>
            <a:ext cx="8615363" cy="767144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7D24A14-FF91-50DF-971E-061EDEFD91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72206" y="3238500"/>
            <a:ext cx="5488747" cy="599972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36F6046-F65F-FB7F-0C1F-77A285E01A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823F6-9C72-4945-B60C-9BC4B86F10D3}" type="datetimeFigureOut">
              <a:rPr lang="zh-CN" altLang="en-US" smtClean="0"/>
              <a:t>2026/10/9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B110741-B7EA-82DD-C9C8-94037AA5E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2C0FCE3-3891-D61A-BC68-A6A79639D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B84D3-C9B3-4F17-A163-31137DDDBB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17021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7ABE0C-C015-E429-830F-7BABC01F8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85DF0A7-DCEA-F633-3B55-BC73A7CE95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1340E7B-5B3F-8DAF-E157-397BFFAA0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823F6-9C72-4945-B60C-9BC4B86F10D3}" type="datetimeFigureOut">
              <a:rPr lang="zh-CN" altLang="en-US" smtClean="0"/>
              <a:t>2026/10/9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C313985-115F-9BD4-86FE-2B104CC78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04F5407-3987-9A43-7854-53829A412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B84D3-C9B3-4F17-A163-31137DDDBB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0180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7EB2249-9107-BCAB-E715-47AA317FA2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2178506" y="574734"/>
            <a:ext cx="3669506" cy="914826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66F51B9-8B1F-BC5C-5865-38E1ABB2E8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169987" y="574734"/>
            <a:ext cx="10795794" cy="914826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4607CED-E4FF-A6A2-4375-3022072E19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823F6-9C72-4945-B60C-9BC4B86F10D3}" type="datetimeFigureOut">
              <a:rPr lang="zh-CN" altLang="en-US" smtClean="0"/>
              <a:t>2026/10/9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014B394-5E4A-F7BF-9B62-8AF29DD2D9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0AEA814-9DCA-23B5-C221-0BD443A08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B84D3-C9B3-4F17-A163-31137DDDBB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95536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A1C0891-A842-29AD-EC0B-9D4FE608F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9989" y="574736"/>
            <a:ext cx="14678025" cy="20865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5899C7B-0F81-CBC2-E580-3D32D12C7C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69989" y="2873669"/>
            <a:ext cx="14678025" cy="6849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44BCE6C-B4CB-626E-0401-F4CAF52FDA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69988" y="10005368"/>
            <a:ext cx="3829050" cy="5747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0823F6-9C72-4945-B60C-9BC4B86F10D3}" type="datetimeFigureOut">
              <a:rPr lang="zh-CN" altLang="en-US" smtClean="0"/>
              <a:t>2026/10/9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0D1FE7B-677B-F14E-67AD-F9C5AE7AEA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37214" y="10005368"/>
            <a:ext cx="5743575" cy="5747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A255C85-C19C-C2FE-8395-9DA6A9410E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018963" y="10005368"/>
            <a:ext cx="3829050" cy="5747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8B84D3-C9B3-4F17-A163-31137DDDBB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4278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7" Type="http://schemas.openxmlformats.org/officeDocument/2006/relationships/image" Target="../media/image4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_001">
            <a:extLst>
              <a:ext uri="{FF2B5EF4-FFF2-40B4-BE49-F238E27FC236}">
                <a16:creationId xmlns:a16="http://schemas.microsoft.com/office/drawing/2014/main" id="{457F150C-0DEA-10FF-C141-5B66B155490B}"/>
              </a:ext>
            </a:extLst>
          </p:cNvPr>
          <p:cNvSpPr/>
          <p:nvPr/>
        </p:nvSpPr>
        <p:spPr>
          <a:xfrm>
            <a:off x="215900" y="495300"/>
            <a:ext cx="6794500" cy="10007600"/>
          </a:xfrm>
          <a:prstGeom prst="rect">
            <a:avLst/>
          </a:prstGeom>
          <a:noFill/>
          <a:ln w="20320" cap="flat" cmpd="sng" algn="ctr">
            <a:solidFill>
              <a:srgbClr val="C4CCD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rect_002">
            <a:extLst>
              <a:ext uri="{FF2B5EF4-FFF2-40B4-BE49-F238E27FC236}">
                <a16:creationId xmlns:a16="http://schemas.microsoft.com/office/drawing/2014/main" id="{5E618199-864D-3980-5EA9-01F25E9A37EA}"/>
              </a:ext>
            </a:extLst>
          </p:cNvPr>
          <p:cNvSpPr/>
          <p:nvPr/>
        </p:nvSpPr>
        <p:spPr>
          <a:xfrm>
            <a:off x="7429500" y="495300"/>
            <a:ext cx="9372600" cy="10007600"/>
          </a:xfrm>
          <a:prstGeom prst="rect">
            <a:avLst/>
          </a:prstGeom>
          <a:noFill/>
          <a:ln w="20320" cap="flat" cmpd="sng" algn="ctr">
            <a:solidFill>
              <a:srgbClr val="C4CCD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roundrect_003">
            <a:extLst>
              <a:ext uri="{FF2B5EF4-FFF2-40B4-BE49-F238E27FC236}">
                <a16:creationId xmlns:a16="http://schemas.microsoft.com/office/drawing/2014/main" id="{9EF7D562-9685-8502-781C-9BF7104519A7}"/>
              </a:ext>
            </a:extLst>
          </p:cNvPr>
          <p:cNvSpPr/>
          <p:nvPr/>
        </p:nvSpPr>
        <p:spPr>
          <a:xfrm>
            <a:off x="469900" y="203200"/>
            <a:ext cx="6286500" cy="622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BA6C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text_004">
            <a:extLst>
              <a:ext uri="{FF2B5EF4-FFF2-40B4-BE49-F238E27FC236}">
                <a16:creationId xmlns:a16="http://schemas.microsoft.com/office/drawing/2014/main" id="{D5A638EB-29C3-3B43-0C94-7CF0F9B93C29}"/>
              </a:ext>
            </a:extLst>
          </p:cNvPr>
          <p:cNvSpPr txBox="1"/>
          <p:nvPr/>
        </p:nvSpPr>
        <p:spPr>
          <a:xfrm>
            <a:off x="571500" y="279399"/>
            <a:ext cx="6083300" cy="4699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2400" b="1">
                <a:solidFill>
                  <a:srgbClr val="181818"/>
                </a:solidFill>
                <a:latin typeface="Times New Roman" panose="02020603050405020304" pitchFamily="18" charset="0"/>
              </a:rPr>
              <a:t>(a) LoRA adaptation</a:t>
            </a:r>
            <a:endParaRPr lang="zh-CN" altLang="en-US" sz="2400" b="1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sp>
        <p:nvSpPr>
          <p:cNvPr id="6" name="roundrect_005">
            <a:extLst>
              <a:ext uri="{FF2B5EF4-FFF2-40B4-BE49-F238E27FC236}">
                <a16:creationId xmlns:a16="http://schemas.microsoft.com/office/drawing/2014/main" id="{BE4336D9-7E59-B134-D23F-477C3941B68B}"/>
              </a:ext>
            </a:extLst>
          </p:cNvPr>
          <p:cNvSpPr/>
          <p:nvPr/>
        </p:nvSpPr>
        <p:spPr>
          <a:xfrm>
            <a:off x="7683500" y="203200"/>
            <a:ext cx="8864600" cy="622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BA6C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text_006">
            <a:extLst>
              <a:ext uri="{FF2B5EF4-FFF2-40B4-BE49-F238E27FC236}">
                <a16:creationId xmlns:a16="http://schemas.microsoft.com/office/drawing/2014/main" id="{1F020AF3-7546-E6B7-AB1C-6563BED138E6}"/>
              </a:ext>
            </a:extLst>
          </p:cNvPr>
          <p:cNvSpPr txBox="1"/>
          <p:nvPr/>
        </p:nvSpPr>
        <p:spPr>
          <a:xfrm>
            <a:off x="7785100" y="279399"/>
            <a:ext cx="8661400" cy="4699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2400" b="1">
                <a:solidFill>
                  <a:srgbClr val="181818"/>
                </a:solidFill>
                <a:latin typeface="Times New Roman" panose="02020603050405020304" pitchFamily="18" charset="0"/>
              </a:rPr>
              <a:t>(b) Text-to-image dataset construction</a:t>
            </a:r>
            <a:endParaRPr lang="zh-CN" altLang="en-US" sz="2400" b="1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sp>
        <p:nvSpPr>
          <p:cNvPr id="8" name="roundrect_007">
            <a:extLst>
              <a:ext uri="{FF2B5EF4-FFF2-40B4-BE49-F238E27FC236}">
                <a16:creationId xmlns:a16="http://schemas.microsoft.com/office/drawing/2014/main" id="{5DAC9F24-22AF-7901-7056-26DDE24B974A}"/>
              </a:ext>
            </a:extLst>
          </p:cNvPr>
          <p:cNvSpPr/>
          <p:nvPr/>
        </p:nvSpPr>
        <p:spPr>
          <a:xfrm>
            <a:off x="812800" y="1155700"/>
            <a:ext cx="5600700" cy="939800"/>
          </a:xfrm>
          <a:prstGeom prst="roundRect">
            <a:avLst>
              <a:gd name="adj" fmla="val 8000"/>
            </a:avLst>
          </a:prstGeom>
          <a:solidFill>
            <a:srgbClr val="F4F6F7"/>
          </a:solidFill>
          <a:ln w="12700">
            <a:solidFill>
              <a:srgbClr val="18181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text_008">
            <a:extLst>
              <a:ext uri="{FF2B5EF4-FFF2-40B4-BE49-F238E27FC236}">
                <a16:creationId xmlns:a16="http://schemas.microsoft.com/office/drawing/2014/main" id="{581D5D21-48EB-E40E-3749-E57458D833A8}"/>
              </a:ext>
            </a:extLst>
          </p:cNvPr>
          <p:cNvSpPr txBox="1"/>
          <p:nvPr/>
        </p:nvSpPr>
        <p:spPr>
          <a:xfrm>
            <a:off x="939800" y="1244599"/>
            <a:ext cx="5346700" cy="3683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2000" b="1">
                <a:solidFill>
                  <a:srgbClr val="181818"/>
                </a:solidFill>
                <a:latin typeface="Times New Roman" panose="02020603050405020304" pitchFamily="18" charset="0"/>
              </a:rPr>
              <a:t>93 reviewed image–caption pairs</a:t>
            </a:r>
            <a:endParaRPr lang="zh-CN" altLang="en-US" sz="2000" b="1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" name="text_009">
            <a:extLst>
              <a:ext uri="{FF2B5EF4-FFF2-40B4-BE49-F238E27FC236}">
                <a16:creationId xmlns:a16="http://schemas.microsoft.com/office/drawing/2014/main" id="{F28145F0-FB7A-11D1-1236-14C87EDF01D6}"/>
              </a:ext>
            </a:extLst>
          </p:cNvPr>
          <p:cNvSpPr txBox="1"/>
          <p:nvPr/>
        </p:nvSpPr>
        <p:spPr>
          <a:xfrm>
            <a:off x="939800" y="1638299"/>
            <a:ext cx="53467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400">
                <a:solidFill>
                  <a:srgbClr val="181818"/>
                </a:solidFill>
                <a:latin typeface="Times New Roman" panose="02020603050405020304" pitchFamily="18" charset="0"/>
              </a:rPr>
              <a:t>real93 · caption trigger: cylsite93</a:t>
            </a:r>
            <a:endParaRPr lang="zh-CN" altLang="en-US" sz="1400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11" name="line_010">
            <a:extLst>
              <a:ext uri="{FF2B5EF4-FFF2-40B4-BE49-F238E27FC236}">
                <a16:creationId xmlns:a16="http://schemas.microsoft.com/office/drawing/2014/main" id="{6288C59B-4839-68E5-99E1-9E875759EF40}"/>
              </a:ext>
            </a:extLst>
          </p:cNvPr>
          <p:cNvCxnSpPr/>
          <p:nvPr/>
        </p:nvCxnSpPr>
        <p:spPr>
          <a:xfrm>
            <a:off x="3606800" y="2095500"/>
            <a:ext cx="0" cy="381000"/>
          </a:xfrm>
          <a:prstGeom prst="line">
            <a:avLst/>
          </a:prstGeom>
          <a:ln w="21590">
            <a:solidFill>
              <a:srgbClr val="536F8E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_011">
            <a:extLst>
              <a:ext uri="{FF2B5EF4-FFF2-40B4-BE49-F238E27FC236}">
                <a16:creationId xmlns:a16="http://schemas.microsoft.com/office/drawing/2014/main" id="{A8D32FAB-A9B1-C31A-8927-F3DD9C714DA4}"/>
              </a:ext>
            </a:extLst>
          </p:cNvPr>
          <p:cNvSpPr txBox="1"/>
          <p:nvPr/>
        </p:nvSpPr>
        <p:spPr>
          <a:xfrm>
            <a:off x="647700" y="2476499"/>
            <a:ext cx="5930900" cy="3937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2300" b="1">
                <a:solidFill>
                  <a:srgbClr val="181818"/>
                </a:solidFill>
                <a:latin typeface="Times New Roman" panose="02020603050405020304" pitchFamily="18" charset="0"/>
              </a:rPr>
              <a:t>Qwen-Image-2.1 DiT</a:t>
            </a:r>
            <a:endParaRPr lang="zh-CN" altLang="en-US" sz="2300" b="1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" name="roundrect_012">
            <a:extLst>
              <a:ext uri="{FF2B5EF4-FFF2-40B4-BE49-F238E27FC236}">
                <a16:creationId xmlns:a16="http://schemas.microsoft.com/office/drawing/2014/main" id="{F725CC9E-93D7-BF67-2903-81CC01CDD56A}"/>
              </a:ext>
            </a:extLst>
          </p:cNvPr>
          <p:cNvSpPr/>
          <p:nvPr/>
        </p:nvSpPr>
        <p:spPr>
          <a:xfrm>
            <a:off x="546100" y="3048000"/>
            <a:ext cx="6134100" cy="317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6510">
            <a:solidFill>
              <a:srgbClr val="A8BAC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rect_013">
            <a:extLst>
              <a:ext uri="{FF2B5EF4-FFF2-40B4-BE49-F238E27FC236}">
                <a16:creationId xmlns:a16="http://schemas.microsoft.com/office/drawing/2014/main" id="{2E1B85A5-5F29-CF9F-B4F7-63BC7210467C}"/>
              </a:ext>
            </a:extLst>
          </p:cNvPr>
          <p:cNvSpPr/>
          <p:nvPr/>
        </p:nvSpPr>
        <p:spPr>
          <a:xfrm>
            <a:off x="800100" y="4102100"/>
            <a:ext cx="660400" cy="1041400"/>
          </a:xfrm>
          <a:prstGeom prst="rect">
            <a:avLst/>
          </a:prstGeom>
          <a:solidFill>
            <a:srgbClr val="F5F5F5"/>
          </a:solidFill>
          <a:ln w="11430">
            <a:solidFill>
              <a:srgbClr val="7373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text_014">
            <a:extLst>
              <a:ext uri="{FF2B5EF4-FFF2-40B4-BE49-F238E27FC236}">
                <a16:creationId xmlns:a16="http://schemas.microsoft.com/office/drawing/2014/main" id="{6037C9FF-11F9-3C1B-16CE-F7538DA0943B}"/>
              </a:ext>
            </a:extLst>
          </p:cNvPr>
          <p:cNvSpPr txBox="1"/>
          <p:nvPr/>
        </p:nvSpPr>
        <p:spPr>
          <a:xfrm>
            <a:off x="863600" y="4305299"/>
            <a:ext cx="533400" cy="6223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2600" i="1">
                <a:solidFill>
                  <a:srgbClr val="181818"/>
                </a:solidFill>
                <a:latin typeface="Times New Roman" panose="02020603050405020304" pitchFamily="18" charset="0"/>
              </a:rPr>
              <a:t>x</a:t>
            </a:r>
            <a:endParaRPr lang="zh-CN" altLang="en-US" sz="2600" i="1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" name="rect_015">
            <a:extLst>
              <a:ext uri="{FF2B5EF4-FFF2-40B4-BE49-F238E27FC236}">
                <a16:creationId xmlns:a16="http://schemas.microsoft.com/office/drawing/2014/main" id="{692A4BA3-DEA0-1E3C-644B-FFB5CD39B451}"/>
              </a:ext>
            </a:extLst>
          </p:cNvPr>
          <p:cNvSpPr/>
          <p:nvPr/>
        </p:nvSpPr>
        <p:spPr>
          <a:xfrm>
            <a:off x="2298700" y="3378200"/>
            <a:ext cx="2095500" cy="901700"/>
          </a:xfrm>
          <a:prstGeom prst="rect">
            <a:avLst/>
          </a:prstGeom>
          <a:solidFill>
            <a:srgbClr val="BDD0E7"/>
          </a:solidFill>
          <a:ln w="12700">
            <a:solidFill>
              <a:srgbClr val="87A4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text_016">
            <a:extLst>
              <a:ext uri="{FF2B5EF4-FFF2-40B4-BE49-F238E27FC236}">
                <a16:creationId xmlns:a16="http://schemas.microsoft.com/office/drawing/2014/main" id="{3FFEBAB1-8F63-1DCC-4D62-A6399034FEEA}"/>
              </a:ext>
            </a:extLst>
          </p:cNvPr>
          <p:cNvSpPr txBox="1"/>
          <p:nvPr/>
        </p:nvSpPr>
        <p:spPr>
          <a:xfrm>
            <a:off x="2374900" y="3416299"/>
            <a:ext cx="19431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700" b="1">
                <a:solidFill>
                  <a:srgbClr val="181818"/>
                </a:solidFill>
                <a:latin typeface="Times New Roman" panose="02020603050405020304" pitchFamily="18" charset="0"/>
              </a:rPr>
              <a:t>Frozen weights</a:t>
            </a:r>
            <a:endParaRPr lang="zh-CN" altLang="en-US" sz="1700" b="1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" name="text_017">
            <a:extLst>
              <a:ext uri="{FF2B5EF4-FFF2-40B4-BE49-F238E27FC236}">
                <a16:creationId xmlns:a16="http://schemas.microsoft.com/office/drawing/2014/main" id="{E1EB1326-01FA-EA67-321B-C57E2F7477BB}"/>
              </a:ext>
            </a:extLst>
          </p:cNvPr>
          <p:cNvSpPr txBox="1"/>
          <p:nvPr/>
        </p:nvSpPr>
        <p:spPr>
          <a:xfrm>
            <a:off x="2374900" y="3822699"/>
            <a:ext cx="1943100" cy="3683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2300" i="1">
                <a:solidFill>
                  <a:srgbClr val="181818"/>
                </a:solidFill>
                <a:latin typeface="Times New Roman" panose="02020603050405020304" pitchFamily="18" charset="0"/>
              </a:rPr>
              <a:t>W</a:t>
            </a:r>
            <a:endParaRPr lang="zh-CN" altLang="en-US" sz="2300" i="1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19" name="line_018">
            <a:extLst>
              <a:ext uri="{FF2B5EF4-FFF2-40B4-BE49-F238E27FC236}">
                <a16:creationId xmlns:a16="http://schemas.microsoft.com/office/drawing/2014/main" id="{A556FC0D-14EE-E9CB-2884-86070D8A618C}"/>
              </a:ext>
            </a:extLst>
          </p:cNvPr>
          <p:cNvCxnSpPr/>
          <p:nvPr/>
        </p:nvCxnSpPr>
        <p:spPr>
          <a:xfrm>
            <a:off x="1460500" y="4445000"/>
            <a:ext cx="381000" cy="0"/>
          </a:xfrm>
          <a:prstGeom prst="line">
            <a:avLst/>
          </a:prstGeom>
          <a:ln w="20320">
            <a:solidFill>
              <a:srgbClr val="7373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line_019">
            <a:extLst>
              <a:ext uri="{FF2B5EF4-FFF2-40B4-BE49-F238E27FC236}">
                <a16:creationId xmlns:a16="http://schemas.microsoft.com/office/drawing/2014/main" id="{F1527ABE-9688-18EA-1551-3DE38AF09690}"/>
              </a:ext>
            </a:extLst>
          </p:cNvPr>
          <p:cNvCxnSpPr/>
          <p:nvPr/>
        </p:nvCxnSpPr>
        <p:spPr>
          <a:xfrm flipV="1">
            <a:off x="1841500" y="3848100"/>
            <a:ext cx="0" cy="596900"/>
          </a:xfrm>
          <a:prstGeom prst="line">
            <a:avLst/>
          </a:prstGeom>
          <a:ln w="20320">
            <a:solidFill>
              <a:srgbClr val="7373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line_020">
            <a:extLst>
              <a:ext uri="{FF2B5EF4-FFF2-40B4-BE49-F238E27FC236}">
                <a16:creationId xmlns:a16="http://schemas.microsoft.com/office/drawing/2014/main" id="{6F36F600-EBAE-66D0-2C87-75EE41677BB0}"/>
              </a:ext>
            </a:extLst>
          </p:cNvPr>
          <p:cNvCxnSpPr/>
          <p:nvPr/>
        </p:nvCxnSpPr>
        <p:spPr>
          <a:xfrm>
            <a:off x="1841500" y="3848100"/>
            <a:ext cx="457200" cy="0"/>
          </a:xfrm>
          <a:prstGeom prst="line">
            <a:avLst/>
          </a:prstGeom>
          <a:ln w="20320">
            <a:solidFill>
              <a:srgbClr val="73737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rect_021">
            <a:extLst>
              <a:ext uri="{FF2B5EF4-FFF2-40B4-BE49-F238E27FC236}">
                <a16:creationId xmlns:a16="http://schemas.microsoft.com/office/drawing/2014/main" id="{36924621-0ABD-8BBA-0F93-A0D9C787BE38}"/>
              </a:ext>
            </a:extLst>
          </p:cNvPr>
          <p:cNvSpPr/>
          <p:nvPr/>
        </p:nvSpPr>
        <p:spPr>
          <a:xfrm>
            <a:off x="2044700" y="5092700"/>
            <a:ext cx="1092200" cy="698500"/>
          </a:xfrm>
          <a:prstGeom prst="roundRect">
            <a:avLst>
              <a:gd name="adj" fmla="val 8000"/>
            </a:avLst>
          </a:prstGeom>
          <a:solidFill>
            <a:srgbClr val="F5E6D5"/>
          </a:solidFill>
          <a:ln w="12700">
            <a:solidFill>
              <a:srgbClr val="CAA5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text_022">
            <a:extLst>
              <a:ext uri="{FF2B5EF4-FFF2-40B4-BE49-F238E27FC236}">
                <a16:creationId xmlns:a16="http://schemas.microsoft.com/office/drawing/2014/main" id="{67917E6F-4D1E-ABC7-C852-1055425EF039}"/>
              </a:ext>
            </a:extLst>
          </p:cNvPr>
          <p:cNvSpPr txBox="1"/>
          <p:nvPr/>
        </p:nvSpPr>
        <p:spPr>
          <a:xfrm>
            <a:off x="2146300" y="5168899"/>
            <a:ext cx="889000" cy="5461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2300" b="1">
                <a:solidFill>
                  <a:srgbClr val="181818"/>
                </a:solidFill>
                <a:latin typeface="Times New Roman" panose="02020603050405020304" pitchFamily="18" charset="0"/>
              </a:rPr>
              <a:t>A</a:t>
            </a:r>
            <a:endParaRPr lang="zh-CN" altLang="en-US" sz="2300" b="1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sp>
        <p:nvSpPr>
          <p:cNvPr id="24" name="roundrect_023">
            <a:extLst>
              <a:ext uri="{FF2B5EF4-FFF2-40B4-BE49-F238E27FC236}">
                <a16:creationId xmlns:a16="http://schemas.microsoft.com/office/drawing/2014/main" id="{01D743F9-D41F-1B2A-8D50-81357ED54B69}"/>
              </a:ext>
            </a:extLst>
          </p:cNvPr>
          <p:cNvSpPr/>
          <p:nvPr/>
        </p:nvSpPr>
        <p:spPr>
          <a:xfrm>
            <a:off x="3530600" y="5092700"/>
            <a:ext cx="1092200" cy="698500"/>
          </a:xfrm>
          <a:prstGeom prst="roundRect">
            <a:avLst>
              <a:gd name="adj" fmla="val 8000"/>
            </a:avLst>
          </a:prstGeom>
          <a:solidFill>
            <a:srgbClr val="F5E6D5"/>
          </a:solidFill>
          <a:ln w="12700">
            <a:solidFill>
              <a:srgbClr val="CAA5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text_024">
            <a:extLst>
              <a:ext uri="{FF2B5EF4-FFF2-40B4-BE49-F238E27FC236}">
                <a16:creationId xmlns:a16="http://schemas.microsoft.com/office/drawing/2014/main" id="{EAA526ED-D343-F2C5-3B75-A573A27EC34F}"/>
              </a:ext>
            </a:extLst>
          </p:cNvPr>
          <p:cNvSpPr txBox="1"/>
          <p:nvPr/>
        </p:nvSpPr>
        <p:spPr>
          <a:xfrm>
            <a:off x="3632200" y="5168899"/>
            <a:ext cx="889000" cy="5461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2300" b="1">
                <a:solidFill>
                  <a:srgbClr val="181818"/>
                </a:solidFill>
                <a:latin typeface="Times New Roman" panose="02020603050405020304" pitchFamily="18" charset="0"/>
              </a:rPr>
              <a:t>B</a:t>
            </a:r>
            <a:endParaRPr lang="zh-CN" altLang="en-US" sz="2300" b="1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26" name="line_025">
            <a:extLst>
              <a:ext uri="{FF2B5EF4-FFF2-40B4-BE49-F238E27FC236}">
                <a16:creationId xmlns:a16="http://schemas.microsoft.com/office/drawing/2014/main" id="{24EEBE3E-5E93-4239-D9FC-DF5F06E97256}"/>
              </a:ext>
            </a:extLst>
          </p:cNvPr>
          <p:cNvCxnSpPr/>
          <p:nvPr/>
        </p:nvCxnSpPr>
        <p:spPr>
          <a:xfrm>
            <a:off x="1460500" y="4838700"/>
            <a:ext cx="266700" cy="0"/>
          </a:xfrm>
          <a:prstGeom prst="line">
            <a:avLst/>
          </a:prstGeom>
          <a:ln w="20320">
            <a:solidFill>
              <a:srgbClr val="7373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line_026">
            <a:extLst>
              <a:ext uri="{FF2B5EF4-FFF2-40B4-BE49-F238E27FC236}">
                <a16:creationId xmlns:a16="http://schemas.microsoft.com/office/drawing/2014/main" id="{3B35D78B-E19D-C1A7-5E66-33B531DF40F8}"/>
              </a:ext>
            </a:extLst>
          </p:cNvPr>
          <p:cNvCxnSpPr/>
          <p:nvPr/>
        </p:nvCxnSpPr>
        <p:spPr>
          <a:xfrm>
            <a:off x="1727200" y="4838700"/>
            <a:ext cx="0" cy="609600"/>
          </a:xfrm>
          <a:prstGeom prst="line">
            <a:avLst/>
          </a:prstGeom>
          <a:ln w="20320">
            <a:solidFill>
              <a:srgbClr val="7373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line_027">
            <a:extLst>
              <a:ext uri="{FF2B5EF4-FFF2-40B4-BE49-F238E27FC236}">
                <a16:creationId xmlns:a16="http://schemas.microsoft.com/office/drawing/2014/main" id="{32D85F2B-E036-8DF3-8A65-0FB8745840B8}"/>
              </a:ext>
            </a:extLst>
          </p:cNvPr>
          <p:cNvCxnSpPr/>
          <p:nvPr/>
        </p:nvCxnSpPr>
        <p:spPr>
          <a:xfrm>
            <a:off x="1727200" y="5448300"/>
            <a:ext cx="317500" cy="0"/>
          </a:xfrm>
          <a:prstGeom prst="line">
            <a:avLst/>
          </a:prstGeom>
          <a:ln w="20320">
            <a:solidFill>
              <a:srgbClr val="73737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line_028">
            <a:extLst>
              <a:ext uri="{FF2B5EF4-FFF2-40B4-BE49-F238E27FC236}">
                <a16:creationId xmlns:a16="http://schemas.microsoft.com/office/drawing/2014/main" id="{E4361C03-2B1E-DDDF-5040-CA4475A12CBF}"/>
              </a:ext>
            </a:extLst>
          </p:cNvPr>
          <p:cNvCxnSpPr/>
          <p:nvPr/>
        </p:nvCxnSpPr>
        <p:spPr>
          <a:xfrm>
            <a:off x="3136900" y="5448300"/>
            <a:ext cx="393700" cy="0"/>
          </a:xfrm>
          <a:prstGeom prst="line">
            <a:avLst/>
          </a:prstGeom>
          <a:ln w="17780">
            <a:solidFill>
              <a:srgbClr val="20202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_029">
            <a:extLst>
              <a:ext uri="{FF2B5EF4-FFF2-40B4-BE49-F238E27FC236}">
                <a16:creationId xmlns:a16="http://schemas.microsoft.com/office/drawing/2014/main" id="{287234C2-B211-1DA8-1310-B184837932D6}"/>
              </a:ext>
            </a:extLst>
          </p:cNvPr>
          <p:cNvSpPr txBox="1"/>
          <p:nvPr/>
        </p:nvSpPr>
        <p:spPr>
          <a:xfrm>
            <a:off x="2057400" y="5880100"/>
            <a:ext cx="25654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300">
                <a:solidFill>
                  <a:srgbClr val="795431"/>
                </a:solidFill>
                <a:latin typeface="Times New Roman" panose="02020603050405020304" pitchFamily="18" charset="0"/>
              </a:rPr>
              <a:t>Trainable update · rank 16</a:t>
            </a:r>
            <a:endParaRPr lang="zh-CN" altLang="en-US" sz="1300">
              <a:solidFill>
                <a:srgbClr val="79543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1" name="ellipse_030">
            <a:extLst>
              <a:ext uri="{FF2B5EF4-FFF2-40B4-BE49-F238E27FC236}">
                <a16:creationId xmlns:a16="http://schemas.microsoft.com/office/drawing/2014/main" id="{DF4921A9-5161-9CD4-F6EA-C9AB8928FE72}"/>
              </a:ext>
            </a:extLst>
          </p:cNvPr>
          <p:cNvSpPr/>
          <p:nvPr/>
        </p:nvSpPr>
        <p:spPr>
          <a:xfrm>
            <a:off x="4940300" y="4394200"/>
            <a:ext cx="406400" cy="406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8181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text_031">
            <a:extLst>
              <a:ext uri="{FF2B5EF4-FFF2-40B4-BE49-F238E27FC236}">
                <a16:creationId xmlns:a16="http://schemas.microsoft.com/office/drawing/2014/main" id="{0DA14A92-9435-4C47-7EB7-B609E1515980}"/>
              </a:ext>
            </a:extLst>
          </p:cNvPr>
          <p:cNvSpPr txBox="1"/>
          <p:nvPr/>
        </p:nvSpPr>
        <p:spPr>
          <a:xfrm>
            <a:off x="4953000" y="4394199"/>
            <a:ext cx="381000" cy="3683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2200">
                <a:solidFill>
                  <a:srgbClr val="181818"/>
                </a:solidFill>
                <a:latin typeface="Times New Roman" panose="02020603050405020304" pitchFamily="18" charset="0"/>
              </a:rPr>
              <a:t>+</a:t>
            </a:r>
            <a:endParaRPr lang="zh-CN" altLang="en-US" sz="2200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33" name="line_032">
            <a:extLst>
              <a:ext uri="{FF2B5EF4-FFF2-40B4-BE49-F238E27FC236}">
                <a16:creationId xmlns:a16="http://schemas.microsoft.com/office/drawing/2014/main" id="{3D18E9BF-40A7-5464-B778-54AFDD2ECD31}"/>
              </a:ext>
            </a:extLst>
          </p:cNvPr>
          <p:cNvCxnSpPr/>
          <p:nvPr/>
        </p:nvCxnSpPr>
        <p:spPr>
          <a:xfrm>
            <a:off x="4394200" y="3848100"/>
            <a:ext cx="749300" cy="0"/>
          </a:xfrm>
          <a:prstGeom prst="line">
            <a:avLst/>
          </a:prstGeom>
          <a:ln w="17780">
            <a:solidFill>
              <a:srgbClr val="202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line_033">
            <a:extLst>
              <a:ext uri="{FF2B5EF4-FFF2-40B4-BE49-F238E27FC236}">
                <a16:creationId xmlns:a16="http://schemas.microsoft.com/office/drawing/2014/main" id="{269407E3-241D-4621-7F40-F11F816C5802}"/>
              </a:ext>
            </a:extLst>
          </p:cNvPr>
          <p:cNvCxnSpPr/>
          <p:nvPr/>
        </p:nvCxnSpPr>
        <p:spPr>
          <a:xfrm>
            <a:off x="5143500" y="3848100"/>
            <a:ext cx="0" cy="546100"/>
          </a:xfrm>
          <a:prstGeom prst="line">
            <a:avLst/>
          </a:prstGeom>
          <a:ln w="17780">
            <a:solidFill>
              <a:srgbClr val="20202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line_034">
            <a:extLst>
              <a:ext uri="{FF2B5EF4-FFF2-40B4-BE49-F238E27FC236}">
                <a16:creationId xmlns:a16="http://schemas.microsoft.com/office/drawing/2014/main" id="{C2C6D010-0E2F-FC77-66B2-B2FD23CF2EE6}"/>
              </a:ext>
            </a:extLst>
          </p:cNvPr>
          <p:cNvCxnSpPr/>
          <p:nvPr/>
        </p:nvCxnSpPr>
        <p:spPr>
          <a:xfrm>
            <a:off x="4622800" y="5448300"/>
            <a:ext cx="520700" cy="0"/>
          </a:xfrm>
          <a:prstGeom prst="line">
            <a:avLst/>
          </a:prstGeom>
          <a:ln w="17780">
            <a:solidFill>
              <a:srgbClr val="202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line_035">
            <a:extLst>
              <a:ext uri="{FF2B5EF4-FFF2-40B4-BE49-F238E27FC236}">
                <a16:creationId xmlns:a16="http://schemas.microsoft.com/office/drawing/2014/main" id="{6C402C01-D100-41DE-2112-FB9B4A01EE81}"/>
              </a:ext>
            </a:extLst>
          </p:cNvPr>
          <p:cNvCxnSpPr/>
          <p:nvPr/>
        </p:nvCxnSpPr>
        <p:spPr>
          <a:xfrm flipV="1">
            <a:off x="5143500" y="4800600"/>
            <a:ext cx="0" cy="647700"/>
          </a:xfrm>
          <a:prstGeom prst="line">
            <a:avLst/>
          </a:prstGeom>
          <a:ln w="17780">
            <a:solidFill>
              <a:srgbClr val="20202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_036">
            <a:extLst>
              <a:ext uri="{FF2B5EF4-FFF2-40B4-BE49-F238E27FC236}">
                <a16:creationId xmlns:a16="http://schemas.microsoft.com/office/drawing/2014/main" id="{99FDBF1B-6063-05FD-7D18-0DE1055F7536}"/>
              </a:ext>
            </a:extLst>
          </p:cNvPr>
          <p:cNvSpPr/>
          <p:nvPr/>
        </p:nvSpPr>
        <p:spPr>
          <a:xfrm>
            <a:off x="5816600" y="4102100"/>
            <a:ext cx="571500" cy="1041400"/>
          </a:xfrm>
          <a:prstGeom prst="rect">
            <a:avLst/>
          </a:prstGeom>
          <a:solidFill>
            <a:srgbClr val="E0EEEE"/>
          </a:solidFill>
          <a:ln w="11430">
            <a:solidFill>
              <a:srgbClr val="7AA0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text_037">
            <a:extLst>
              <a:ext uri="{FF2B5EF4-FFF2-40B4-BE49-F238E27FC236}">
                <a16:creationId xmlns:a16="http://schemas.microsoft.com/office/drawing/2014/main" id="{08AD4361-A8EC-5BB1-3059-07E2AD10B185}"/>
              </a:ext>
            </a:extLst>
          </p:cNvPr>
          <p:cNvSpPr txBox="1"/>
          <p:nvPr/>
        </p:nvSpPr>
        <p:spPr>
          <a:xfrm>
            <a:off x="5842000" y="4305299"/>
            <a:ext cx="520700" cy="6223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2600" i="1">
                <a:solidFill>
                  <a:srgbClr val="181818"/>
                </a:solidFill>
                <a:latin typeface="Times New Roman" panose="02020603050405020304" pitchFamily="18" charset="0"/>
              </a:rPr>
              <a:t>h</a:t>
            </a:r>
            <a:endParaRPr lang="zh-CN" altLang="en-US" sz="2600" i="1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39" name="line_038">
            <a:extLst>
              <a:ext uri="{FF2B5EF4-FFF2-40B4-BE49-F238E27FC236}">
                <a16:creationId xmlns:a16="http://schemas.microsoft.com/office/drawing/2014/main" id="{A9C49C51-5D34-95F4-0F69-AA37534DB4F1}"/>
              </a:ext>
            </a:extLst>
          </p:cNvPr>
          <p:cNvCxnSpPr/>
          <p:nvPr/>
        </p:nvCxnSpPr>
        <p:spPr>
          <a:xfrm>
            <a:off x="5346700" y="4597400"/>
            <a:ext cx="469900" cy="0"/>
          </a:xfrm>
          <a:prstGeom prst="line">
            <a:avLst/>
          </a:prstGeom>
          <a:ln w="17780">
            <a:solidFill>
              <a:srgbClr val="20202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_039">
            <a:extLst>
              <a:ext uri="{FF2B5EF4-FFF2-40B4-BE49-F238E27FC236}">
                <a16:creationId xmlns:a16="http://schemas.microsoft.com/office/drawing/2014/main" id="{C63C9770-17EA-E5AC-3CB8-C082FB570533}"/>
              </a:ext>
            </a:extLst>
          </p:cNvPr>
          <p:cNvSpPr txBox="1"/>
          <p:nvPr/>
        </p:nvSpPr>
        <p:spPr>
          <a:xfrm>
            <a:off x="1003300" y="6451599"/>
            <a:ext cx="5207000" cy="3937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2300" i="1">
                <a:solidFill>
                  <a:srgbClr val="181818"/>
                </a:solidFill>
                <a:latin typeface="Times New Roman" panose="02020603050405020304" pitchFamily="18" charset="0"/>
              </a:rPr>
              <a:t>h = Wx + BAx</a:t>
            </a:r>
            <a:endParaRPr lang="zh-CN" altLang="en-US" sz="2300" i="1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sp>
        <p:nvSpPr>
          <p:cNvPr id="41" name="text_040">
            <a:extLst>
              <a:ext uri="{FF2B5EF4-FFF2-40B4-BE49-F238E27FC236}">
                <a16:creationId xmlns:a16="http://schemas.microsoft.com/office/drawing/2014/main" id="{AE94DE5F-3A57-CCA0-1B9A-5D19C7C0D07F}"/>
              </a:ext>
            </a:extLst>
          </p:cNvPr>
          <p:cNvSpPr txBox="1"/>
          <p:nvPr/>
        </p:nvSpPr>
        <p:spPr>
          <a:xfrm>
            <a:off x="774700" y="7010399"/>
            <a:ext cx="57023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2000" b="1">
                <a:solidFill>
                  <a:srgbClr val="181818"/>
                </a:solidFill>
                <a:latin typeface="Times New Roman" panose="02020603050405020304" pitchFamily="18" charset="0"/>
              </a:rPr>
              <a:t>LoRA optimization</a:t>
            </a:r>
            <a:endParaRPr lang="zh-CN" altLang="en-US" sz="2000" b="1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42" name="line_041">
            <a:extLst>
              <a:ext uri="{FF2B5EF4-FFF2-40B4-BE49-F238E27FC236}">
                <a16:creationId xmlns:a16="http://schemas.microsoft.com/office/drawing/2014/main" id="{D16A52BD-6E30-ACA0-70F0-92E3F10FE68D}"/>
              </a:ext>
            </a:extLst>
          </p:cNvPr>
          <p:cNvCxnSpPr/>
          <p:nvPr/>
        </p:nvCxnSpPr>
        <p:spPr>
          <a:xfrm>
            <a:off x="774700" y="7480300"/>
            <a:ext cx="5702300" cy="0"/>
          </a:xfrm>
          <a:prstGeom prst="line">
            <a:avLst/>
          </a:prstGeom>
          <a:ln w="10160">
            <a:solidFill>
              <a:srgbClr val="A8BA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_042">
            <a:extLst>
              <a:ext uri="{FF2B5EF4-FFF2-40B4-BE49-F238E27FC236}">
                <a16:creationId xmlns:a16="http://schemas.microsoft.com/office/drawing/2014/main" id="{4D362F7B-AB13-6E1B-E995-1618BD6A46F9}"/>
              </a:ext>
            </a:extLst>
          </p:cNvPr>
          <p:cNvSpPr txBox="1"/>
          <p:nvPr/>
        </p:nvSpPr>
        <p:spPr>
          <a:xfrm>
            <a:off x="774700" y="7607299"/>
            <a:ext cx="2247900" cy="3175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300">
                <a:solidFill>
                  <a:srgbClr val="181818"/>
                </a:solidFill>
                <a:latin typeface="Times New Roman" panose="02020603050405020304" pitchFamily="18" charset="0"/>
              </a:rPr>
              <a:t>Framework / loss</a:t>
            </a:r>
            <a:endParaRPr lang="zh-CN" altLang="en-US" sz="1300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sp>
        <p:nvSpPr>
          <p:cNvPr id="44" name="text_043">
            <a:extLst>
              <a:ext uri="{FF2B5EF4-FFF2-40B4-BE49-F238E27FC236}">
                <a16:creationId xmlns:a16="http://schemas.microsoft.com/office/drawing/2014/main" id="{D2A8F7B7-A9D1-2C3E-212C-A2BA5F067692}"/>
              </a:ext>
            </a:extLst>
          </p:cNvPr>
          <p:cNvSpPr txBox="1"/>
          <p:nvPr/>
        </p:nvSpPr>
        <p:spPr>
          <a:xfrm>
            <a:off x="3048000" y="7607299"/>
            <a:ext cx="3467100" cy="3175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300">
                <a:solidFill>
                  <a:srgbClr val="181818"/>
                </a:solidFill>
                <a:latin typeface="Times New Roman" panose="02020603050405020304" pitchFamily="18" charset="0"/>
              </a:rPr>
              <a:t>DiffSynth-Studio / FlowMatchSFTLoss</a:t>
            </a:r>
            <a:endParaRPr lang="zh-CN" altLang="en-US" sz="1300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sp>
        <p:nvSpPr>
          <p:cNvPr id="45" name="text_044">
            <a:extLst>
              <a:ext uri="{FF2B5EF4-FFF2-40B4-BE49-F238E27FC236}">
                <a16:creationId xmlns:a16="http://schemas.microsoft.com/office/drawing/2014/main" id="{51E4416D-A32A-293B-ADF9-3052DBDDA741}"/>
              </a:ext>
            </a:extLst>
          </p:cNvPr>
          <p:cNvSpPr txBox="1"/>
          <p:nvPr/>
        </p:nvSpPr>
        <p:spPr>
          <a:xfrm>
            <a:off x="774700" y="7975599"/>
            <a:ext cx="2247900" cy="3175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300">
                <a:solidFill>
                  <a:srgbClr val="181818"/>
                </a:solidFill>
                <a:latin typeface="Times New Roman" panose="02020603050405020304" pitchFamily="18" charset="0"/>
              </a:rPr>
              <a:t>Optimizer / learning rate</a:t>
            </a:r>
            <a:endParaRPr lang="zh-CN" altLang="en-US" sz="1300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sp>
        <p:nvSpPr>
          <p:cNvPr id="46" name="text_045">
            <a:extLst>
              <a:ext uri="{FF2B5EF4-FFF2-40B4-BE49-F238E27FC236}">
                <a16:creationId xmlns:a16="http://schemas.microsoft.com/office/drawing/2014/main" id="{212541A7-3A0F-3806-FB12-C2CF6485975E}"/>
              </a:ext>
            </a:extLst>
          </p:cNvPr>
          <p:cNvSpPr txBox="1"/>
          <p:nvPr/>
        </p:nvSpPr>
        <p:spPr>
          <a:xfrm>
            <a:off x="3048000" y="7975599"/>
            <a:ext cx="3467100" cy="3175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300">
                <a:solidFill>
                  <a:srgbClr val="181818"/>
                </a:solidFill>
                <a:latin typeface="Times New Roman" panose="02020603050405020304" pitchFamily="18" charset="0"/>
              </a:rPr>
              <a:t>AdamW / 1e-4 (constant)</a:t>
            </a:r>
            <a:endParaRPr lang="zh-CN" altLang="en-US" sz="1300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sp>
        <p:nvSpPr>
          <p:cNvPr id="47" name="text_046">
            <a:extLst>
              <a:ext uri="{FF2B5EF4-FFF2-40B4-BE49-F238E27FC236}">
                <a16:creationId xmlns:a16="http://schemas.microsoft.com/office/drawing/2014/main" id="{E34CAA9E-7E30-0AD6-5443-44B5FDD5BF37}"/>
              </a:ext>
            </a:extLst>
          </p:cNvPr>
          <p:cNvSpPr txBox="1"/>
          <p:nvPr/>
        </p:nvSpPr>
        <p:spPr>
          <a:xfrm>
            <a:off x="774700" y="8343899"/>
            <a:ext cx="2247900" cy="3175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300">
                <a:solidFill>
                  <a:srgbClr val="181818"/>
                </a:solidFill>
                <a:latin typeface="Times New Roman" panose="02020603050405020304" pitchFamily="18" charset="0"/>
              </a:rPr>
              <a:t>Batch / pixel limit</a:t>
            </a:r>
            <a:endParaRPr lang="zh-CN" altLang="en-US" sz="1300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sp>
        <p:nvSpPr>
          <p:cNvPr id="48" name="text_047">
            <a:extLst>
              <a:ext uri="{FF2B5EF4-FFF2-40B4-BE49-F238E27FC236}">
                <a16:creationId xmlns:a16="http://schemas.microsoft.com/office/drawing/2014/main" id="{5DC14A4C-09B6-0A78-05AB-CE19E7D389AF}"/>
              </a:ext>
            </a:extLst>
          </p:cNvPr>
          <p:cNvSpPr txBox="1"/>
          <p:nvPr/>
        </p:nvSpPr>
        <p:spPr>
          <a:xfrm>
            <a:off x="3048000" y="8343899"/>
            <a:ext cx="3467100" cy="3175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300">
                <a:solidFill>
                  <a:srgbClr val="181818"/>
                </a:solidFill>
                <a:latin typeface="Times New Roman" panose="02020603050405020304" pitchFamily="18" charset="0"/>
              </a:rPr>
              <a:t>1 / 1,048,576</a:t>
            </a:r>
            <a:endParaRPr lang="zh-CN" altLang="en-US" sz="1300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sp>
        <p:nvSpPr>
          <p:cNvPr id="49" name="text_048">
            <a:extLst>
              <a:ext uri="{FF2B5EF4-FFF2-40B4-BE49-F238E27FC236}">
                <a16:creationId xmlns:a16="http://schemas.microsoft.com/office/drawing/2014/main" id="{CFEE6BEA-6539-3AFD-B292-EF725B95068B}"/>
              </a:ext>
            </a:extLst>
          </p:cNvPr>
          <p:cNvSpPr txBox="1"/>
          <p:nvPr/>
        </p:nvSpPr>
        <p:spPr>
          <a:xfrm>
            <a:off x="774700" y="8712199"/>
            <a:ext cx="2247900" cy="3175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300">
                <a:solidFill>
                  <a:srgbClr val="181818"/>
                </a:solidFill>
                <a:latin typeface="Times New Roman" panose="02020603050405020304" pitchFamily="18" charset="0"/>
              </a:rPr>
              <a:t>Training schedule</a:t>
            </a:r>
            <a:endParaRPr lang="zh-CN" altLang="en-US" sz="1300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sp>
        <p:nvSpPr>
          <p:cNvPr id="50" name="text_049">
            <a:extLst>
              <a:ext uri="{FF2B5EF4-FFF2-40B4-BE49-F238E27FC236}">
                <a16:creationId xmlns:a16="http://schemas.microsoft.com/office/drawing/2014/main" id="{C684E520-F9F5-B075-2A12-7BC22B008299}"/>
              </a:ext>
            </a:extLst>
          </p:cNvPr>
          <p:cNvSpPr txBox="1"/>
          <p:nvPr/>
        </p:nvSpPr>
        <p:spPr>
          <a:xfrm>
            <a:off x="3048000" y="8712199"/>
            <a:ext cx="3467100" cy="3175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300">
                <a:solidFill>
                  <a:srgbClr val="181818"/>
                </a:solidFill>
                <a:latin typeface="Times New Roman" panose="02020603050405020304" pitchFamily="18" charset="0"/>
              </a:rPr>
              <a:t>93 × 5 repeats × 4 epochs</a:t>
            </a:r>
            <a:endParaRPr lang="zh-CN" altLang="en-US" sz="1300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51" name="line_050">
            <a:extLst>
              <a:ext uri="{FF2B5EF4-FFF2-40B4-BE49-F238E27FC236}">
                <a16:creationId xmlns:a16="http://schemas.microsoft.com/office/drawing/2014/main" id="{79EAB531-1F7D-FB3C-7A12-A5A69E207DDF}"/>
              </a:ext>
            </a:extLst>
          </p:cNvPr>
          <p:cNvCxnSpPr/>
          <p:nvPr/>
        </p:nvCxnSpPr>
        <p:spPr>
          <a:xfrm>
            <a:off x="3606800" y="9144000"/>
            <a:ext cx="0" cy="266700"/>
          </a:xfrm>
          <a:prstGeom prst="line">
            <a:avLst/>
          </a:prstGeom>
          <a:ln w="19050">
            <a:solidFill>
              <a:srgbClr val="536F8E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rect_051">
            <a:extLst>
              <a:ext uri="{FF2B5EF4-FFF2-40B4-BE49-F238E27FC236}">
                <a16:creationId xmlns:a16="http://schemas.microsoft.com/office/drawing/2014/main" id="{5651D146-9A93-EE2A-B94C-CFBF9B043165}"/>
              </a:ext>
            </a:extLst>
          </p:cNvPr>
          <p:cNvSpPr/>
          <p:nvPr/>
        </p:nvSpPr>
        <p:spPr>
          <a:xfrm>
            <a:off x="812800" y="9448800"/>
            <a:ext cx="5600700" cy="838200"/>
          </a:xfrm>
          <a:prstGeom prst="roundRect">
            <a:avLst>
              <a:gd name="adj" fmla="val 8000"/>
            </a:avLst>
          </a:prstGeom>
          <a:solidFill>
            <a:srgbClr val="E9F0DF"/>
          </a:solidFill>
          <a:ln w="12700">
            <a:solidFill>
              <a:srgbClr val="18181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text_052">
            <a:extLst>
              <a:ext uri="{FF2B5EF4-FFF2-40B4-BE49-F238E27FC236}">
                <a16:creationId xmlns:a16="http://schemas.microsoft.com/office/drawing/2014/main" id="{4FCCD8AC-A960-F673-74E2-78678C023C40}"/>
              </a:ext>
            </a:extLst>
          </p:cNvPr>
          <p:cNvSpPr txBox="1"/>
          <p:nvPr/>
        </p:nvSpPr>
        <p:spPr>
          <a:xfrm>
            <a:off x="939800" y="9537699"/>
            <a:ext cx="5346700" cy="3683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2000" b="1">
                <a:solidFill>
                  <a:srgbClr val="181818"/>
                </a:solidFill>
                <a:latin typeface="Times New Roman" panose="02020603050405020304" pitchFamily="18" charset="0"/>
              </a:rPr>
              <a:t>Final adapter: step-1860</a:t>
            </a:r>
            <a:endParaRPr lang="zh-CN" altLang="en-US" sz="2000" b="1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sp>
        <p:nvSpPr>
          <p:cNvPr id="54" name="text_053">
            <a:extLst>
              <a:ext uri="{FF2B5EF4-FFF2-40B4-BE49-F238E27FC236}">
                <a16:creationId xmlns:a16="http://schemas.microsoft.com/office/drawing/2014/main" id="{065BE2AC-D5F4-DC42-B8AC-B77EE3BFC09E}"/>
              </a:ext>
            </a:extLst>
          </p:cNvPr>
          <p:cNvSpPr txBox="1"/>
          <p:nvPr/>
        </p:nvSpPr>
        <p:spPr>
          <a:xfrm>
            <a:off x="939800" y="9931399"/>
            <a:ext cx="53467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400">
                <a:solidFill>
                  <a:srgbClr val="181818"/>
                </a:solidFill>
                <a:latin typeface="Times New Roman" panose="02020603050405020304" pitchFamily="18" charset="0"/>
              </a:rPr>
              <a:t>1,860 optimizer steps</a:t>
            </a:r>
            <a:endParaRPr lang="zh-CN" altLang="en-US" sz="1400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55" name="line_054">
            <a:extLst>
              <a:ext uri="{FF2B5EF4-FFF2-40B4-BE49-F238E27FC236}">
                <a16:creationId xmlns:a16="http://schemas.microsoft.com/office/drawing/2014/main" id="{8A46D693-2320-149C-62CC-E3B09FF153CD}"/>
              </a:ext>
            </a:extLst>
          </p:cNvPr>
          <p:cNvCxnSpPr/>
          <p:nvPr/>
        </p:nvCxnSpPr>
        <p:spPr>
          <a:xfrm>
            <a:off x="6413500" y="9817100"/>
            <a:ext cx="774700" cy="0"/>
          </a:xfrm>
          <a:prstGeom prst="line">
            <a:avLst/>
          </a:prstGeom>
          <a:ln w="17780">
            <a:solidFill>
              <a:srgbClr val="536F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line_055">
            <a:extLst>
              <a:ext uri="{FF2B5EF4-FFF2-40B4-BE49-F238E27FC236}">
                <a16:creationId xmlns:a16="http://schemas.microsoft.com/office/drawing/2014/main" id="{2CC479B9-C3CB-E437-BBD5-704599EC7976}"/>
              </a:ext>
            </a:extLst>
          </p:cNvPr>
          <p:cNvCxnSpPr/>
          <p:nvPr/>
        </p:nvCxnSpPr>
        <p:spPr>
          <a:xfrm flipV="1">
            <a:off x="7188200" y="2882900"/>
            <a:ext cx="0" cy="6934200"/>
          </a:xfrm>
          <a:prstGeom prst="line">
            <a:avLst/>
          </a:prstGeom>
          <a:ln w="17780">
            <a:solidFill>
              <a:srgbClr val="536F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line_056">
            <a:extLst>
              <a:ext uri="{FF2B5EF4-FFF2-40B4-BE49-F238E27FC236}">
                <a16:creationId xmlns:a16="http://schemas.microsoft.com/office/drawing/2014/main" id="{D66381C4-0DD2-0C93-D9A3-8187D342DC5F}"/>
              </a:ext>
            </a:extLst>
          </p:cNvPr>
          <p:cNvCxnSpPr/>
          <p:nvPr/>
        </p:nvCxnSpPr>
        <p:spPr>
          <a:xfrm>
            <a:off x="7188200" y="2882900"/>
            <a:ext cx="812800" cy="0"/>
          </a:xfrm>
          <a:prstGeom prst="line">
            <a:avLst/>
          </a:prstGeom>
          <a:ln w="17780">
            <a:solidFill>
              <a:srgbClr val="536F8E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oundrect_057">
            <a:extLst>
              <a:ext uri="{FF2B5EF4-FFF2-40B4-BE49-F238E27FC236}">
                <a16:creationId xmlns:a16="http://schemas.microsoft.com/office/drawing/2014/main" id="{66A6B74D-2E91-D9DC-D723-A5CCAAF94754}"/>
              </a:ext>
            </a:extLst>
          </p:cNvPr>
          <p:cNvSpPr/>
          <p:nvPr/>
        </p:nvSpPr>
        <p:spPr>
          <a:xfrm>
            <a:off x="8001000" y="1155700"/>
            <a:ext cx="8216900" cy="1231900"/>
          </a:xfrm>
          <a:prstGeom prst="roundRect">
            <a:avLst>
              <a:gd name="adj" fmla="val 8000"/>
            </a:avLst>
          </a:prstGeom>
          <a:solidFill>
            <a:srgbClr val="EFF3F5"/>
          </a:solidFill>
          <a:ln w="12700">
            <a:solidFill>
              <a:srgbClr val="65788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text_058">
            <a:extLst>
              <a:ext uri="{FF2B5EF4-FFF2-40B4-BE49-F238E27FC236}">
                <a16:creationId xmlns:a16="http://schemas.microsoft.com/office/drawing/2014/main" id="{7C685CC9-FEFC-E202-4963-74494E42CFFA}"/>
              </a:ext>
            </a:extLst>
          </p:cNvPr>
          <p:cNvSpPr txBox="1"/>
          <p:nvPr/>
        </p:nvSpPr>
        <p:spPr>
          <a:xfrm>
            <a:off x="8153400" y="1181099"/>
            <a:ext cx="79121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900" b="1">
                <a:solidFill>
                  <a:srgbClr val="181818"/>
                </a:solidFill>
                <a:latin typeface="Times New Roman" panose="02020603050405020304" pitchFamily="18" charset="0"/>
              </a:rPr>
              <a:t>Core components</a:t>
            </a:r>
            <a:endParaRPr lang="zh-CN" altLang="en-US" sz="1900" b="1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sp>
        <p:nvSpPr>
          <p:cNvPr id="60" name="roundrect_059">
            <a:extLst>
              <a:ext uri="{FF2B5EF4-FFF2-40B4-BE49-F238E27FC236}">
                <a16:creationId xmlns:a16="http://schemas.microsoft.com/office/drawing/2014/main" id="{4B83358B-F985-279A-E347-AB2D09AFC19D}"/>
              </a:ext>
            </a:extLst>
          </p:cNvPr>
          <p:cNvSpPr/>
          <p:nvPr/>
        </p:nvSpPr>
        <p:spPr>
          <a:xfrm>
            <a:off x="8204200" y="1625600"/>
            <a:ext cx="3733800" cy="596900"/>
          </a:xfrm>
          <a:prstGeom prst="roundRect">
            <a:avLst>
              <a:gd name="adj" fmla="val 8000"/>
            </a:avLst>
          </a:prstGeom>
          <a:solidFill>
            <a:srgbClr val="E2EDF6"/>
          </a:solidFill>
          <a:ln w="12700">
            <a:solidFill>
              <a:srgbClr val="8296A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text_060">
            <a:extLst>
              <a:ext uri="{FF2B5EF4-FFF2-40B4-BE49-F238E27FC236}">
                <a16:creationId xmlns:a16="http://schemas.microsoft.com/office/drawing/2014/main" id="{6FE99C1C-20FC-B7F4-E083-554E11C7A64E}"/>
              </a:ext>
            </a:extLst>
          </p:cNvPr>
          <p:cNvSpPr txBox="1"/>
          <p:nvPr/>
        </p:nvSpPr>
        <p:spPr>
          <a:xfrm>
            <a:off x="8305800" y="1701799"/>
            <a:ext cx="3530600" cy="4445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b="1">
                <a:solidFill>
                  <a:srgbClr val="181818"/>
                </a:solidFill>
                <a:latin typeface="Times New Roman" panose="02020603050405020304" pitchFamily="18" charset="0"/>
              </a:rPr>
              <a:t>Qwen-Image-2.1 · INT8</a:t>
            </a:r>
            <a:endParaRPr lang="zh-CN" altLang="en-US" b="1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sp>
        <p:nvSpPr>
          <p:cNvPr id="62" name="roundrect_061">
            <a:extLst>
              <a:ext uri="{FF2B5EF4-FFF2-40B4-BE49-F238E27FC236}">
                <a16:creationId xmlns:a16="http://schemas.microsoft.com/office/drawing/2014/main" id="{0C59E445-8476-F512-BC17-CAE70DFB3385}"/>
              </a:ext>
            </a:extLst>
          </p:cNvPr>
          <p:cNvSpPr/>
          <p:nvPr/>
        </p:nvSpPr>
        <p:spPr>
          <a:xfrm>
            <a:off x="12141200" y="1625600"/>
            <a:ext cx="3873500" cy="596900"/>
          </a:xfrm>
          <a:prstGeom prst="roundRect">
            <a:avLst>
              <a:gd name="adj" fmla="val 8000"/>
            </a:avLst>
          </a:prstGeom>
          <a:solidFill>
            <a:srgbClr val="E0EEEE"/>
          </a:solidFill>
          <a:ln w="12700">
            <a:solidFill>
              <a:srgbClr val="8296A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text_062">
            <a:extLst>
              <a:ext uri="{FF2B5EF4-FFF2-40B4-BE49-F238E27FC236}">
                <a16:creationId xmlns:a16="http://schemas.microsoft.com/office/drawing/2014/main" id="{E1D31D30-B353-F737-9918-C47532B1956F}"/>
              </a:ext>
            </a:extLst>
          </p:cNvPr>
          <p:cNvSpPr txBox="1"/>
          <p:nvPr/>
        </p:nvSpPr>
        <p:spPr>
          <a:xfrm>
            <a:off x="12242800" y="1701799"/>
            <a:ext cx="3670300" cy="4445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b="1">
                <a:solidFill>
                  <a:srgbClr val="181818"/>
                </a:solidFill>
                <a:latin typeface="Times New Roman" panose="02020603050405020304" pitchFamily="18" charset="0"/>
              </a:rPr>
              <a:t>Qwen3VL 8B · INT8</a:t>
            </a:r>
            <a:endParaRPr lang="zh-CN" altLang="en-US" b="1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64" name="line_063">
            <a:extLst>
              <a:ext uri="{FF2B5EF4-FFF2-40B4-BE49-F238E27FC236}">
                <a16:creationId xmlns:a16="http://schemas.microsoft.com/office/drawing/2014/main" id="{0C60D2E7-E280-8223-7430-6380175DF35B}"/>
              </a:ext>
            </a:extLst>
          </p:cNvPr>
          <p:cNvCxnSpPr/>
          <p:nvPr/>
        </p:nvCxnSpPr>
        <p:spPr>
          <a:xfrm>
            <a:off x="12103100" y="2387600"/>
            <a:ext cx="0" cy="215900"/>
          </a:xfrm>
          <a:prstGeom prst="line">
            <a:avLst/>
          </a:prstGeom>
          <a:ln w="12700">
            <a:solidFill>
              <a:srgbClr val="18181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oundrect_064">
            <a:extLst>
              <a:ext uri="{FF2B5EF4-FFF2-40B4-BE49-F238E27FC236}">
                <a16:creationId xmlns:a16="http://schemas.microsoft.com/office/drawing/2014/main" id="{CB8E092E-2ED1-015F-F677-2BBD114DB537}"/>
              </a:ext>
            </a:extLst>
          </p:cNvPr>
          <p:cNvSpPr/>
          <p:nvPr/>
        </p:nvSpPr>
        <p:spPr>
          <a:xfrm>
            <a:off x="8001000" y="2603500"/>
            <a:ext cx="8216900" cy="571500"/>
          </a:xfrm>
          <a:prstGeom prst="roundRect">
            <a:avLst>
              <a:gd name="adj" fmla="val 8000"/>
            </a:avLst>
          </a:prstGeom>
          <a:solidFill>
            <a:srgbClr val="E9F0DF"/>
          </a:solidFill>
          <a:ln w="12700">
            <a:solidFill>
              <a:srgbClr val="82926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text_065">
            <a:extLst>
              <a:ext uri="{FF2B5EF4-FFF2-40B4-BE49-F238E27FC236}">
                <a16:creationId xmlns:a16="http://schemas.microsoft.com/office/drawing/2014/main" id="{86ABAF5F-3E0A-26E8-0B51-A7DFA8E1FB64}"/>
              </a:ext>
            </a:extLst>
          </p:cNvPr>
          <p:cNvSpPr txBox="1"/>
          <p:nvPr/>
        </p:nvSpPr>
        <p:spPr>
          <a:xfrm>
            <a:off x="8102600" y="2679699"/>
            <a:ext cx="8013700" cy="4191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2100" b="1">
                <a:solidFill>
                  <a:srgbClr val="181818"/>
                </a:solidFill>
                <a:latin typeface="Times New Roman" panose="02020603050405020304" pitchFamily="18" charset="0"/>
              </a:rPr>
              <a:t>Load trained LoRA · strength 0.8</a:t>
            </a:r>
            <a:endParaRPr lang="zh-CN" altLang="en-US" sz="2100" b="1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67" name="line_066">
            <a:extLst>
              <a:ext uri="{FF2B5EF4-FFF2-40B4-BE49-F238E27FC236}">
                <a16:creationId xmlns:a16="http://schemas.microsoft.com/office/drawing/2014/main" id="{006736A8-63A0-E4E5-F3BD-22B53DA14910}"/>
              </a:ext>
            </a:extLst>
          </p:cNvPr>
          <p:cNvCxnSpPr/>
          <p:nvPr/>
        </p:nvCxnSpPr>
        <p:spPr>
          <a:xfrm>
            <a:off x="12103100" y="3175000"/>
            <a:ext cx="0" cy="482600"/>
          </a:xfrm>
          <a:prstGeom prst="line">
            <a:avLst/>
          </a:prstGeom>
          <a:ln w="12700">
            <a:solidFill>
              <a:srgbClr val="18181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oundrect_067">
            <a:extLst>
              <a:ext uri="{FF2B5EF4-FFF2-40B4-BE49-F238E27FC236}">
                <a16:creationId xmlns:a16="http://schemas.microsoft.com/office/drawing/2014/main" id="{F96EAE2D-4FBA-6232-7F30-94C98C348279}"/>
              </a:ext>
            </a:extLst>
          </p:cNvPr>
          <p:cNvSpPr/>
          <p:nvPr/>
        </p:nvSpPr>
        <p:spPr>
          <a:xfrm>
            <a:off x="7734300" y="3670300"/>
            <a:ext cx="2628900" cy="88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8181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text_068">
            <a:extLst>
              <a:ext uri="{FF2B5EF4-FFF2-40B4-BE49-F238E27FC236}">
                <a16:creationId xmlns:a16="http://schemas.microsoft.com/office/drawing/2014/main" id="{CB2C8963-1A55-1DDB-D55C-C7A1E9AEDD45}"/>
              </a:ext>
            </a:extLst>
          </p:cNvPr>
          <p:cNvSpPr txBox="1"/>
          <p:nvPr/>
        </p:nvSpPr>
        <p:spPr>
          <a:xfrm>
            <a:off x="7861300" y="3759199"/>
            <a:ext cx="2374900" cy="3683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b="1">
                <a:solidFill>
                  <a:srgbClr val="181818"/>
                </a:solidFill>
                <a:latin typeface="Times New Roman" panose="02020603050405020304" pitchFamily="18" charset="0"/>
              </a:rPr>
              <a:t>Text prompts</a:t>
            </a:r>
            <a:endParaRPr lang="zh-CN" altLang="en-US" b="1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sp>
        <p:nvSpPr>
          <p:cNvPr id="70" name="text_069">
            <a:extLst>
              <a:ext uri="{FF2B5EF4-FFF2-40B4-BE49-F238E27FC236}">
                <a16:creationId xmlns:a16="http://schemas.microsoft.com/office/drawing/2014/main" id="{320831D7-4A59-9C08-9DBF-4DCC33EBDB0F}"/>
              </a:ext>
            </a:extLst>
          </p:cNvPr>
          <p:cNvSpPr txBox="1"/>
          <p:nvPr/>
        </p:nvSpPr>
        <p:spPr>
          <a:xfrm>
            <a:off x="7861300" y="4152899"/>
            <a:ext cx="23749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400">
                <a:solidFill>
                  <a:srgbClr val="181818"/>
                </a:solidFill>
                <a:latin typeface="Times New Roman" panose="02020603050405020304" pitchFamily="18" charset="0"/>
              </a:rPr>
              <a:t>Scene and safety state</a:t>
            </a:r>
            <a:endParaRPr lang="zh-CN" altLang="en-US" sz="1400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71" name="line_070">
            <a:extLst>
              <a:ext uri="{FF2B5EF4-FFF2-40B4-BE49-F238E27FC236}">
                <a16:creationId xmlns:a16="http://schemas.microsoft.com/office/drawing/2014/main" id="{3490B096-3935-1668-AB48-8014D902A278}"/>
              </a:ext>
            </a:extLst>
          </p:cNvPr>
          <p:cNvCxnSpPr/>
          <p:nvPr/>
        </p:nvCxnSpPr>
        <p:spPr>
          <a:xfrm>
            <a:off x="10363200" y="4114800"/>
            <a:ext cx="368300" cy="0"/>
          </a:xfrm>
          <a:prstGeom prst="line">
            <a:avLst/>
          </a:prstGeom>
          <a:ln w="15240">
            <a:solidFill>
              <a:srgbClr val="20202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roundrect_071">
            <a:extLst>
              <a:ext uri="{FF2B5EF4-FFF2-40B4-BE49-F238E27FC236}">
                <a16:creationId xmlns:a16="http://schemas.microsoft.com/office/drawing/2014/main" id="{9D051320-D96D-69D4-1AFB-D85883DB0834}"/>
              </a:ext>
            </a:extLst>
          </p:cNvPr>
          <p:cNvSpPr/>
          <p:nvPr/>
        </p:nvSpPr>
        <p:spPr>
          <a:xfrm>
            <a:off x="10731500" y="3657600"/>
            <a:ext cx="5486400" cy="977900"/>
          </a:xfrm>
          <a:prstGeom prst="roundRect">
            <a:avLst>
              <a:gd name="adj" fmla="val 8000"/>
            </a:avLst>
          </a:prstGeom>
          <a:solidFill>
            <a:srgbClr val="E9E7EF"/>
          </a:solidFill>
          <a:ln w="12700">
            <a:solidFill>
              <a:srgbClr val="939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text_072">
            <a:extLst>
              <a:ext uri="{FF2B5EF4-FFF2-40B4-BE49-F238E27FC236}">
                <a16:creationId xmlns:a16="http://schemas.microsoft.com/office/drawing/2014/main" id="{8508C2D7-06D2-9E92-37CE-0287C46C5C05}"/>
              </a:ext>
            </a:extLst>
          </p:cNvPr>
          <p:cNvSpPr txBox="1"/>
          <p:nvPr/>
        </p:nvSpPr>
        <p:spPr>
          <a:xfrm>
            <a:off x="10858500" y="3746499"/>
            <a:ext cx="5232400" cy="3683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2100" b="1">
                <a:solidFill>
                  <a:srgbClr val="181818"/>
                </a:solidFill>
                <a:latin typeface="Times New Roman" panose="02020603050405020304" pitchFamily="18" charset="0"/>
              </a:rPr>
              <a:t>Conditioned sampling</a:t>
            </a:r>
            <a:endParaRPr lang="zh-CN" altLang="en-US" sz="2100" b="1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sp>
        <p:nvSpPr>
          <p:cNvPr id="74" name="text_073">
            <a:extLst>
              <a:ext uri="{FF2B5EF4-FFF2-40B4-BE49-F238E27FC236}">
                <a16:creationId xmlns:a16="http://schemas.microsoft.com/office/drawing/2014/main" id="{C1312ABC-FF7C-35F0-585C-CD4A579BAFEF}"/>
              </a:ext>
            </a:extLst>
          </p:cNvPr>
          <p:cNvSpPr txBox="1"/>
          <p:nvPr/>
        </p:nvSpPr>
        <p:spPr>
          <a:xfrm>
            <a:off x="10858500" y="4140199"/>
            <a:ext cx="5232400" cy="4191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400">
                <a:solidFill>
                  <a:srgbClr val="181818"/>
                </a:solidFill>
                <a:latin typeface="Times New Roman" panose="02020603050405020304" pitchFamily="18" charset="0"/>
              </a:rPr>
              <a:t>Euler / simple · 25 steps · CFG 1</a:t>
            </a:r>
            <a:endParaRPr lang="zh-CN" altLang="en-US" sz="1400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sp>
        <p:nvSpPr>
          <p:cNvPr id="75" name="text_074">
            <a:extLst>
              <a:ext uri="{FF2B5EF4-FFF2-40B4-BE49-F238E27FC236}">
                <a16:creationId xmlns:a16="http://schemas.microsoft.com/office/drawing/2014/main" id="{FE53AE55-A97B-479B-2CDA-F54A9D2B527E}"/>
              </a:ext>
            </a:extLst>
          </p:cNvPr>
          <p:cNvSpPr txBox="1"/>
          <p:nvPr/>
        </p:nvSpPr>
        <p:spPr>
          <a:xfrm>
            <a:off x="10756900" y="4711699"/>
            <a:ext cx="54356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400">
                <a:solidFill>
                  <a:srgbClr val="181818"/>
                </a:solidFill>
                <a:latin typeface="Times New Roman" panose="02020603050405020304" pitchFamily="18" charset="0"/>
              </a:rPr>
              <a:t>Random seed · 1184 × 896 · batch 1</a:t>
            </a:r>
            <a:endParaRPr lang="zh-CN" altLang="en-US" sz="1400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76" name="line_075">
            <a:extLst>
              <a:ext uri="{FF2B5EF4-FFF2-40B4-BE49-F238E27FC236}">
                <a16:creationId xmlns:a16="http://schemas.microsoft.com/office/drawing/2014/main" id="{E58D2BFE-801A-B0E4-5A99-C6C70D0FC605}"/>
              </a:ext>
            </a:extLst>
          </p:cNvPr>
          <p:cNvCxnSpPr/>
          <p:nvPr/>
        </p:nvCxnSpPr>
        <p:spPr>
          <a:xfrm>
            <a:off x="13474700" y="5092700"/>
            <a:ext cx="0" cy="215900"/>
          </a:xfrm>
          <a:prstGeom prst="line">
            <a:avLst/>
          </a:prstGeom>
          <a:ln w="12700">
            <a:solidFill>
              <a:srgbClr val="18181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roundrect_076">
            <a:extLst>
              <a:ext uri="{FF2B5EF4-FFF2-40B4-BE49-F238E27FC236}">
                <a16:creationId xmlns:a16="http://schemas.microsoft.com/office/drawing/2014/main" id="{3AE0B24F-B064-A656-3582-F60A6AE8A787}"/>
              </a:ext>
            </a:extLst>
          </p:cNvPr>
          <p:cNvSpPr/>
          <p:nvPr/>
        </p:nvSpPr>
        <p:spPr>
          <a:xfrm>
            <a:off x="10731500" y="5308600"/>
            <a:ext cx="5486400" cy="609600"/>
          </a:xfrm>
          <a:prstGeom prst="roundRect">
            <a:avLst>
              <a:gd name="adj" fmla="val 8000"/>
            </a:avLst>
          </a:prstGeom>
          <a:solidFill>
            <a:srgbClr val="F5E6D5"/>
          </a:solidFill>
          <a:ln w="12700">
            <a:solidFill>
              <a:srgbClr val="AB927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text_077">
            <a:extLst>
              <a:ext uri="{FF2B5EF4-FFF2-40B4-BE49-F238E27FC236}">
                <a16:creationId xmlns:a16="http://schemas.microsoft.com/office/drawing/2014/main" id="{AE02C2B8-3AF8-B7F0-F630-3013DDBDEF20}"/>
              </a:ext>
            </a:extLst>
          </p:cNvPr>
          <p:cNvSpPr txBox="1"/>
          <p:nvPr/>
        </p:nvSpPr>
        <p:spPr>
          <a:xfrm>
            <a:off x="10833100" y="5384799"/>
            <a:ext cx="52832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2100" b="1">
                <a:solidFill>
                  <a:srgbClr val="181818"/>
                </a:solidFill>
                <a:latin typeface="Times New Roman" panose="02020603050405020304" pitchFamily="18" charset="0"/>
              </a:rPr>
              <a:t>VAE decoding</a:t>
            </a:r>
            <a:endParaRPr lang="zh-CN" altLang="en-US" sz="2100" b="1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sp>
        <p:nvSpPr>
          <p:cNvPr id="79" name="text_078">
            <a:extLst>
              <a:ext uri="{FF2B5EF4-FFF2-40B4-BE49-F238E27FC236}">
                <a16:creationId xmlns:a16="http://schemas.microsoft.com/office/drawing/2014/main" id="{4EABC558-1786-72A8-92F9-CCCFB2075F62}"/>
              </a:ext>
            </a:extLst>
          </p:cNvPr>
          <p:cNvSpPr txBox="1"/>
          <p:nvPr/>
        </p:nvSpPr>
        <p:spPr>
          <a:xfrm>
            <a:off x="7747000" y="5372099"/>
            <a:ext cx="2641600" cy="4445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500">
                <a:solidFill>
                  <a:srgbClr val="181818"/>
                </a:solidFill>
                <a:latin typeface="Times New Roman" panose="02020603050405020304" pitchFamily="18" charset="0"/>
              </a:rPr>
              <a:t>Qwen-Image-2.1 VAE</a:t>
            </a:r>
            <a:endParaRPr lang="zh-CN" altLang="en-US" sz="1500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80" name="line_079">
            <a:extLst>
              <a:ext uri="{FF2B5EF4-FFF2-40B4-BE49-F238E27FC236}">
                <a16:creationId xmlns:a16="http://schemas.microsoft.com/office/drawing/2014/main" id="{4534FD86-BB77-F881-96DA-41396655F3EA}"/>
              </a:ext>
            </a:extLst>
          </p:cNvPr>
          <p:cNvCxnSpPr/>
          <p:nvPr/>
        </p:nvCxnSpPr>
        <p:spPr>
          <a:xfrm>
            <a:off x="13474700" y="5918200"/>
            <a:ext cx="0" cy="279400"/>
          </a:xfrm>
          <a:prstGeom prst="line">
            <a:avLst/>
          </a:prstGeom>
          <a:ln w="12700">
            <a:solidFill>
              <a:srgbClr val="18181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_080">
            <a:extLst>
              <a:ext uri="{FF2B5EF4-FFF2-40B4-BE49-F238E27FC236}">
                <a16:creationId xmlns:a16="http://schemas.microsoft.com/office/drawing/2014/main" id="{C28B91BD-FF85-3F57-57AB-0596E51EAEAC}"/>
              </a:ext>
            </a:extLst>
          </p:cNvPr>
          <p:cNvSpPr txBox="1"/>
          <p:nvPr/>
        </p:nvSpPr>
        <p:spPr>
          <a:xfrm>
            <a:off x="7937500" y="6210299"/>
            <a:ext cx="82804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2000" b="1">
                <a:solidFill>
                  <a:srgbClr val="181818"/>
                </a:solidFill>
                <a:latin typeface="Times New Roman" panose="02020603050405020304" pitchFamily="18" charset="0"/>
              </a:rPr>
              <a:t>Generation and quality review</a:t>
            </a:r>
            <a:endParaRPr lang="zh-CN" altLang="en-US" sz="2000" b="1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82" name="line_081">
            <a:extLst>
              <a:ext uri="{FF2B5EF4-FFF2-40B4-BE49-F238E27FC236}">
                <a16:creationId xmlns:a16="http://schemas.microsoft.com/office/drawing/2014/main" id="{ED502F11-4CD3-E25D-9F02-2BA6B4D36DC2}"/>
              </a:ext>
            </a:extLst>
          </p:cNvPr>
          <p:cNvCxnSpPr/>
          <p:nvPr/>
        </p:nvCxnSpPr>
        <p:spPr>
          <a:xfrm flipH="1">
            <a:off x="7620000" y="6629400"/>
            <a:ext cx="4483100" cy="0"/>
          </a:xfrm>
          <a:prstGeom prst="line">
            <a:avLst/>
          </a:prstGeom>
          <a:ln w="12700">
            <a:solidFill>
              <a:srgbClr val="202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line_082">
            <a:extLst>
              <a:ext uri="{FF2B5EF4-FFF2-40B4-BE49-F238E27FC236}">
                <a16:creationId xmlns:a16="http://schemas.microsoft.com/office/drawing/2014/main" id="{99677E5C-E27A-6211-5493-77883AFD8B62}"/>
              </a:ext>
            </a:extLst>
          </p:cNvPr>
          <p:cNvCxnSpPr/>
          <p:nvPr/>
        </p:nvCxnSpPr>
        <p:spPr>
          <a:xfrm>
            <a:off x="7620000" y="6629400"/>
            <a:ext cx="0" cy="546100"/>
          </a:xfrm>
          <a:prstGeom prst="line">
            <a:avLst/>
          </a:prstGeom>
          <a:ln w="12700">
            <a:solidFill>
              <a:srgbClr val="202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line_083">
            <a:extLst>
              <a:ext uri="{FF2B5EF4-FFF2-40B4-BE49-F238E27FC236}">
                <a16:creationId xmlns:a16="http://schemas.microsoft.com/office/drawing/2014/main" id="{5CA802F2-E3F8-7BF5-8F7C-A12A5DB76BDF}"/>
              </a:ext>
            </a:extLst>
          </p:cNvPr>
          <p:cNvCxnSpPr/>
          <p:nvPr/>
        </p:nvCxnSpPr>
        <p:spPr>
          <a:xfrm>
            <a:off x="7620000" y="7175500"/>
            <a:ext cx="127000" cy="0"/>
          </a:xfrm>
          <a:prstGeom prst="line">
            <a:avLst/>
          </a:prstGeom>
          <a:ln w="12700">
            <a:solidFill>
              <a:srgbClr val="20202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roundrect_084">
            <a:extLst>
              <a:ext uri="{FF2B5EF4-FFF2-40B4-BE49-F238E27FC236}">
                <a16:creationId xmlns:a16="http://schemas.microsoft.com/office/drawing/2014/main" id="{8B679222-8CA9-B70D-ABD9-AA767BE87DC5}"/>
              </a:ext>
            </a:extLst>
          </p:cNvPr>
          <p:cNvSpPr/>
          <p:nvPr/>
        </p:nvSpPr>
        <p:spPr>
          <a:xfrm>
            <a:off x="7747000" y="6807200"/>
            <a:ext cx="2032000" cy="749300"/>
          </a:xfrm>
          <a:prstGeom prst="roundRect">
            <a:avLst>
              <a:gd name="adj" fmla="val 8000"/>
            </a:avLst>
          </a:prstGeom>
          <a:solidFill>
            <a:srgbClr val="E2EDF6"/>
          </a:solidFill>
          <a:ln w="12700">
            <a:solidFill>
              <a:srgbClr val="8793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" name="text_085">
            <a:extLst>
              <a:ext uri="{FF2B5EF4-FFF2-40B4-BE49-F238E27FC236}">
                <a16:creationId xmlns:a16="http://schemas.microsoft.com/office/drawing/2014/main" id="{52DB08E4-A5B8-7F6C-E217-1373778229DD}"/>
              </a:ext>
            </a:extLst>
          </p:cNvPr>
          <p:cNvSpPr txBox="1"/>
          <p:nvPr/>
        </p:nvSpPr>
        <p:spPr>
          <a:xfrm>
            <a:off x="7848600" y="6883399"/>
            <a:ext cx="1828800" cy="5969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700" b="1">
                <a:solidFill>
                  <a:srgbClr val="181818"/>
                </a:solidFill>
                <a:latin typeface="Times New Roman" panose="02020603050405020304" pitchFamily="18" charset="0"/>
              </a:rPr>
              <a:t>Planned
generation</a:t>
            </a:r>
            <a:endParaRPr lang="zh-CN" altLang="en-US" sz="1700" b="1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sp>
        <p:nvSpPr>
          <p:cNvPr id="87" name="roundrect_086">
            <a:extLst>
              <a:ext uri="{FF2B5EF4-FFF2-40B4-BE49-F238E27FC236}">
                <a16:creationId xmlns:a16="http://schemas.microsoft.com/office/drawing/2014/main" id="{45D89B45-6A2D-6F58-EDAE-16865DCD764E}"/>
              </a:ext>
            </a:extLst>
          </p:cNvPr>
          <p:cNvSpPr/>
          <p:nvPr/>
        </p:nvSpPr>
        <p:spPr>
          <a:xfrm>
            <a:off x="10058400" y="6807200"/>
            <a:ext cx="1714500" cy="749300"/>
          </a:xfrm>
          <a:prstGeom prst="roundRect">
            <a:avLst>
              <a:gd name="adj" fmla="val 8000"/>
            </a:avLst>
          </a:prstGeom>
          <a:solidFill>
            <a:srgbClr val="E9F0DF"/>
          </a:solidFill>
          <a:ln w="12700">
            <a:solidFill>
              <a:srgbClr val="8793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text_087">
            <a:extLst>
              <a:ext uri="{FF2B5EF4-FFF2-40B4-BE49-F238E27FC236}">
                <a16:creationId xmlns:a16="http://schemas.microsoft.com/office/drawing/2014/main" id="{056A708C-A39C-66CB-EAA4-4314B771F4BC}"/>
              </a:ext>
            </a:extLst>
          </p:cNvPr>
          <p:cNvSpPr txBox="1"/>
          <p:nvPr/>
        </p:nvSpPr>
        <p:spPr>
          <a:xfrm>
            <a:off x="10160000" y="6883399"/>
            <a:ext cx="1511300" cy="5969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700" b="1">
                <a:solidFill>
                  <a:srgbClr val="181818"/>
                </a:solidFill>
                <a:latin typeface="Times New Roman" panose="02020603050405020304" pitchFamily="18" charset="0"/>
              </a:rPr>
              <a:t>Screening</a:t>
            </a:r>
            <a:endParaRPr lang="zh-CN" altLang="en-US" sz="1700" b="1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sp>
        <p:nvSpPr>
          <p:cNvPr id="89" name="roundrect_088">
            <a:extLst>
              <a:ext uri="{FF2B5EF4-FFF2-40B4-BE49-F238E27FC236}">
                <a16:creationId xmlns:a16="http://schemas.microsoft.com/office/drawing/2014/main" id="{B6F3886A-FB3C-2488-42D0-0CA83B6FE8BE}"/>
              </a:ext>
            </a:extLst>
          </p:cNvPr>
          <p:cNvSpPr/>
          <p:nvPr/>
        </p:nvSpPr>
        <p:spPr>
          <a:xfrm>
            <a:off x="12052300" y="6807200"/>
            <a:ext cx="2298700" cy="749300"/>
          </a:xfrm>
          <a:prstGeom prst="roundRect">
            <a:avLst>
              <a:gd name="adj" fmla="val 8000"/>
            </a:avLst>
          </a:prstGeom>
          <a:solidFill>
            <a:srgbClr val="F5E6D5"/>
          </a:solidFill>
          <a:ln w="12700">
            <a:solidFill>
              <a:srgbClr val="8793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0" name="text_089">
            <a:extLst>
              <a:ext uri="{FF2B5EF4-FFF2-40B4-BE49-F238E27FC236}">
                <a16:creationId xmlns:a16="http://schemas.microsoft.com/office/drawing/2014/main" id="{833F02C3-C53C-E66A-46AA-9FDCFABCB5C4}"/>
              </a:ext>
            </a:extLst>
          </p:cNvPr>
          <p:cNvSpPr txBox="1"/>
          <p:nvPr/>
        </p:nvSpPr>
        <p:spPr>
          <a:xfrm>
            <a:off x="12153900" y="6883399"/>
            <a:ext cx="2095500" cy="5969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700" b="1">
                <a:solidFill>
                  <a:srgbClr val="181818"/>
                </a:solidFill>
                <a:latin typeface="Times New Roman" panose="02020603050405020304" pitchFamily="18" charset="0"/>
              </a:rPr>
              <a:t>Supplementary
generation</a:t>
            </a:r>
            <a:endParaRPr lang="zh-CN" altLang="en-US" sz="1700" b="1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sp>
        <p:nvSpPr>
          <p:cNvPr id="91" name="roundrect_090">
            <a:extLst>
              <a:ext uri="{FF2B5EF4-FFF2-40B4-BE49-F238E27FC236}">
                <a16:creationId xmlns:a16="http://schemas.microsoft.com/office/drawing/2014/main" id="{E32CA361-37BE-569F-920E-655EB2A9A0D5}"/>
              </a:ext>
            </a:extLst>
          </p:cNvPr>
          <p:cNvSpPr/>
          <p:nvPr/>
        </p:nvSpPr>
        <p:spPr>
          <a:xfrm>
            <a:off x="14630400" y="6807200"/>
            <a:ext cx="1714500" cy="749300"/>
          </a:xfrm>
          <a:prstGeom prst="roundRect">
            <a:avLst>
              <a:gd name="adj" fmla="val 8000"/>
            </a:avLst>
          </a:prstGeom>
          <a:solidFill>
            <a:srgbClr val="E9F0DF"/>
          </a:solidFill>
          <a:ln w="12700">
            <a:solidFill>
              <a:srgbClr val="8793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2" name="text_091">
            <a:extLst>
              <a:ext uri="{FF2B5EF4-FFF2-40B4-BE49-F238E27FC236}">
                <a16:creationId xmlns:a16="http://schemas.microsoft.com/office/drawing/2014/main" id="{A1DA7B80-AE84-FC59-350D-60892D410F58}"/>
              </a:ext>
            </a:extLst>
          </p:cNvPr>
          <p:cNvSpPr txBox="1"/>
          <p:nvPr/>
        </p:nvSpPr>
        <p:spPr>
          <a:xfrm>
            <a:off x="14732000" y="6883399"/>
            <a:ext cx="1511300" cy="5969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700" b="1">
                <a:solidFill>
                  <a:srgbClr val="181818"/>
                </a:solidFill>
                <a:latin typeface="Times New Roman" panose="02020603050405020304" pitchFamily="18" charset="0"/>
              </a:rPr>
              <a:t>Screening</a:t>
            </a:r>
            <a:endParaRPr lang="zh-CN" altLang="en-US" sz="1700" b="1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93" name="line_092">
            <a:extLst>
              <a:ext uri="{FF2B5EF4-FFF2-40B4-BE49-F238E27FC236}">
                <a16:creationId xmlns:a16="http://schemas.microsoft.com/office/drawing/2014/main" id="{CD071483-935F-69D3-7AC8-C52E58172E4F}"/>
              </a:ext>
            </a:extLst>
          </p:cNvPr>
          <p:cNvCxnSpPr/>
          <p:nvPr/>
        </p:nvCxnSpPr>
        <p:spPr>
          <a:xfrm>
            <a:off x="9779000" y="7175500"/>
            <a:ext cx="279400" cy="0"/>
          </a:xfrm>
          <a:prstGeom prst="line">
            <a:avLst/>
          </a:prstGeom>
          <a:ln w="15240">
            <a:solidFill>
              <a:srgbClr val="20202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line_093">
            <a:extLst>
              <a:ext uri="{FF2B5EF4-FFF2-40B4-BE49-F238E27FC236}">
                <a16:creationId xmlns:a16="http://schemas.microsoft.com/office/drawing/2014/main" id="{0072D78E-73E4-5429-F68A-23867AE77842}"/>
              </a:ext>
            </a:extLst>
          </p:cNvPr>
          <p:cNvCxnSpPr/>
          <p:nvPr/>
        </p:nvCxnSpPr>
        <p:spPr>
          <a:xfrm>
            <a:off x="11772900" y="7175500"/>
            <a:ext cx="279400" cy="0"/>
          </a:xfrm>
          <a:prstGeom prst="line">
            <a:avLst/>
          </a:prstGeom>
          <a:ln w="15240">
            <a:solidFill>
              <a:srgbClr val="20202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line_094">
            <a:extLst>
              <a:ext uri="{FF2B5EF4-FFF2-40B4-BE49-F238E27FC236}">
                <a16:creationId xmlns:a16="http://schemas.microsoft.com/office/drawing/2014/main" id="{D448DB4E-E101-F7F7-0FEA-6F40E8F04C90}"/>
              </a:ext>
            </a:extLst>
          </p:cNvPr>
          <p:cNvCxnSpPr/>
          <p:nvPr/>
        </p:nvCxnSpPr>
        <p:spPr>
          <a:xfrm>
            <a:off x="14351000" y="7175500"/>
            <a:ext cx="279400" cy="0"/>
          </a:xfrm>
          <a:prstGeom prst="line">
            <a:avLst/>
          </a:prstGeom>
          <a:ln w="15240">
            <a:solidFill>
              <a:srgbClr val="20202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line_095">
            <a:extLst>
              <a:ext uri="{FF2B5EF4-FFF2-40B4-BE49-F238E27FC236}">
                <a16:creationId xmlns:a16="http://schemas.microsoft.com/office/drawing/2014/main" id="{39FD6422-8306-9757-B16A-738769F2904D}"/>
              </a:ext>
            </a:extLst>
          </p:cNvPr>
          <p:cNvCxnSpPr/>
          <p:nvPr/>
        </p:nvCxnSpPr>
        <p:spPr>
          <a:xfrm>
            <a:off x="15481300" y="7556500"/>
            <a:ext cx="0" cy="342900"/>
          </a:xfrm>
          <a:prstGeom prst="line">
            <a:avLst/>
          </a:prstGeom>
          <a:ln w="12700">
            <a:solidFill>
              <a:srgbClr val="202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line_096">
            <a:extLst>
              <a:ext uri="{FF2B5EF4-FFF2-40B4-BE49-F238E27FC236}">
                <a16:creationId xmlns:a16="http://schemas.microsoft.com/office/drawing/2014/main" id="{351E3A15-C158-340B-75EB-86879BA02773}"/>
              </a:ext>
            </a:extLst>
          </p:cNvPr>
          <p:cNvCxnSpPr/>
          <p:nvPr/>
        </p:nvCxnSpPr>
        <p:spPr>
          <a:xfrm flipH="1">
            <a:off x="12103100" y="7899400"/>
            <a:ext cx="3378200" cy="0"/>
          </a:xfrm>
          <a:prstGeom prst="line">
            <a:avLst/>
          </a:prstGeom>
          <a:ln w="12700">
            <a:solidFill>
              <a:srgbClr val="202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line_097">
            <a:extLst>
              <a:ext uri="{FF2B5EF4-FFF2-40B4-BE49-F238E27FC236}">
                <a16:creationId xmlns:a16="http://schemas.microsoft.com/office/drawing/2014/main" id="{2DF7B2F7-5557-1A47-7FE6-7FD4A2477803}"/>
              </a:ext>
            </a:extLst>
          </p:cNvPr>
          <p:cNvCxnSpPr/>
          <p:nvPr/>
        </p:nvCxnSpPr>
        <p:spPr>
          <a:xfrm>
            <a:off x="12103100" y="7899400"/>
            <a:ext cx="0" cy="241300"/>
          </a:xfrm>
          <a:prstGeom prst="line">
            <a:avLst/>
          </a:prstGeom>
          <a:ln w="12700">
            <a:solidFill>
              <a:srgbClr val="18181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text_098">
            <a:extLst>
              <a:ext uri="{FF2B5EF4-FFF2-40B4-BE49-F238E27FC236}">
                <a16:creationId xmlns:a16="http://schemas.microsoft.com/office/drawing/2014/main" id="{44A54B7E-D596-60F8-1EBA-C2BE961E2ADF}"/>
              </a:ext>
            </a:extLst>
          </p:cNvPr>
          <p:cNvSpPr txBox="1"/>
          <p:nvPr/>
        </p:nvSpPr>
        <p:spPr>
          <a:xfrm>
            <a:off x="7988300" y="8140699"/>
            <a:ext cx="82550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2500" b="1">
                <a:solidFill>
                  <a:srgbClr val="181818"/>
                </a:solidFill>
                <a:latin typeface="Times New Roman" panose="02020603050405020304" pitchFamily="18" charset="0"/>
              </a:rPr>
              <a:t>Arm D: 1,085 accepted images</a:t>
            </a:r>
            <a:endParaRPr lang="zh-CN" altLang="en-US" sz="2500" b="1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101" name="picture_099">
            <a:extLst>
              <a:ext uri="{FF2B5EF4-FFF2-40B4-BE49-F238E27FC236}">
                <a16:creationId xmlns:a16="http://schemas.microsoft.com/office/drawing/2014/main" id="{88AEAA21-33B2-BEC3-D1C3-49D12D0EAC24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9948" y="8775700"/>
            <a:ext cx="2064204" cy="1562100"/>
          </a:xfrm>
          <a:prstGeom prst="rect">
            <a:avLst/>
          </a:prstGeom>
        </p:spPr>
      </p:pic>
      <p:sp>
        <p:nvSpPr>
          <p:cNvPr id="102" name="rect_100">
            <a:extLst>
              <a:ext uri="{FF2B5EF4-FFF2-40B4-BE49-F238E27FC236}">
                <a16:creationId xmlns:a16="http://schemas.microsoft.com/office/drawing/2014/main" id="{D343C615-F3D4-A577-970E-004C54294770}"/>
              </a:ext>
            </a:extLst>
          </p:cNvPr>
          <p:cNvSpPr/>
          <p:nvPr/>
        </p:nvSpPr>
        <p:spPr>
          <a:xfrm>
            <a:off x="7749948" y="8775700"/>
            <a:ext cx="2064203" cy="1562100"/>
          </a:xfrm>
          <a:prstGeom prst="rect">
            <a:avLst/>
          </a:prstGeom>
          <a:noFill/>
          <a:ln w="8255" cap="flat" cmpd="sng" algn="ctr">
            <a:solidFill>
              <a:srgbClr val="696969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4" name="picture_101">
            <a:extLst>
              <a:ext uri="{FF2B5EF4-FFF2-40B4-BE49-F238E27FC236}">
                <a16:creationId xmlns:a16="http://schemas.microsoft.com/office/drawing/2014/main" id="{2CA97C8E-6682-A9C3-0247-86E075EC8CE5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7048" y="8775700"/>
            <a:ext cx="2064204" cy="1562100"/>
          </a:xfrm>
          <a:prstGeom prst="rect">
            <a:avLst/>
          </a:prstGeom>
        </p:spPr>
      </p:pic>
      <p:sp>
        <p:nvSpPr>
          <p:cNvPr id="105" name="rect_102">
            <a:extLst>
              <a:ext uri="{FF2B5EF4-FFF2-40B4-BE49-F238E27FC236}">
                <a16:creationId xmlns:a16="http://schemas.microsoft.com/office/drawing/2014/main" id="{D026BBBA-1D6D-5C0B-CB6D-D0AC22A9F912}"/>
              </a:ext>
            </a:extLst>
          </p:cNvPr>
          <p:cNvSpPr/>
          <p:nvPr/>
        </p:nvSpPr>
        <p:spPr>
          <a:xfrm>
            <a:off x="9947048" y="8775700"/>
            <a:ext cx="2064203" cy="1562100"/>
          </a:xfrm>
          <a:prstGeom prst="rect">
            <a:avLst/>
          </a:prstGeom>
          <a:noFill/>
          <a:ln w="8255" cap="flat" cmpd="sng" algn="ctr">
            <a:solidFill>
              <a:srgbClr val="696969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7" name="picture_103">
            <a:extLst>
              <a:ext uri="{FF2B5EF4-FFF2-40B4-BE49-F238E27FC236}">
                <a16:creationId xmlns:a16="http://schemas.microsoft.com/office/drawing/2014/main" id="{273325BC-0D7A-262B-1C72-D9E7B308FA3A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44148" y="8775700"/>
            <a:ext cx="2064204" cy="1562100"/>
          </a:xfrm>
          <a:prstGeom prst="rect">
            <a:avLst/>
          </a:prstGeom>
        </p:spPr>
      </p:pic>
      <p:sp>
        <p:nvSpPr>
          <p:cNvPr id="108" name="rect_104">
            <a:extLst>
              <a:ext uri="{FF2B5EF4-FFF2-40B4-BE49-F238E27FC236}">
                <a16:creationId xmlns:a16="http://schemas.microsoft.com/office/drawing/2014/main" id="{8AFB829F-DB7E-07A5-2129-12602943B7F2}"/>
              </a:ext>
            </a:extLst>
          </p:cNvPr>
          <p:cNvSpPr/>
          <p:nvPr/>
        </p:nvSpPr>
        <p:spPr>
          <a:xfrm>
            <a:off x="12144148" y="8775700"/>
            <a:ext cx="2064203" cy="1562100"/>
          </a:xfrm>
          <a:prstGeom prst="rect">
            <a:avLst/>
          </a:prstGeom>
          <a:noFill/>
          <a:ln w="8255" cap="flat" cmpd="sng" algn="ctr">
            <a:solidFill>
              <a:srgbClr val="696969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0" name="picture_105">
            <a:extLst>
              <a:ext uri="{FF2B5EF4-FFF2-40B4-BE49-F238E27FC236}">
                <a16:creationId xmlns:a16="http://schemas.microsoft.com/office/drawing/2014/main" id="{DEA85736-693B-BBD7-17B9-ACAA2301067E}"/>
              </a:ext>
            </a:extLst>
          </p:cNvPr>
          <p:cNvPicPr>
            <a:picLocks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41249" y="8775700"/>
            <a:ext cx="2064204" cy="1562100"/>
          </a:xfrm>
          <a:prstGeom prst="rect">
            <a:avLst/>
          </a:prstGeom>
        </p:spPr>
      </p:pic>
      <p:sp>
        <p:nvSpPr>
          <p:cNvPr id="111" name="rect_106">
            <a:extLst>
              <a:ext uri="{FF2B5EF4-FFF2-40B4-BE49-F238E27FC236}">
                <a16:creationId xmlns:a16="http://schemas.microsoft.com/office/drawing/2014/main" id="{486041D1-B956-C16E-725C-04534732D418}"/>
              </a:ext>
            </a:extLst>
          </p:cNvPr>
          <p:cNvSpPr/>
          <p:nvPr/>
        </p:nvSpPr>
        <p:spPr>
          <a:xfrm>
            <a:off x="14341249" y="8775700"/>
            <a:ext cx="2064204" cy="1562100"/>
          </a:xfrm>
          <a:prstGeom prst="rect">
            <a:avLst/>
          </a:prstGeom>
          <a:noFill/>
          <a:ln w="8255" cap="flat" cmpd="sng" algn="ctr">
            <a:solidFill>
              <a:srgbClr val="696969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31033673"/>
      </p:ext>
    </p:extLst>
  </p:cSld>
  <p:clrMapOvr>
    <a:masterClrMapping/>
  </p:clrMapOvr>
  <p:transition spd="med"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GURENUMBER" val="3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364</Words>
  <Application>Microsoft Office PowerPoint</Application>
  <PresentationFormat>自定义</PresentationFormat>
  <Paragraphs>44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Arial</vt:lpstr>
      <vt:lpstr>等线</vt:lpstr>
      <vt:lpstr>Times New Roman</vt:lpstr>
      <vt:lpstr>等线 Light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zhangyizhou@connect.hku.hk</dc:creator>
  <cp:lastModifiedBy>zhangyizhou@connect.hku.hk</cp:lastModifiedBy>
  <cp:revision>1</cp:revision>
  <dcterms:created xsi:type="dcterms:W3CDTF">2026-10-09T14:14:51Z</dcterms:created>
  <dcterms:modified xsi:type="dcterms:W3CDTF">2026-10-09T14:14:51Z</dcterms:modified>
</cp:coreProperties>
</file>