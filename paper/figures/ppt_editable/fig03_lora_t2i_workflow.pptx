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3716000" cy="113792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4D7F67-B2AC-4126-8168-035202D850C4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1143000"/>
            <a:ext cx="3721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1C6E1A-69DA-4559-A3C0-06A6EE6946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0463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000">
                <a:latin typeface="Arial" panose="020B0604020202020204" pitchFamily="34" charset="0"/>
              </a:rPr>
              <a:t>Sources: docs/v5_prompts/qwen21_lora_training_validation.md, full_generation_20261004.md, pilot_workflow_api.json. Actual compatible training: Qwen-Image-2.1 DiffSynth-Studio SFT DiT LoRA, rank16, LR1e-4, repeat5, epochs4, batch1, 1860 optimizer steps, max_pixels1048576, FlowMatchSFTLoss, AdamW / ConstantLR. 93 reviewed image-caption pairs; no held-out LoRA validation set. Earlier Liblib 2000-step/0.0004 LoRA is incompatible and is not the formal D weight. Inference: qwen_image_2.1_int8_convrot.safetensors, qwen3vl_8b_int8_convrot.safetensors, qwen_image_2.1_vae_bf16.safetensors, step-1860.safetensors at0.8, random seeds, 1184x896, Euler/simple25steps CFG1 denoise1 empty negative, batch1. 1308 candidates (558+750) completed 2026-10-04. Screening/labels pending, target465+620=1085. Displayed D pictures are unscreened candidates, not evidence of downstream benefit.</a:t>
            </a:r>
            <a:endParaRPr lang="zh-CN" altLang="en-US" sz="1000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1C6E1A-69DA-4559-A3C0-06A6EE69460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866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E23110-3646-6751-A819-5F402DCD0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4500" y="1862291"/>
            <a:ext cx="10287000" cy="396164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01AC7B-414C-FEAF-DFD2-BAAB28EDB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14500" y="5976715"/>
            <a:ext cx="10287000" cy="274733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EABAD3-E5BE-512E-52FA-FE38D4189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B87196-3976-9F17-84C4-1168AABF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C1B344-7FCD-86CA-F92A-48BBE9F68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51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F90FFF-5D6E-D09C-6729-387D9FE4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33756C-DBB1-20E1-55AE-79B0B17D7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5EE2C9-9A06-4CA3-ED52-1D32BA046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61E541-F900-AA3B-11C1-CA452B626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10F8A-10A7-E7BE-07E8-7CEC0C092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7981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982512-56C5-6253-BB3C-35E5CE026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831" y="2836901"/>
            <a:ext cx="11830050" cy="473343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07D5FC-D84F-FD6B-A0B2-D29790B82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831" y="7615112"/>
            <a:ext cx="11830050" cy="24891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3540CF-F123-8B11-7920-8CF7416B1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46291A-417D-7CAB-4F39-ADC67489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13EC63-9DBB-3AE0-43F0-F4973475E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0830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05AE37-1F76-857D-C0EA-729ABFB0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70D105-2AAB-A09D-1019-3369B7DA43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42975" y="3029185"/>
            <a:ext cx="5829300" cy="72199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7E69DF-6ED6-955C-C579-EEBE118B9C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3725" y="3029185"/>
            <a:ext cx="5829300" cy="72199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42942C-FB99-D546-28BA-CB62BB95D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0E6CCA-3735-E22D-1469-F05E04EEB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AEC3BB-DF65-82C4-EDD7-03767110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080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84980-1E6B-9757-A6D7-D5F397DAF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2" y="605839"/>
            <a:ext cx="11830050" cy="21994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539876-2DEF-002D-0475-E13F0FEFBE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4762" y="2789485"/>
            <a:ext cx="5802510" cy="136708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D05917-04F1-57A7-E283-9E2073BAC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4762" y="4156569"/>
            <a:ext cx="5802510" cy="61136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64B1BB5-1626-F2DE-755B-56E916A20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43726" y="2789485"/>
            <a:ext cx="5831087" cy="136708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5940FC7-3A34-5CAF-4215-0B5DBADE2D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43726" y="4156569"/>
            <a:ext cx="5831087" cy="61136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40EE897-889C-5A3F-A853-352A4C115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4DD9F23-E791-C4E0-523D-6CF00D86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30C76FF-9D15-4405-2C25-CE277BDF3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166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AD33AB-B005-C43F-2CF3-4F1FE6C4B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6DEF862-444B-86C1-80A5-587E3C0E5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5D895D2-C6E2-668F-218C-7E2E5E4D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2895D00-C165-B897-A283-56A52A96C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56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BAA38AB-20E8-1CF2-E6A0-ECEAF6391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D5B69E-B6FB-6FC8-3484-33158DF6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CA0E82-3664-B35B-DD02-16D8B9456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042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57ABA-A16A-C40F-900F-37C20C347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3" y="758613"/>
            <a:ext cx="4423767" cy="265514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E00FBB-334E-34D7-60C0-6D645D8D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1088" y="1638397"/>
            <a:ext cx="6943725" cy="808660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18C87B2-67B4-63EF-1E71-7ADF201ABD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4763" y="3413760"/>
            <a:ext cx="4423767" cy="632441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D26792-664B-24EB-266A-3F1773639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BF6645-AF6D-7FE0-33E4-E251B54BF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8BE33A9-FFFF-6850-3B09-674B3788F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54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38C02-8174-B739-0B79-2971D3FC0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3" y="758613"/>
            <a:ext cx="4423767" cy="265514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8626EA4-D813-19A8-71F1-9475D49A6CA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831088" y="1638397"/>
            <a:ext cx="6943725" cy="808660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8A7AF4-2115-5ABE-C519-542C9CAB0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4763" y="3413760"/>
            <a:ext cx="4423767" cy="632441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ABD3E1-7447-995C-68A0-1CBDA7F50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638A88-C893-CCE0-5FBF-A038A7916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CB277C-5D2A-7D8E-2700-00625DAB3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39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9B43F7-1A27-FA40-6F98-739EB03B4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E68F8E-6199-9859-960F-2E1BBF847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6519BD-24E0-291A-BC72-C34C78BCE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B17BC8-B3AB-B674-5181-4C75C06E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0D500B-504E-EE1C-2472-976E2A0FF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8826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A4190CA-DBE1-502F-4D12-83101F77C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15513" y="605837"/>
            <a:ext cx="2957513" cy="964334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73D16D-4222-3791-0EC4-7F337EC5B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2975" y="605837"/>
            <a:ext cx="8701088" cy="96433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50E98-982D-8260-7060-5850BEC3E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865CF7-8298-3CE9-D241-B2BEA64BD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787593-19A6-6B3D-8585-802807A0E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13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3E92F9-3A44-B6CF-7E67-4DAE731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605839"/>
            <a:ext cx="11830050" cy="21994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D9FDE7-C993-3395-D143-83190DA47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3029185"/>
            <a:ext cx="11830050" cy="7219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835474-1DC6-3F42-FD99-5DB9937FFC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2975" y="10546835"/>
            <a:ext cx="3086100" cy="6058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FCBE67-36DA-4980-AF86-A29F3F6C8FD2}" type="datetimeFigureOut">
              <a:rPr lang="zh-CN" altLang="en-US" smtClean="0"/>
              <a:t>2026/10/6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C40EBB-A317-2B7C-3BD0-0A03EAC8C8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43425" y="10546835"/>
            <a:ext cx="4629150" cy="6058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F89F80-BE72-C493-FE27-A01D2953DB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86925" y="10546835"/>
            <a:ext cx="3086100" cy="6058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4BBDC-B8A5-4FC7-BD60-EAC14581EA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395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001">
            <a:extLst>
              <a:ext uri="{FF2B5EF4-FFF2-40B4-BE49-F238E27FC236}">
                <a16:creationId xmlns:a16="http://schemas.microsoft.com/office/drawing/2014/main" id="{42124647-F16B-7334-EC3D-5724768E7FFB}"/>
              </a:ext>
            </a:extLst>
          </p:cNvPr>
          <p:cNvSpPr txBox="1"/>
          <p:nvPr/>
        </p:nvSpPr>
        <p:spPr>
          <a:xfrm>
            <a:off x="304800" y="177799"/>
            <a:ext cx="5969000" cy="393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2000" b="1">
                <a:solidFill>
                  <a:srgbClr val="181818"/>
                </a:solidFill>
                <a:latin typeface="Times New Roman" panose="02020603050405020304" pitchFamily="18" charset="0"/>
              </a:rPr>
              <a:t>(a) LoRA fitting on real93</a:t>
            </a:r>
            <a:endParaRPr lang="zh-CN" altLang="en-US" sz="20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" name="text_002">
            <a:extLst>
              <a:ext uri="{FF2B5EF4-FFF2-40B4-BE49-F238E27FC236}">
                <a16:creationId xmlns:a16="http://schemas.microsoft.com/office/drawing/2014/main" id="{2BDC085A-E6AC-541C-99DF-ED6F2C3E7510}"/>
              </a:ext>
            </a:extLst>
          </p:cNvPr>
          <p:cNvSpPr txBox="1"/>
          <p:nvPr/>
        </p:nvSpPr>
        <p:spPr>
          <a:xfrm>
            <a:off x="7467600" y="177799"/>
            <a:ext cx="5943600" cy="393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2000" b="1">
                <a:solidFill>
                  <a:srgbClr val="181818"/>
                </a:solidFill>
                <a:latin typeface="Times New Roman" panose="02020603050405020304" pitchFamily="18" charset="0"/>
              </a:rPr>
              <a:t>(b) Text-to-image generation</a:t>
            </a:r>
            <a:endParaRPr lang="zh-CN" altLang="en-US" sz="20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" name="line_003">
            <a:extLst>
              <a:ext uri="{FF2B5EF4-FFF2-40B4-BE49-F238E27FC236}">
                <a16:creationId xmlns:a16="http://schemas.microsoft.com/office/drawing/2014/main" id="{C3EEC0F5-3E17-71A1-3F17-C12DBFA77373}"/>
              </a:ext>
            </a:extLst>
          </p:cNvPr>
          <p:cNvCxnSpPr/>
          <p:nvPr/>
        </p:nvCxnSpPr>
        <p:spPr>
          <a:xfrm>
            <a:off x="304800" y="685800"/>
            <a:ext cx="5969000" cy="0"/>
          </a:xfrm>
          <a:prstGeom prst="line">
            <a:avLst/>
          </a:prstGeom>
          <a:ln w="12700">
            <a:solidFill>
              <a:srgbClr val="62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line_004">
            <a:extLst>
              <a:ext uri="{FF2B5EF4-FFF2-40B4-BE49-F238E27FC236}">
                <a16:creationId xmlns:a16="http://schemas.microsoft.com/office/drawing/2014/main" id="{9B79F760-79E7-207F-E008-D073B30528B5}"/>
              </a:ext>
            </a:extLst>
          </p:cNvPr>
          <p:cNvCxnSpPr/>
          <p:nvPr/>
        </p:nvCxnSpPr>
        <p:spPr>
          <a:xfrm>
            <a:off x="7467600" y="685800"/>
            <a:ext cx="5943600" cy="0"/>
          </a:xfrm>
          <a:prstGeom prst="line">
            <a:avLst/>
          </a:prstGeom>
          <a:ln w="12700">
            <a:solidFill>
              <a:srgbClr val="62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_005">
            <a:extLst>
              <a:ext uri="{FF2B5EF4-FFF2-40B4-BE49-F238E27FC236}">
                <a16:creationId xmlns:a16="http://schemas.microsoft.com/office/drawing/2014/main" id="{A01D4F96-2C7D-DE00-71EA-5B9ACD6AE419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17" y="965200"/>
            <a:ext cx="1608667" cy="1206500"/>
          </a:xfrm>
          <a:prstGeom prst="rect">
            <a:avLst/>
          </a:prstGeom>
        </p:spPr>
      </p:pic>
      <p:sp>
        <p:nvSpPr>
          <p:cNvPr id="8" name="rect_006">
            <a:extLst>
              <a:ext uri="{FF2B5EF4-FFF2-40B4-BE49-F238E27FC236}">
                <a16:creationId xmlns:a16="http://schemas.microsoft.com/office/drawing/2014/main" id="{B4624B12-FBF7-EA40-43C9-9AC0D4F85E5F}"/>
              </a:ext>
            </a:extLst>
          </p:cNvPr>
          <p:cNvSpPr/>
          <p:nvPr/>
        </p:nvSpPr>
        <p:spPr>
          <a:xfrm>
            <a:off x="599017" y="965200"/>
            <a:ext cx="1608666" cy="1206500"/>
          </a:xfrm>
          <a:prstGeom prst="rect">
            <a:avLst/>
          </a:prstGeom>
          <a:noFill/>
          <a:ln w="4445" cap="flat" cmpd="sng" algn="ctr">
            <a:solidFill>
              <a:srgbClr val="BDBDB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_007">
            <a:extLst>
              <a:ext uri="{FF2B5EF4-FFF2-40B4-BE49-F238E27FC236}">
                <a16:creationId xmlns:a16="http://schemas.microsoft.com/office/drawing/2014/main" id="{26DC9FFA-A0AF-261E-7825-E7DF26A98BA6}"/>
              </a:ext>
            </a:extLst>
          </p:cNvPr>
          <p:cNvSpPr txBox="1"/>
          <p:nvPr/>
        </p:nvSpPr>
        <p:spPr>
          <a:xfrm>
            <a:off x="2679700" y="914399"/>
            <a:ext cx="3517900" cy="368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700" b="1">
                <a:solidFill>
                  <a:srgbClr val="181818"/>
                </a:solidFill>
                <a:latin typeface="Times New Roman" panose="02020603050405020304" pitchFamily="18" charset="0"/>
              </a:rPr>
              <a:t>93 reviewed image–caption pairs</a:t>
            </a:r>
            <a:endParaRPr lang="zh-CN" altLang="en-US" sz="17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_008">
            <a:extLst>
              <a:ext uri="{FF2B5EF4-FFF2-40B4-BE49-F238E27FC236}">
                <a16:creationId xmlns:a16="http://schemas.microsoft.com/office/drawing/2014/main" id="{A5ACBFED-92D1-1C1C-7504-928C47EF5151}"/>
              </a:ext>
            </a:extLst>
          </p:cNvPr>
          <p:cNvSpPr txBox="1"/>
          <p:nvPr/>
        </p:nvSpPr>
        <p:spPr>
          <a:xfrm>
            <a:off x="2679700" y="1396999"/>
            <a:ext cx="10795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Source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_009">
            <a:extLst>
              <a:ext uri="{FF2B5EF4-FFF2-40B4-BE49-F238E27FC236}">
                <a16:creationId xmlns:a16="http://schemas.microsoft.com/office/drawing/2014/main" id="{509D2746-7D79-650E-5CDC-0D6F2229D5F1}"/>
              </a:ext>
            </a:extLst>
          </p:cNvPr>
          <p:cNvSpPr txBox="1"/>
          <p:nvPr/>
        </p:nvSpPr>
        <p:spPr>
          <a:xfrm>
            <a:off x="3886200" y="1396999"/>
            <a:ext cx="2298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real93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text_010">
            <a:extLst>
              <a:ext uri="{FF2B5EF4-FFF2-40B4-BE49-F238E27FC236}">
                <a16:creationId xmlns:a16="http://schemas.microsoft.com/office/drawing/2014/main" id="{4AA8188A-2E2C-13E0-D5C4-36979094EC21}"/>
              </a:ext>
            </a:extLst>
          </p:cNvPr>
          <p:cNvSpPr txBox="1"/>
          <p:nvPr/>
        </p:nvSpPr>
        <p:spPr>
          <a:xfrm>
            <a:off x="2679700" y="1816099"/>
            <a:ext cx="10795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Trigger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_011">
            <a:extLst>
              <a:ext uri="{FF2B5EF4-FFF2-40B4-BE49-F238E27FC236}">
                <a16:creationId xmlns:a16="http://schemas.microsoft.com/office/drawing/2014/main" id="{98255A9C-1743-1352-3562-D911C81E10B0}"/>
              </a:ext>
            </a:extLst>
          </p:cNvPr>
          <p:cNvSpPr txBox="1"/>
          <p:nvPr/>
        </p:nvSpPr>
        <p:spPr>
          <a:xfrm>
            <a:off x="3886200" y="1816099"/>
            <a:ext cx="2298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cylsite93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4" name="line_012">
            <a:extLst>
              <a:ext uri="{FF2B5EF4-FFF2-40B4-BE49-F238E27FC236}">
                <a16:creationId xmlns:a16="http://schemas.microsoft.com/office/drawing/2014/main" id="{510FF874-5398-C932-6CDC-20DD3C7A2D97}"/>
              </a:ext>
            </a:extLst>
          </p:cNvPr>
          <p:cNvCxnSpPr/>
          <p:nvPr/>
        </p:nvCxnSpPr>
        <p:spPr>
          <a:xfrm>
            <a:off x="1409700" y="2235200"/>
            <a:ext cx="0" cy="3937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ine_013">
            <a:extLst>
              <a:ext uri="{FF2B5EF4-FFF2-40B4-BE49-F238E27FC236}">
                <a16:creationId xmlns:a16="http://schemas.microsoft.com/office/drawing/2014/main" id="{DC469CB3-7E89-7EEC-CE85-9AFF440BA313}"/>
              </a:ext>
            </a:extLst>
          </p:cNvPr>
          <p:cNvCxnSpPr/>
          <p:nvPr/>
        </p:nvCxnSpPr>
        <p:spPr>
          <a:xfrm>
            <a:off x="4521200" y="2235200"/>
            <a:ext cx="0" cy="3937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_014">
            <a:extLst>
              <a:ext uri="{FF2B5EF4-FFF2-40B4-BE49-F238E27FC236}">
                <a16:creationId xmlns:a16="http://schemas.microsoft.com/office/drawing/2014/main" id="{FD7D04A7-E546-ED1D-1835-BDF1F26ACA52}"/>
              </a:ext>
            </a:extLst>
          </p:cNvPr>
          <p:cNvSpPr/>
          <p:nvPr/>
        </p:nvSpPr>
        <p:spPr>
          <a:xfrm>
            <a:off x="495300" y="2628900"/>
            <a:ext cx="2298700" cy="533400"/>
          </a:xfrm>
          <a:prstGeom prst="rect">
            <a:avLst/>
          </a:prstGeom>
          <a:solidFill>
            <a:srgbClr val="F2F2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ext_015">
            <a:extLst>
              <a:ext uri="{FF2B5EF4-FFF2-40B4-BE49-F238E27FC236}">
                <a16:creationId xmlns:a16="http://schemas.microsoft.com/office/drawing/2014/main" id="{DEF624A5-8808-11B9-5A78-012CBC292CB6}"/>
              </a:ext>
            </a:extLst>
          </p:cNvPr>
          <p:cNvSpPr txBox="1"/>
          <p:nvPr/>
        </p:nvSpPr>
        <p:spPr>
          <a:xfrm>
            <a:off x="596900" y="2743199"/>
            <a:ext cx="20955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50" b="1">
                <a:solidFill>
                  <a:srgbClr val="181818"/>
                </a:solidFill>
                <a:latin typeface="Arial" panose="020B0604020202020204" pitchFamily="34" charset="0"/>
              </a:rPr>
              <a:t>Image VAE encoder</a:t>
            </a:r>
            <a:endParaRPr lang="zh-CN" altLang="en-US" sz="125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_016">
            <a:extLst>
              <a:ext uri="{FF2B5EF4-FFF2-40B4-BE49-F238E27FC236}">
                <a16:creationId xmlns:a16="http://schemas.microsoft.com/office/drawing/2014/main" id="{379CBBDB-95F0-6619-F3C3-D240B0956389}"/>
              </a:ext>
            </a:extLst>
          </p:cNvPr>
          <p:cNvSpPr/>
          <p:nvPr/>
        </p:nvSpPr>
        <p:spPr>
          <a:xfrm>
            <a:off x="3467100" y="2628900"/>
            <a:ext cx="2794000" cy="533400"/>
          </a:xfrm>
          <a:prstGeom prst="rect">
            <a:avLst/>
          </a:prstGeom>
          <a:solidFill>
            <a:srgbClr val="F2F2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_017">
            <a:extLst>
              <a:ext uri="{FF2B5EF4-FFF2-40B4-BE49-F238E27FC236}">
                <a16:creationId xmlns:a16="http://schemas.microsoft.com/office/drawing/2014/main" id="{D1CE1DFF-1409-C532-3792-9A81984D887B}"/>
              </a:ext>
            </a:extLst>
          </p:cNvPr>
          <p:cNvSpPr txBox="1"/>
          <p:nvPr/>
        </p:nvSpPr>
        <p:spPr>
          <a:xfrm>
            <a:off x="3568700" y="2743199"/>
            <a:ext cx="25908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50" b="1">
                <a:solidFill>
                  <a:srgbClr val="181818"/>
                </a:solidFill>
                <a:latin typeface="Arial" panose="020B0604020202020204" pitchFamily="34" charset="0"/>
              </a:rPr>
              <a:t>Text encoder</a:t>
            </a:r>
            <a:endParaRPr lang="zh-CN" altLang="en-US" sz="125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line_018">
            <a:extLst>
              <a:ext uri="{FF2B5EF4-FFF2-40B4-BE49-F238E27FC236}">
                <a16:creationId xmlns:a16="http://schemas.microsoft.com/office/drawing/2014/main" id="{1D887A34-0437-A5BE-1562-E9809C505618}"/>
              </a:ext>
            </a:extLst>
          </p:cNvPr>
          <p:cNvCxnSpPr/>
          <p:nvPr/>
        </p:nvCxnSpPr>
        <p:spPr>
          <a:xfrm>
            <a:off x="1651000" y="3162300"/>
            <a:ext cx="0" cy="24130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ne_019">
            <a:extLst>
              <a:ext uri="{FF2B5EF4-FFF2-40B4-BE49-F238E27FC236}">
                <a16:creationId xmlns:a16="http://schemas.microsoft.com/office/drawing/2014/main" id="{5BA72C1F-606B-9542-01E9-740793FAEDCB}"/>
              </a:ext>
            </a:extLst>
          </p:cNvPr>
          <p:cNvCxnSpPr/>
          <p:nvPr/>
        </p:nvCxnSpPr>
        <p:spPr>
          <a:xfrm>
            <a:off x="1651000" y="3403600"/>
            <a:ext cx="1689100" cy="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ine_020">
            <a:extLst>
              <a:ext uri="{FF2B5EF4-FFF2-40B4-BE49-F238E27FC236}">
                <a16:creationId xmlns:a16="http://schemas.microsoft.com/office/drawing/2014/main" id="{413DABC5-7C03-FCBE-1624-44AF329C1259}"/>
              </a:ext>
            </a:extLst>
          </p:cNvPr>
          <p:cNvCxnSpPr/>
          <p:nvPr/>
        </p:nvCxnSpPr>
        <p:spPr>
          <a:xfrm>
            <a:off x="4864100" y="3162300"/>
            <a:ext cx="0" cy="24130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ine_021">
            <a:extLst>
              <a:ext uri="{FF2B5EF4-FFF2-40B4-BE49-F238E27FC236}">
                <a16:creationId xmlns:a16="http://schemas.microsoft.com/office/drawing/2014/main" id="{7021280F-D0E9-EB0D-38B8-62B263435C57}"/>
              </a:ext>
            </a:extLst>
          </p:cNvPr>
          <p:cNvCxnSpPr/>
          <p:nvPr/>
        </p:nvCxnSpPr>
        <p:spPr>
          <a:xfrm flipH="1">
            <a:off x="3340100" y="3403600"/>
            <a:ext cx="1524000" cy="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ne_022">
            <a:extLst>
              <a:ext uri="{FF2B5EF4-FFF2-40B4-BE49-F238E27FC236}">
                <a16:creationId xmlns:a16="http://schemas.microsoft.com/office/drawing/2014/main" id="{21BBE0EE-D0F2-36AE-CE50-5EBA17E673FF}"/>
              </a:ext>
            </a:extLst>
          </p:cNvPr>
          <p:cNvCxnSpPr/>
          <p:nvPr/>
        </p:nvCxnSpPr>
        <p:spPr>
          <a:xfrm>
            <a:off x="3340100" y="3403600"/>
            <a:ext cx="0" cy="330200"/>
          </a:xfrm>
          <a:prstGeom prst="line">
            <a:avLst/>
          </a:prstGeom>
          <a:ln w="9525">
            <a:solidFill>
              <a:srgbClr val="20202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_023">
            <a:extLst>
              <a:ext uri="{FF2B5EF4-FFF2-40B4-BE49-F238E27FC236}">
                <a16:creationId xmlns:a16="http://schemas.microsoft.com/office/drawing/2014/main" id="{7B37262D-30B6-0D75-D075-5DEB81D82464}"/>
              </a:ext>
            </a:extLst>
          </p:cNvPr>
          <p:cNvSpPr/>
          <p:nvPr/>
        </p:nvSpPr>
        <p:spPr>
          <a:xfrm>
            <a:off x="495300" y="3733800"/>
            <a:ext cx="5765800" cy="2349500"/>
          </a:xfrm>
          <a:prstGeom prst="rect">
            <a:avLst/>
          </a:prstGeom>
          <a:noFill/>
          <a:ln w="9525" cap="flat" cmpd="sng" algn="ctr">
            <a:solidFill>
              <a:srgbClr val="6249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text_024">
            <a:extLst>
              <a:ext uri="{FF2B5EF4-FFF2-40B4-BE49-F238E27FC236}">
                <a16:creationId xmlns:a16="http://schemas.microsoft.com/office/drawing/2014/main" id="{B1FA71CC-48C8-1729-A255-C531693285BC}"/>
              </a:ext>
            </a:extLst>
          </p:cNvPr>
          <p:cNvSpPr txBox="1"/>
          <p:nvPr/>
        </p:nvSpPr>
        <p:spPr>
          <a:xfrm>
            <a:off x="698500" y="3809999"/>
            <a:ext cx="5359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900" b="1">
                <a:solidFill>
                  <a:srgbClr val="181818"/>
                </a:solidFill>
                <a:latin typeface="Times New Roman" panose="02020603050405020304" pitchFamily="18" charset="0"/>
              </a:rPr>
              <a:t>Qwen-Image-2.1 DiT</a:t>
            </a:r>
            <a:endParaRPr lang="zh-CN" altLang="en-US" sz="19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" name="text_025">
            <a:extLst>
              <a:ext uri="{FF2B5EF4-FFF2-40B4-BE49-F238E27FC236}">
                <a16:creationId xmlns:a16="http://schemas.microsoft.com/office/drawing/2014/main" id="{ADF5F938-4271-8F6D-377D-2B4DBD9C9890}"/>
              </a:ext>
            </a:extLst>
          </p:cNvPr>
          <p:cNvSpPr txBox="1"/>
          <p:nvPr/>
        </p:nvSpPr>
        <p:spPr>
          <a:xfrm>
            <a:off x="977900" y="4279899"/>
            <a:ext cx="1854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00" b="1">
                <a:solidFill>
                  <a:srgbClr val="181818"/>
                </a:solidFill>
                <a:latin typeface="Arial" panose="020B0604020202020204" pitchFamily="34" charset="0"/>
              </a:rPr>
              <a:t>Frozen base</a:t>
            </a:r>
            <a:endParaRPr lang="zh-CN" altLang="en-US" sz="120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28" name="text_026">
            <a:extLst>
              <a:ext uri="{FF2B5EF4-FFF2-40B4-BE49-F238E27FC236}">
                <a16:creationId xmlns:a16="http://schemas.microsoft.com/office/drawing/2014/main" id="{3534126A-3CE3-0B19-8AB2-93C53C8F8877}"/>
              </a:ext>
            </a:extLst>
          </p:cNvPr>
          <p:cNvSpPr txBox="1"/>
          <p:nvPr/>
        </p:nvSpPr>
        <p:spPr>
          <a:xfrm>
            <a:off x="3695700" y="4279899"/>
            <a:ext cx="20701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00" b="1">
                <a:solidFill>
                  <a:srgbClr val="624978"/>
                </a:solidFill>
                <a:latin typeface="Arial" panose="020B0604020202020204" pitchFamily="34" charset="0"/>
              </a:rPr>
              <a:t>Trainable adapter</a:t>
            </a:r>
            <a:endParaRPr lang="zh-CN" altLang="en-US" sz="1200" b="1">
              <a:solidFill>
                <a:srgbClr val="624978"/>
              </a:solidFill>
              <a:latin typeface="Arial" panose="020B0604020202020204" pitchFamily="34" charset="0"/>
            </a:endParaRPr>
          </a:p>
        </p:txBody>
      </p:sp>
      <p:sp>
        <p:nvSpPr>
          <p:cNvPr id="29" name="rect_027">
            <a:extLst>
              <a:ext uri="{FF2B5EF4-FFF2-40B4-BE49-F238E27FC236}">
                <a16:creationId xmlns:a16="http://schemas.microsoft.com/office/drawing/2014/main" id="{685D7962-9E06-FAC7-DADA-5F7AFD83BA2A}"/>
              </a:ext>
            </a:extLst>
          </p:cNvPr>
          <p:cNvSpPr/>
          <p:nvPr/>
        </p:nvSpPr>
        <p:spPr>
          <a:xfrm>
            <a:off x="1536700" y="4686300"/>
            <a:ext cx="749300" cy="749300"/>
          </a:xfrm>
          <a:prstGeom prst="rect">
            <a:avLst/>
          </a:prstGeom>
          <a:solidFill>
            <a:srgbClr val="E7E7E3"/>
          </a:solidFill>
          <a:ln w="6985">
            <a:solidFill>
              <a:srgbClr val="1818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_028">
            <a:extLst>
              <a:ext uri="{FF2B5EF4-FFF2-40B4-BE49-F238E27FC236}">
                <a16:creationId xmlns:a16="http://schemas.microsoft.com/office/drawing/2014/main" id="{C5B0BCA7-8B85-CBBB-8F94-4C2DB99AAA43}"/>
              </a:ext>
            </a:extLst>
          </p:cNvPr>
          <p:cNvSpPr txBox="1"/>
          <p:nvPr/>
        </p:nvSpPr>
        <p:spPr>
          <a:xfrm>
            <a:off x="1536700" y="4813299"/>
            <a:ext cx="7493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2800" i="1">
                <a:solidFill>
                  <a:srgbClr val="181818"/>
                </a:solidFill>
                <a:latin typeface="Times New Roman" panose="02020603050405020304" pitchFamily="18" charset="0"/>
              </a:rPr>
              <a:t>W</a:t>
            </a:r>
            <a:endParaRPr lang="zh-CN" altLang="en-US" sz="2800" i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1" name="text_029">
            <a:extLst>
              <a:ext uri="{FF2B5EF4-FFF2-40B4-BE49-F238E27FC236}">
                <a16:creationId xmlns:a16="http://schemas.microsoft.com/office/drawing/2014/main" id="{052CC7B7-1609-CC33-19E9-46A7EBCE2EF0}"/>
              </a:ext>
            </a:extLst>
          </p:cNvPr>
          <p:cNvSpPr txBox="1"/>
          <p:nvPr/>
        </p:nvSpPr>
        <p:spPr>
          <a:xfrm>
            <a:off x="2844800" y="4800599"/>
            <a:ext cx="6096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2700">
                <a:solidFill>
                  <a:srgbClr val="181818"/>
                </a:solidFill>
                <a:latin typeface="Times New Roman" panose="02020603050405020304" pitchFamily="18" charset="0"/>
              </a:rPr>
              <a:t>+</a:t>
            </a:r>
            <a:endParaRPr lang="zh-CN" altLang="en-US" sz="27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2" name="rect_030">
            <a:extLst>
              <a:ext uri="{FF2B5EF4-FFF2-40B4-BE49-F238E27FC236}">
                <a16:creationId xmlns:a16="http://schemas.microsoft.com/office/drawing/2014/main" id="{E5CCA0A8-6C79-A0DF-2F15-873D11569592}"/>
              </a:ext>
            </a:extLst>
          </p:cNvPr>
          <p:cNvSpPr/>
          <p:nvPr/>
        </p:nvSpPr>
        <p:spPr>
          <a:xfrm>
            <a:off x="3962400" y="4737100"/>
            <a:ext cx="177800" cy="698500"/>
          </a:xfrm>
          <a:prstGeom prst="rect">
            <a:avLst/>
          </a:prstGeom>
          <a:solidFill>
            <a:srgbClr val="E2D8EB"/>
          </a:solidFill>
          <a:ln w="8255">
            <a:solidFill>
              <a:srgbClr val="6249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ect_031">
            <a:extLst>
              <a:ext uri="{FF2B5EF4-FFF2-40B4-BE49-F238E27FC236}">
                <a16:creationId xmlns:a16="http://schemas.microsoft.com/office/drawing/2014/main" id="{5C6FE8C4-ECE5-6A4E-F21E-086A7E74B7A5}"/>
              </a:ext>
            </a:extLst>
          </p:cNvPr>
          <p:cNvSpPr/>
          <p:nvPr/>
        </p:nvSpPr>
        <p:spPr>
          <a:xfrm>
            <a:off x="4432300" y="4737100"/>
            <a:ext cx="698500" cy="177800"/>
          </a:xfrm>
          <a:prstGeom prst="rect">
            <a:avLst/>
          </a:prstGeom>
          <a:solidFill>
            <a:srgbClr val="E2D8EB"/>
          </a:solidFill>
          <a:ln w="8255">
            <a:solidFill>
              <a:srgbClr val="6249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text_032">
            <a:extLst>
              <a:ext uri="{FF2B5EF4-FFF2-40B4-BE49-F238E27FC236}">
                <a16:creationId xmlns:a16="http://schemas.microsoft.com/office/drawing/2014/main" id="{DE938061-62F3-20B0-FDDC-6732A40D4EB2}"/>
              </a:ext>
            </a:extLst>
          </p:cNvPr>
          <p:cNvSpPr txBox="1"/>
          <p:nvPr/>
        </p:nvSpPr>
        <p:spPr>
          <a:xfrm>
            <a:off x="4178300" y="4940299"/>
            <a:ext cx="228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600">
                <a:solidFill>
                  <a:srgbClr val="624978"/>
                </a:solidFill>
                <a:latin typeface="Times New Roman" panose="02020603050405020304" pitchFamily="18" charset="0"/>
              </a:rPr>
              <a:t>×</a:t>
            </a:r>
            <a:endParaRPr lang="zh-CN" altLang="en-US" sz="1600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5" name="text_033">
            <a:extLst>
              <a:ext uri="{FF2B5EF4-FFF2-40B4-BE49-F238E27FC236}">
                <a16:creationId xmlns:a16="http://schemas.microsoft.com/office/drawing/2014/main" id="{431E4FB0-B5CC-4E74-F9F1-10ED221E5593}"/>
              </a:ext>
            </a:extLst>
          </p:cNvPr>
          <p:cNvSpPr txBox="1"/>
          <p:nvPr/>
        </p:nvSpPr>
        <p:spPr>
          <a:xfrm>
            <a:off x="3822700" y="5486399"/>
            <a:ext cx="571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i="1">
                <a:solidFill>
                  <a:srgbClr val="624978"/>
                </a:solidFill>
                <a:latin typeface="Times New Roman" panose="02020603050405020304" pitchFamily="18" charset="0"/>
              </a:rPr>
              <a:t>B</a:t>
            </a:r>
            <a:endParaRPr lang="zh-CN" altLang="en-US" i="1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6" name="text_034">
            <a:extLst>
              <a:ext uri="{FF2B5EF4-FFF2-40B4-BE49-F238E27FC236}">
                <a16:creationId xmlns:a16="http://schemas.microsoft.com/office/drawing/2014/main" id="{54F3CE9F-8CAB-67AA-6C1F-4E1B0ADC2C3A}"/>
              </a:ext>
            </a:extLst>
          </p:cNvPr>
          <p:cNvSpPr txBox="1"/>
          <p:nvPr/>
        </p:nvSpPr>
        <p:spPr>
          <a:xfrm>
            <a:off x="4483100" y="4952999"/>
            <a:ext cx="5842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i="1">
                <a:solidFill>
                  <a:srgbClr val="624978"/>
                </a:solidFill>
                <a:latin typeface="Times New Roman" panose="02020603050405020304" pitchFamily="18" charset="0"/>
              </a:rPr>
              <a:t>A</a:t>
            </a:r>
            <a:endParaRPr lang="zh-CN" altLang="en-US" i="1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37" name="text_035">
            <a:extLst>
              <a:ext uri="{FF2B5EF4-FFF2-40B4-BE49-F238E27FC236}">
                <a16:creationId xmlns:a16="http://schemas.microsoft.com/office/drawing/2014/main" id="{B0C3033D-66CE-7E63-9AD0-EEA9A7D4E447}"/>
              </a:ext>
            </a:extLst>
          </p:cNvPr>
          <p:cNvSpPr txBox="1"/>
          <p:nvPr/>
        </p:nvSpPr>
        <p:spPr>
          <a:xfrm>
            <a:off x="5080000" y="5130799"/>
            <a:ext cx="10033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300">
                <a:solidFill>
                  <a:srgbClr val="624978"/>
                </a:solidFill>
                <a:latin typeface="Times New Roman" panose="02020603050405020304" pitchFamily="18" charset="0"/>
              </a:rPr>
              <a:t>rank 16</a:t>
            </a:r>
            <a:endParaRPr lang="zh-CN" altLang="en-US" sz="1300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38" name="line_036">
            <a:extLst>
              <a:ext uri="{FF2B5EF4-FFF2-40B4-BE49-F238E27FC236}">
                <a16:creationId xmlns:a16="http://schemas.microsoft.com/office/drawing/2014/main" id="{EB33CD23-2DDD-01FD-1044-9E6C9A56F60F}"/>
              </a:ext>
            </a:extLst>
          </p:cNvPr>
          <p:cNvCxnSpPr/>
          <p:nvPr/>
        </p:nvCxnSpPr>
        <p:spPr>
          <a:xfrm>
            <a:off x="3340100" y="6083300"/>
            <a:ext cx="0" cy="3302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_037">
            <a:extLst>
              <a:ext uri="{FF2B5EF4-FFF2-40B4-BE49-F238E27FC236}">
                <a16:creationId xmlns:a16="http://schemas.microsoft.com/office/drawing/2014/main" id="{6EFACF9D-DCAC-A375-C8F8-CD4355D58F2F}"/>
              </a:ext>
            </a:extLst>
          </p:cNvPr>
          <p:cNvSpPr txBox="1"/>
          <p:nvPr/>
        </p:nvSpPr>
        <p:spPr>
          <a:xfrm>
            <a:off x="495300" y="6426199"/>
            <a:ext cx="57658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700" b="1">
                <a:solidFill>
                  <a:srgbClr val="181818"/>
                </a:solidFill>
                <a:latin typeface="Times New Roman" panose="02020603050405020304" pitchFamily="18" charset="0"/>
              </a:rPr>
              <a:t>Optimization settings</a:t>
            </a:r>
            <a:endParaRPr lang="zh-CN" altLang="en-US" sz="17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0" name="line_038">
            <a:extLst>
              <a:ext uri="{FF2B5EF4-FFF2-40B4-BE49-F238E27FC236}">
                <a16:creationId xmlns:a16="http://schemas.microsoft.com/office/drawing/2014/main" id="{AED0D7AD-340D-E256-B083-5CCD2CFF514C}"/>
              </a:ext>
            </a:extLst>
          </p:cNvPr>
          <p:cNvCxnSpPr/>
          <p:nvPr/>
        </p:nvCxnSpPr>
        <p:spPr>
          <a:xfrm>
            <a:off x="495300" y="6858000"/>
            <a:ext cx="5765800" cy="0"/>
          </a:xfrm>
          <a:prstGeom prst="line">
            <a:avLst/>
          </a:prstGeom>
          <a:ln w="8255">
            <a:solidFill>
              <a:srgbClr val="1818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_039">
            <a:extLst>
              <a:ext uri="{FF2B5EF4-FFF2-40B4-BE49-F238E27FC236}">
                <a16:creationId xmlns:a16="http://schemas.microsoft.com/office/drawing/2014/main" id="{C6B85E39-2243-88FA-05F4-12B7F853D5B8}"/>
              </a:ext>
            </a:extLst>
          </p:cNvPr>
          <p:cNvSpPr txBox="1"/>
          <p:nvPr/>
        </p:nvSpPr>
        <p:spPr>
          <a:xfrm>
            <a:off x="609600" y="6959599"/>
            <a:ext cx="1790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Framework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_040">
            <a:extLst>
              <a:ext uri="{FF2B5EF4-FFF2-40B4-BE49-F238E27FC236}">
                <a16:creationId xmlns:a16="http://schemas.microsoft.com/office/drawing/2014/main" id="{FB5C144F-CDB7-6BED-1977-A9736A1E99C8}"/>
              </a:ext>
            </a:extLst>
          </p:cNvPr>
          <p:cNvSpPr txBox="1"/>
          <p:nvPr/>
        </p:nvSpPr>
        <p:spPr>
          <a:xfrm>
            <a:off x="2527300" y="6959599"/>
            <a:ext cx="3594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DiffSynth-Studio SFT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3" name="line_041">
            <a:extLst>
              <a:ext uri="{FF2B5EF4-FFF2-40B4-BE49-F238E27FC236}">
                <a16:creationId xmlns:a16="http://schemas.microsoft.com/office/drawing/2014/main" id="{5D98112F-549B-1E89-5053-111C52F6722D}"/>
              </a:ext>
            </a:extLst>
          </p:cNvPr>
          <p:cNvCxnSpPr/>
          <p:nvPr/>
        </p:nvCxnSpPr>
        <p:spPr>
          <a:xfrm>
            <a:off x="609600" y="7327900"/>
            <a:ext cx="54991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_042">
            <a:extLst>
              <a:ext uri="{FF2B5EF4-FFF2-40B4-BE49-F238E27FC236}">
                <a16:creationId xmlns:a16="http://schemas.microsoft.com/office/drawing/2014/main" id="{93318B61-C54C-104D-EA98-E3D2579F9F90}"/>
              </a:ext>
            </a:extLst>
          </p:cNvPr>
          <p:cNvSpPr txBox="1"/>
          <p:nvPr/>
        </p:nvSpPr>
        <p:spPr>
          <a:xfrm>
            <a:off x="609600" y="7353299"/>
            <a:ext cx="1790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Loss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_043">
            <a:extLst>
              <a:ext uri="{FF2B5EF4-FFF2-40B4-BE49-F238E27FC236}">
                <a16:creationId xmlns:a16="http://schemas.microsoft.com/office/drawing/2014/main" id="{83AFAF5A-40A9-907E-D2DF-659AB4DF172E}"/>
              </a:ext>
            </a:extLst>
          </p:cNvPr>
          <p:cNvSpPr txBox="1"/>
          <p:nvPr/>
        </p:nvSpPr>
        <p:spPr>
          <a:xfrm>
            <a:off x="2527300" y="7353299"/>
            <a:ext cx="3594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FlowMatchSFTLoss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6" name="line_044">
            <a:extLst>
              <a:ext uri="{FF2B5EF4-FFF2-40B4-BE49-F238E27FC236}">
                <a16:creationId xmlns:a16="http://schemas.microsoft.com/office/drawing/2014/main" id="{94EF4716-99CD-0518-69C0-703D21421FB2}"/>
              </a:ext>
            </a:extLst>
          </p:cNvPr>
          <p:cNvCxnSpPr/>
          <p:nvPr/>
        </p:nvCxnSpPr>
        <p:spPr>
          <a:xfrm>
            <a:off x="609600" y="7721600"/>
            <a:ext cx="54991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_045">
            <a:extLst>
              <a:ext uri="{FF2B5EF4-FFF2-40B4-BE49-F238E27FC236}">
                <a16:creationId xmlns:a16="http://schemas.microsoft.com/office/drawing/2014/main" id="{21AB71D6-DA7B-99A3-7A87-ED2B8EF8FC32}"/>
              </a:ext>
            </a:extLst>
          </p:cNvPr>
          <p:cNvSpPr txBox="1"/>
          <p:nvPr/>
        </p:nvSpPr>
        <p:spPr>
          <a:xfrm>
            <a:off x="609600" y="7746999"/>
            <a:ext cx="1790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Optimizer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48" name="text_046">
            <a:extLst>
              <a:ext uri="{FF2B5EF4-FFF2-40B4-BE49-F238E27FC236}">
                <a16:creationId xmlns:a16="http://schemas.microsoft.com/office/drawing/2014/main" id="{A14EF50C-9141-DCFE-2209-3FCEFC579065}"/>
              </a:ext>
            </a:extLst>
          </p:cNvPr>
          <p:cNvSpPr txBox="1"/>
          <p:nvPr/>
        </p:nvSpPr>
        <p:spPr>
          <a:xfrm>
            <a:off x="2527300" y="7746999"/>
            <a:ext cx="3594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AdamW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49" name="line_047">
            <a:extLst>
              <a:ext uri="{FF2B5EF4-FFF2-40B4-BE49-F238E27FC236}">
                <a16:creationId xmlns:a16="http://schemas.microsoft.com/office/drawing/2014/main" id="{7015D412-E742-6650-0DC4-DF2416404B6A}"/>
              </a:ext>
            </a:extLst>
          </p:cNvPr>
          <p:cNvCxnSpPr/>
          <p:nvPr/>
        </p:nvCxnSpPr>
        <p:spPr>
          <a:xfrm>
            <a:off x="609600" y="8115300"/>
            <a:ext cx="54991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_048">
            <a:extLst>
              <a:ext uri="{FF2B5EF4-FFF2-40B4-BE49-F238E27FC236}">
                <a16:creationId xmlns:a16="http://schemas.microsoft.com/office/drawing/2014/main" id="{D8859126-A7A1-A273-CF42-9B60B2C42E6B}"/>
              </a:ext>
            </a:extLst>
          </p:cNvPr>
          <p:cNvSpPr txBox="1"/>
          <p:nvPr/>
        </p:nvSpPr>
        <p:spPr>
          <a:xfrm>
            <a:off x="609600" y="8140699"/>
            <a:ext cx="1790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Learning rate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51" name="text_049">
            <a:extLst>
              <a:ext uri="{FF2B5EF4-FFF2-40B4-BE49-F238E27FC236}">
                <a16:creationId xmlns:a16="http://schemas.microsoft.com/office/drawing/2014/main" id="{9F650531-CF7F-988B-479D-D7CEAC16D224}"/>
              </a:ext>
            </a:extLst>
          </p:cNvPr>
          <p:cNvSpPr txBox="1"/>
          <p:nvPr/>
        </p:nvSpPr>
        <p:spPr>
          <a:xfrm>
            <a:off x="2527300" y="8140699"/>
            <a:ext cx="3594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1e-4  (constant)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52" name="line_050">
            <a:extLst>
              <a:ext uri="{FF2B5EF4-FFF2-40B4-BE49-F238E27FC236}">
                <a16:creationId xmlns:a16="http://schemas.microsoft.com/office/drawing/2014/main" id="{218D508B-7C3A-D1BD-5AD5-2B6AEB92DDBA}"/>
              </a:ext>
            </a:extLst>
          </p:cNvPr>
          <p:cNvCxnSpPr/>
          <p:nvPr/>
        </p:nvCxnSpPr>
        <p:spPr>
          <a:xfrm>
            <a:off x="609600" y="8509000"/>
            <a:ext cx="54991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_051">
            <a:extLst>
              <a:ext uri="{FF2B5EF4-FFF2-40B4-BE49-F238E27FC236}">
                <a16:creationId xmlns:a16="http://schemas.microsoft.com/office/drawing/2014/main" id="{D3183FC1-2A8B-9B9C-B149-A1417AC4B108}"/>
              </a:ext>
            </a:extLst>
          </p:cNvPr>
          <p:cNvSpPr txBox="1"/>
          <p:nvPr/>
        </p:nvSpPr>
        <p:spPr>
          <a:xfrm>
            <a:off x="609600" y="8534399"/>
            <a:ext cx="17907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Batch / max pixels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54" name="text_052">
            <a:extLst>
              <a:ext uri="{FF2B5EF4-FFF2-40B4-BE49-F238E27FC236}">
                <a16:creationId xmlns:a16="http://schemas.microsoft.com/office/drawing/2014/main" id="{F81449C3-0ABD-06FD-6CAA-876F2B81C9D8}"/>
              </a:ext>
            </a:extLst>
          </p:cNvPr>
          <p:cNvSpPr txBox="1"/>
          <p:nvPr/>
        </p:nvSpPr>
        <p:spPr>
          <a:xfrm>
            <a:off x="2527300" y="8534399"/>
            <a:ext cx="3594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1 / 1,048,576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55" name="line_053">
            <a:extLst>
              <a:ext uri="{FF2B5EF4-FFF2-40B4-BE49-F238E27FC236}">
                <a16:creationId xmlns:a16="http://schemas.microsoft.com/office/drawing/2014/main" id="{627DAF59-FC23-8E80-9F9E-29453BC7116E}"/>
              </a:ext>
            </a:extLst>
          </p:cNvPr>
          <p:cNvCxnSpPr/>
          <p:nvPr/>
        </p:nvCxnSpPr>
        <p:spPr>
          <a:xfrm>
            <a:off x="609600" y="8902700"/>
            <a:ext cx="54991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_054">
            <a:extLst>
              <a:ext uri="{FF2B5EF4-FFF2-40B4-BE49-F238E27FC236}">
                <a16:creationId xmlns:a16="http://schemas.microsoft.com/office/drawing/2014/main" id="{B1ABCC00-1094-32F8-227B-9C36F87B5C7E}"/>
              </a:ext>
            </a:extLst>
          </p:cNvPr>
          <p:cNvSpPr txBox="1"/>
          <p:nvPr/>
        </p:nvSpPr>
        <p:spPr>
          <a:xfrm>
            <a:off x="609600" y="9042399"/>
            <a:ext cx="5410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 b="1">
                <a:solidFill>
                  <a:srgbClr val="181818"/>
                </a:solidFill>
                <a:latin typeface="Arial" panose="020B0604020202020204" pitchFamily="34" charset="0"/>
              </a:rPr>
              <a:t>Images × repeats × epochs</a:t>
            </a:r>
            <a:endParaRPr lang="zh-CN" altLang="en-US" sz="115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57" name="text_055">
            <a:extLst>
              <a:ext uri="{FF2B5EF4-FFF2-40B4-BE49-F238E27FC236}">
                <a16:creationId xmlns:a16="http://schemas.microsoft.com/office/drawing/2014/main" id="{E1A657A1-5A13-A62A-5795-F9ABD9A31B43}"/>
              </a:ext>
            </a:extLst>
          </p:cNvPr>
          <p:cNvSpPr txBox="1"/>
          <p:nvPr/>
        </p:nvSpPr>
        <p:spPr>
          <a:xfrm>
            <a:off x="609600" y="9372599"/>
            <a:ext cx="5461000" cy="419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2000">
                <a:solidFill>
                  <a:srgbClr val="624978"/>
                </a:solidFill>
                <a:latin typeface="Times New Roman" panose="02020603050405020304" pitchFamily="18" charset="0"/>
              </a:rPr>
              <a:t>93 × 5 × 4 = 1,860 optimizer steps</a:t>
            </a:r>
            <a:endParaRPr lang="zh-CN" altLang="en-US" sz="2000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58" name="line_056">
            <a:extLst>
              <a:ext uri="{FF2B5EF4-FFF2-40B4-BE49-F238E27FC236}">
                <a16:creationId xmlns:a16="http://schemas.microsoft.com/office/drawing/2014/main" id="{9AB1242C-4A02-A8D8-FB0C-1FE78F78B7F3}"/>
              </a:ext>
            </a:extLst>
          </p:cNvPr>
          <p:cNvCxnSpPr/>
          <p:nvPr/>
        </p:nvCxnSpPr>
        <p:spPr>
          <a:xfrm>
            <a:off x="3340100" y="9855200"/>
            <a:ext cx="0" cy="317500"/>
          </a:xfrm>
          <a:prstGeom prst="line">
            <a:avLst/>
          </a:prstGeom>
          <a:ln w="9525">
            <a:solidFill>
              <a:srgbClr val="62497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_057">
            <a:extLst>
              <a:ext uri="{FF2B5EF4-FFF2-40B4-BE49-F238E27FC236}">
                <a16:creationId xmlns:a16="http://schemas.microsoft.com/office/drawing/2014/main" id="{B7F1E08B-7E48-D918-0C25-8257214E9658}"/>
              </a:ext>
            </a:extLst>
          </p:cNvPr>
          <p:cNvSpPr/>
          <p:nvPr/>
        </p:nvSpPr>
        <p:spPr>
          <a:xfrm>
            <a:off x="495300" y="10172700"/>
            <a:ext cx="5765800" cy="787400"/>
          </a:xfrm>
          <a:prstGeom prst="rect">
            <a:avLst/>
          </a:prstGeom>
          <a:solidFill>
            <a:srgbClr val="F2ED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text_058">
            <a:extLst>
              <a:ext uri="{FF2B5EF4-FFF2-40B4-BE49-F238E27FC236}">
                <a16:creationId xmlns:a16="http://schemas.microsoft.com/office/drawing/2014/main" id="{F894EC3A-8F86-5128-9B4C-A2C39AD82017}"/>
              </a:ext>
            </a:extLst>
          </p:cNvPr>
          <p:cNvSpPr txBox="1"/>
          <p:nvPr/>
        </p:nvSpPr>
        <p:spPr>
          <a:xfrm>
            <a:off x="685800" y="10223499"/>
            <a:ext cx="53848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00" b="1">
                <a:solidFill>
                  <a:srgbClr val="624978"/>
                </a:solidFill>
                <a:latin typeface="Arial" panose="020B0604020202020204" pitchFamily="34" charset="0"/>
              </a:rPr>
              <a:t>FINAL LORA CHECKPOINT</a:t>
            </a:r>
            <a:endParaRPr lang="zh-CN" altLang="en-US" sz="1100" b="1">
              <a:solidFill>
                <a:srgbClr val="624978"/>
              </a:solidFill>
              <a:latin typeface="Arial" panose="020B0604020202020204" pitchFamily="34" charset="0"/>
            </a:endParaRPr>
          </a:p>
        </p:txBody>
      </p:sp>
      <p:sp>
        <p:nvSpPr>
          <p:cNvPr id="61" name="text_059">
            <a:extLst>
              <a:ext uri="{FF2B5EF4-FFF2-40B4-BE49-F238E27FC236}">
                <a16:creationId xmlns:a16="http://schemas.microsoft.com/office/drawing/2014/main" id="{42099043-8E56-8EA9-209F-7D0E71121B2F}"/>
              </a:ext>
            </a:extLst>
          </p:cNvPr>
          <p:cNvSpPr txBox="1"/>
          <p:nvPr/>
        </p:nvSpPr>
        <p:spPr>
          <a:xfrm>
            <a:off x="685800" y="10591799"/>
            <a:ext cx="538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600">
                <a:solidFill>
                  <a:srgbClr val="181818"/>
                </a:solidFill>
                <a:latin typeface="Times New Roman" panose="02020603050405020304" pitchFamily="18" charset="0"/>
              </a:rPr>
              <a:t>step-1860.safetensors</a:t>
            </a:r>
            <a:endParaRPr lang="zh-CN" altLang="en-US" sz="16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62" name="line_060">
            <a:extLst>
              <a:ext uri="{FF2B5EF4-FFF2-40B4-BE49-F238E27FC236}">
                <a16:creationId xmlns:a16="http://schemas.microsoft.com/office/drawing/2014/main" id="{C334A971-493E-CB45-EF71-C8AAE113A328}"/>
              </a:ext>
            </a:extLst>
          </p:cNvPr>
          <p:cNvCxnSpPr/>
          <p:nvPr/>
        </p:nvCxnSpPr>
        <p:spPr>
          <a:xfrm>
            <a:off x="6261100" y="10566400"/>
            <a:ext cx="723900" cy="0"/>
          </a:xfrm>
          <a:prstGeom prst="line">
            <a:avLst/>
          </a:prstGeom>
          <a:ln w="11430">
            <a:solidFill>
              <a:srgbClr val="62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_061">
            <a:extLst>
              <a:ext uri="{FF2B5EF4-FFF2-40B4-BE49-F238E27FC236}">
                <a16:creationId xmlns:a16="http://schemas.microsoft.com/office/drawing/2014/main" id="{71FE1E1E-AC38-1951-3B7F-3B5C251CB670}"/>
              </a:ext>
            </a:extLst>
          </p:cNvPr>
          <p:cNvCxnSpPr/>
          <p:nvPr/>
        </p:nvCxnSpPr>
        <p:spPr>
          <a:xfrm flipV="1">
            <a:off x="6985000" y="4089400"/>
            <a:ext cx="0" cy="6477000"/>
          </a:xfrm>
          <a:prstGeom prst="line">
            <a:avLst/>
          </a:prstGeom>
          <a:ln w="11430">
            <a:solidFill>
              <a:srgbClr val="624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_062">
            <a:extLst>
              <a:ext uri="{FF2B5EF4-FFF2-40B4-BE49-F238E27FC236}">
                <a16:creationId xmlns:a16="http://schemas.microsoft.com/office/drawing/2014/main" id="{2B93730F-EC7E-1B39-1219-0A99C206CB47}"/>
              </a:ext>
            </a:extLst>
          </p:cNvPr>
          <p:cNvCxnSpPr/>
          <p:nvPr/>
        </p:nvCxnSpPr>
        <p:spPr>
          <a:xfrm>
            <a:off x="6985000" y="4089400"/>
            <a:ext cx="482600" cy="0"/>
          </a:xfrm>
          <a:prstGeom prst="line">
            <a:avLst/>
          </a:prstGeom>
          <a:ln w="11430">
            <a:solidFill>
              <a:srgbClr val="62497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_063">
            <a:extLst>
              <a:ext uri="{FF2B5EF4-FFF2-40B4-BE49-F238E27FC236}">
                <a16:creationId xmlns:a16="http://schemas.microsoft.com/office/drawing/2014/main" id="{68F29DA3-E48E-0190-E30C-B195701D9328}"/>
              </a:ext>
            </a:extLst>
          </p:cNvPr>
          <p:cNvSpPr txBox="1"/>
          <p:nvPr/>
        </p:nvSpPr>
        <p:spPr>
          <a:xfrm>
            <a:off x="7620000" y="888999"/>
            <a:ext cx="2489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00" b="1">
                <a:solidFill>
                  <a:srgbClr val="181818"/>
                </a:solidFill>
                <a:latin typeface="Arial" panose="020B0604020202020204" pitchFamily="34" charset="0"/>
              </a:rPr>
              <a:t>real93 prompts</a:t>
            </a:r>
            <a:endParaRPr lang="zh-CN" altLang="en-US" sz="120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66" name="text_064">
            <a:extLst>
              <a:ext uri="{FF2B5EF4-FFF2-40B4-BE49-F238E27FC236}">
                <a16:creationId xmlns:a16="http://schemas.microsoft.com/office/drawing/2014/main" id="{227517A1-4F17-1AD5-2113-8475E1F500F1}"/>
              </a:ext>
            </a:extLst>
          </p:cNvPr>
          <p:cNvSpPr txBox="1"/>
          <p:nvPr/>
        </p:nvSpPr>
        <p:spPr>
          <a:xfrm>
            <a:off x="7620000" y="1269999"/>
            <a:ext cx="2489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2800">
                <a:solidFill>
                  <a:srgbClr val="624978"/>
                </a:solidFill>
                <a:latin typeface="Times New Roman" panose="02020603050405020304" pitchFamily="18" charset="0"/>
              </a:rPr>
              <a:t>558</a:t>
            </a:r>
            <a:endParaRPr lang="zh-CN" altLang="en-US" sz="2800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text_065">
            <a:extLst>
              <a:ext uri="{FF2B5EF4-FFF2-40B4-BE49-F238E27FC236}">
                <a16:creationId xmlns:a16="http://schemas.microsoft.com/office/drawing/2014/main" id="{ABC4CE1B-1021-1AF7-FA2A-1FCC0FD22A2A}"/>
              </a:ext>
            </a:extLst>
          </p:cNvPr>
          <p:cNvSpPr txBox="1"/>
          <p:nvPr/>
        </p:nvSpPr>
        <p:spPr>
          <a:xfrm>
            <a:off x="7620000" y="1803399"/>
            <a:ext cx="2489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93 prompts × 6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text_066">
            <a:extLst>
              <a:ext uri="{FF2B5EF4-FFF2-40B4-BE49-F238E27FC236}">
                <a16:creationId xmlns:a16="http://schemas.microsoft.com/office/drawing/2014/main" id="{2D741E7B-C81E-B9EF-D56B-5E614D416599}"/>
              </a:ext>
            </a:extLst>
          </p:cNvPr>
          <p:cNvSpPr txBox="1"/>
          <p:nvPr/>
        </p:nvSpPr>
        <p:spPr>
          <a:xfrm>
            <a:off x="10782300" y="888999"/>
            <a:ext cx="2489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200" b="1">
                <a:solidFill>
                  <a:srgbClr val="181818"/>
                </a:solidFill>
                <a:latin typeface="Arial" panose="020B0604020202020204" pitchFamily="34" charset="0"/>
              </a:rPr>
              <a:t>new150 prompts</a:t>
            </a:r>
            <a:endParaRPr lang="zh-CN" altLang="en-US" sz="120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69" name="text_067">
            <a:extLst>
              <a:ext uri="{FF2B5EF4-FFF2-40B4-BE49-F238E27FC236}">
                <a16:creationId xmlns:a16="http://schemas.microsoft.com/office/drawing/2014/main" id="{44282A5E-82DB-3E11-347C-D6EE67BA1AA9}"/>
              </a:ext>
            </a:extLst>
          </p:cNvPr>
          <p:cNvSpPr txBox="1"/>
          <p:nvPr/>
        </p:nvSpPr>
        <p:spPr>
          <a:xfrm>
            <a:off x="10782300" y="1269999"/>
            <a:ext cx="2489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2800">
                <a:solidFill>
                  <a:srgbClr val="624978"/>
                </a:solidFill>
                <a:latin typeface="Times New Roman" panose="02020603050405020304" pitchFamily="18" charset="0"/>
              </a:rPr>
              <a:t>750</a:t>
            </a:r>
            <a:endParaRPr lang="zh-CN" altLang="en-US" sz="2800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text_068">
            <a:extLst>
              <a:ext uri="{FF2B5EF4-FFF2-40B4-BE49-F238E27FC236}">
                <a16:creationId xmlns:a16="http://schemas.microsoft.com/office/drawing/2014/main" id="{859D26B5-8006-07E6-1BF3-57F46E7B2D64}"/>
              </a:ext>
            </a:extLst>
          </p:cNvPr>
          <p:cNvSpPr txBox="1"/>
          <p:nvPr/>
        </p:nvSpPr>
        <p:spPr>
          <a:xfrm>
            <a:off x="10782300" y="1803399"/>
            <a:ext cx="24892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150 prompts × 5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71" name="line_069">
            <a:extLst>
              <a:ext uri="{FF2B5EF4-FFF2-40B4-BE49-F238E27FC236}">
                <a16:creationId xmlns:a16="http://schemas.microsoft.com/office/drawing/2014/main" id="{0517F08D-DF5D-5BD2-EFAF-A37898B0BC0C}"/>
              </a:ext>
            </a:extLst>
          </p:cNvPr>
          <p:cNvCxnSpPr/>
          <p:nvPr/>
        </p:nvCxnSpPr>
        <p:spPr>
          <a:xfrm>
            <a:off x="10528300" y="927100"/>
            <a:ext cx="0" cy="1193800"/>
          </a:xfrm>
          <a:prstGeom prst="line">
            <a:avLst/>
          </a:prstGeom>
          <a:ln w="6350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_070">
            <a:extLst>
              <a:ext uri="{FF2B5EF4-FFF2-40B4-BE49-F238E27FC236}">
                <a16:creationId xmlns:a16="http://schemas.microsoft.com/office/drawing/2014/main" id="{995B2873-A857-94D2-A28E-2EE03912F1E7}"/>
              </a:ext>
            </a:extLst>
          </p:cNvPr>
          <p:cNvCxnSpPr/>
          <p:nvPr/>
        </p:nvCxnSpPr>
        <p:spPr>
          <a:xfrm>
            <a:off x="8864600" y="2171700"/>
            <a:ext cx="0" cy="12700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_071">
            <a:extLst>
              <a:ext uri="{FF2B5EF4-FFF2-40B4-BE49-F238E27FC236}">
                <a16:creationId xmlns:a16="http://schemas.microsoft.com/office/drawing/2014/main" id="{106E98F5-18D6-AC3D-EFE8-4AB803175280}"/>
              </a:ext>
            </a:extLst>
          </p:cNvPr>
          <p:cNvCxnSpPr/>
          <p:nvPr/>
        </p:nvCxnSpPr>
        <p:spPr>
          <a:xfrm>
            <a:off x="8864600" y="2298700"/>
            <a:ext cx="1663700" cy="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_072">
            <a:extLst>
              <a:ext uri="{FF2B5EF4-FFF2-40B4-BE49-F238E27FC236}">
                <a16:creationId xmlns:a16="http://schemas.microsoft.com/office/drawing/2014/main" id="{CC374CE3-80F7-CCD2-5010-11AC598E0F98}"/>
              </a:ext>
            </a:extLst>
          </p:cNvPr>
          <p:cNvCxnSpPr/>
          <p:nvPr/>
        </p:nvCxnSpPr>
        <p:spPr>
          <a:xfrm>
            <a:off x="12026900" y="2171700"/>
            <a:ext cx="0" cy="12700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_073">
            <a:extLst>
              <a:ext uri="{FF2B5EF4-FFF2-40B4-BE49-F238E27FC236}">
                <a16:creationId xmlns:a16="http://schemas.microsoft.com/office/drawing/2014/main" id="{03934FD1-0B0D-2783-3C3D-E4515BFD8BFF}"/>
              </a:ext>
            </a:extLst>
          </p:cNvPr>
          <p:cNvCxnSpPr/>
          <p:nvPr/>
        </p:nvCxnSpPr>
        <p:spPr>
          <a:xfrm flipH="1">
            <a:off x="10528300" y="2298700"/>
            <a:ext cx="1498600" cy="0"/>
          </a:xfrm>
          <a:prstGeom prst="line">
            <a:avLst/>
          </a:prstGeom>
          <a:ln w="9525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_074">
            <a:extLst>
              <a:ext uri="{FF2B5EF4-FFF2-40B4-BE49-F238E27FC236}">
                <a16:creationId xmlns:a16="http://schemas.microsoft.com/office/drawing/2014/main" id="{B40C6832-A5CD-7BF2-6BE3-731E87228231}"/>
              </a:ext>
            </a:extLst>
          </p:cNvPr>
          <p:cNvCxnSpPr/>
          <p:nvPr/>
        </p:nvCxnSpPr>
        <p:spPr>
          <a:xfrm>
            <a:off x="10528300" y="2298700"/>
            <a:ext cx="0" cy="228600"/>
          </a:xfrm>
          <a:prstGeom prst="line">
            <a:avLst/>
          </a:prstGeom>
          <a:ln w="9525">
            <a:solidFill>
              <a:srgbClr val="20202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_075">
            <a:extLst>
              <a:ext uri="{FF2B5EF4-FFF2-40B4-BE49-F238E27FC236}">
                <a16:creationId xmlns:a16="http://schemas.microsoft.com/office/drawing/2014/main" id="{1DCF5C11-606C-7FB2-E55E-F1CE500DC00A}"/>
              </a:ext>
            </a:extLst>
          </p:cNvPr>
          <p:cNvSpPr/>
          <p:nvPr/>
        </p:nvSpPr>
        <p:spPr>
          <a:xfrm>
            <a:off x="7645400" y="2527300"/>
            <a:ext cx="5575300" cy="711200"/>
          </a:xfrm>
          <a:prstGeom prst="rect">
            <a:avLst/>
          </a:prstGeom>
          <a:solidFill>
            <a:srgbClr val="F2F2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text_076">
            <a:extLst>
              <a:ext uri="{FF2B5EF4-FFF2-40B4-BE49-F238E27FC236}">
                <a16:creationId xmlns:a16="http://schemas.microsoft.com/office/drawing/2014/main" id="{C08CB6B5-52EA-B8F7-6536-93C83239D47B}"/>
              </a:ext>
            </a:extLst>
          </p:cNvPr>
          <p:cNvSpPr txBox="1"/>
          <p:nvPr/>
        </p:nvSpPr>
        <p:spPr>
          <a:xfrm>
            <a:off x="7810500" y="2578099"/>
            <a:ext cx="52451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200" b="1">
                <a:solidFill>
                  <a:srgbClr val="181818"/>
                </a:solidFill>
                <a:latin typeface="Arial" panose="020B0604020202020204" pitchFamily="34" charset="0"/>
              </a:rPr>
              <a:t>Text conditioning</a:t>
            </a:r>
            <a:endParaRPr lang="zh-CN" altLang="en-US" sz="120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79" name="text_077">
            <a:extLst>
              <a:ext uri="{FF2B5EF4-FFF2-40B4-BE49-F238E27FC236}">
                <a16:creationId xmlns:a16="http://schemas.microsoft.com/office/drawing/2014/main" id="{4BB0E741-EA64-A339-0ED8-4E579686F59D}"/>
              </a:ext>
            </a:extLst>
          </p:cNvPr>
          <p:cNvSpPr txBox="1"/>
          <p:nvPr/>
        </p:nvSpPr>
        <p:spPr>
          <a:xfrm>
            <a:off x="7810500" y="2908299"/>
            <a:ext cx="52451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500">
                <a:solidFill>
                  <a:srgbClr val="181818"/>
                </a:solidFill>
                <a:latin typeface="Times New Roman" panose="02020603050405020304" pitchFamily="18" charset="0"/>
              </a:rPr>
              <a:t>Qwen3VL 8B (INT8)</a:t>
            </a:r>
            <a:endParaRPr lang="zh-CN" altLang="en-US" sz="15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80" name="line_078">
            <a:extLst>
              <a:ext uri="{FF2B5EF4-FFF2-40B4-BE49-F238E27FC236}">
                <a16:creationId xmlns:a16="http://schemas.microsoft.com/office/drawing/2014/main" id="{CCC39B18-6184-CE68-7751-334C06A0F76C}"/>
              </a:ext>
            </a:extLst>
          </p:cNvPr>
          <p:cNvCxnSpPr/>
          <p:nvPr/>
        </p:nvCxnSpPr>
        <p:spPr>
          <a:xfrm>
            <a:off x="10528300" y="3238500"/>
            <a:ext cx="0" cy="3429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_079">
            <a:extLst>
              <a:ext uri="{FF2B5EF4-FFF2-40B4-BE49-F238E27FC236}">
                <a16:creationId xmlns:a16="http://schemas.microsoft.com/office/drawing/2014/main" id="{E5826A86-53F8-64C3-EB32-27E3B2715077}"/>
              </a:ext>
            </a:extLst>
          </p:cNvPr>
          <p:cNvSpPr/>
          <p:nvPr/>
        </p:nvSpPr>
        <p:spPr>
          <a:xfrm>
            <a:off x="7467600" y="3581400"/>
            <a:ext cx="5943600" cy="1130300"/>
          </a:xfrm>
          <a:prstGeom prst="rect">
            <a:avLst/>
          </a:prstGeom>
          <a:noFill/>
          <a:ln w="9525" cap="flat" cmpd="sng" algn="ctr">
            <a:solidFill>
              <a:srgbClr val="6249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text_080">
            <a:extLst>
              <a:ext uri="{FF2B5EF4-FFF2-40B4-BE49-F238E27FC236}">
                <a16:creationId xmlns:a16="http://schemas.microsoft.com/office/drawing/2014/main" id="{F2E3E82A-CAED-0EE8-9DB0-33737A3D924E}"/>
              </a:ext>
            </a:extLst>
          </p:cNvPr>
          <p:cNvSpPr txBox="1"/>
          <p:nvPr/>
        </p:nvSpPr>
        <p:spPr>
          <a:xfrm>
            <a:off x="7670800" y="3657599"/>
            <a:ext cx="5537200" cy="368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900" b="1">
                <a:solidFill>
                  <a:srgbClr val="181818"/>
                </a:solidFill>
                <a:latin typeface="Times New Roman" panose="02020603050405020304" pitchFamily="18" charset="0"/>
              </a:rPr>
              <a:t>Qwen-Image-2.1 + LoRA</a:t>
            </a:r>
            <a:endParaRPr lang="zh-CN" altLang="en-US" sz="19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83" name="text_081">
            <a:extLst>
              <a:ext uri="{FF2B5EF4-FFF2-40B4-BE49-F238E27FC236}">
                <a16:creationId xmlns:a16="http://schemas.microsoft.com/office/drawing/2014/main" id="{2EA21226-FDEF-4594-AD39-BD722D72ED0C}"/>
              </a:ext>
            </a:extLst>
          </p:cNvPr>
          <p:cNvSpPr txBox="1"/>
          <p:nvPr/>
        </p:nvSpPr>
        <p:spPr>
          <a:xfrm>
            <a:off x="7670800" y="4140199"/>
            <a:ext cx="14605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Base / adapter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84" name="text_082">
            <a:extLst>
              <a:ext uri="{FF2B5EF4-FFF2-40B4-BE49-F238E27FC236}">
                <a16:creationId xmlns:a16="http://schemas.microsoft.com/office/drawing/2014/main" id="{B84F6637-60BC-C583-920B-0F734825EBD9}"/>
              </a:ext>
            </a:extLst>
          </p:cNvPr>
          <p:cNvSpPr txBox="1"/>
          <p:nvPr/>
        </p:nvSpPr>
        <p:spPr>
          <a:xfrm>
            <a:off x="9258300" y="4140199"/>
            <a:ext cx="39624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INT8 convrot / step-1860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85" name="line_083">
            <a:extLst>
              <a:ext uri="{FF2B5EF4-FFF2-40B4-BE49-F238E27FC236}">
                <a16:creationId xmlns:a16="http://schemas.microsoft.com/office/drawing/2014/main" id="{B229EAE6-0BD5-0DD0-2C39-7A44FA6924F7}"/>
              </a:ext>
            </a:extLst>
          </p:cNvPr>
          <p:cNvCxnSpPr/>
          <p:nvPr/>
        </p:nvCxnSpPr>
        <p:spPr>
          <a:xfrm>
            <a:off x="10528300" y="4711700"/>
            <a:ext cx="0" cy="330200"/>
          </a:xfrm>
          <a:prstGeom prst="line">
            <a:avLst/>
          </a:prstGeom>
          <a:ln w="9525">
            <a:solidFill>
              <a:srgbClr val="62497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_084">
            <a:extLst>
              <a:ext uri="{FF2B5EF4-FFF2-40B4-BE49-F238E27FC236}">
                <a16:creationId xmlns:a16="http://schemas.microsoft.com/office/drawing/2014/main" id="{E6DEEDCC-3143-CD29-15AA-40942EF36F92}"/>
              </a:ext>
            </a:extLst>
          </p:cNvPr>
          <p:cNvSpPr txBox="1"/>
          <p:nvPr/>
        </p:nvSpPr>
        <p:spPr>
          <a:xfrm>
            <a:off x="7645400" y="5067299"/>
            <a:ext cx="55753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700" b="1">
                <a:solidFill>
                  <a:srgbClr val="181818"/>
                </a:solidFill>
                <a:latin typeface="Times New Roman" panose="02020603050405020304" pitchFamily="18" charset="0"/>
              </a:rPr>
              <a:t>Generation settings</a:t>
            </a:r>
            <a:endParaRPr lang="zh-CN" altLang="en-US" sz="17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87" name="line_085">
            <a:extLst>
              <a:ext uri="{FF2B5EF4-FFF2-40B4-BE49-F238E27FC236}">
                <a16:creationId xmlns:a16="http://schemas.microsoft.com/office/drawing/2014/main" id="{6AC017A8-F8BF-3AF2-FB70-4705A568D3CA}"/>
              </a:ext>
            </a:extLst>
          </p:cNvPr>
          <p:cNvCxnSpPr/>
          <p:nvPr/>
        </p:nvCxnSpPr>
        <p:spPr>
          <a:xfrm>
            <a:off x="7645400" y="5499100"/>
            <a:ext cx="5575300" cy="0"/>
          </a:xfrm>
          <a:prstGeom prst="line">
            <a:avLst/>
          </a:prstGeom>
          <a:ln w="8255">
            <a:solidFill>
              <a:srgbClr val="1818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_086">
            <a:extLst>
              <a:ext uri="{FF2B5EF4-FFF2-40B4-BE49-F238E27FC236}">
                <a16:creationId xmlns:a16="http://schemas.microsoft.com/office/drawing/2014/main" id="{162B4A93-6C75-E8F7-BB60-1302158961B7}"/>
              </a:ext>
            </a:extLst>
          </p:cNvPr>
          <p:cNvSpPr txBox="1"/>
          <p:nvPr/>
        </p:nvSpPr>
        <p:spPr>
          <a:xfrm>
            <a:off x="7734300" y="55879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Adapter strength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89" name="text_087">
            <a:extLst>
              <a:ext uri="{FF2B5EF4-FFF2-40B4-BE49-F238E27FC236}">
                <a16:creationId xmlns:a16="http://schemas.microsoft.com/office/drawing/2014/main" id="{D9EDA1F6-0667-BCDB-A93A-4A294907E8D0}"/>
              </a:ext>
            </a:extLst>
          </p:cNvPr>
          <p:cNvSpPr txBox="1"/>
          <p:nvPr/>
        </p:nvSpPr>
        <p:spPr>
          <a:xfrm>
            <a:off x="9766300" y="55879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0.8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90" name="line_088">
            <a:extLst>
              <a:ext uri="{FF2B5EF4-FFF2-40B4-BE49-F238E27FC236}">
                <a16:creationId xmlns:a16="http://schemas.microsoft.com/office/drawing/2014/main" id="{116E3A03-C665-5291-2E53-61E22BBEB5E8}"/>
              </a:ext>
            </a:extLst>
          </p:cNvPr>
          <p:cNvCxnSpPr/>
          <p:nvPr/>
        </p:nvCxnSpPr>
        <p:spPr>
          <a:xfrm>
            <a:off x="7734300" y="59563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_089">
            <a:extLst>
              <a:ext uri="{FF2B5EF4-FFF2-40B4-BE49-F238E27FC236}">
                <a16:creationId xmlns:a16="http://schemas.microsoft.com/office/drawing/2014/main" id="{39E41D58-DA77-0F68-A2CC-6F67B5B5E256}"/>
              </a:ext>
            </a:extLst>
          </p:cNvPr>
          <p:cNvSpPr txBox="1"/>
          <p:nvPr/>
        </p:nvSpPr>
        <p:spPr>
          <a:xfrm>
            <a:off x="7734300" y="59816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Sampler / schedule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92" name="text_090">
            <a:extLst>
              <a:ext uri="{FF2B5EF4-FFF2-40B4-BE49-F238E27FC236}">
                <a16:creationId xmlns:a16="http://schemas.microsoft.com/office/drawing/2014/main" id="{047DD1D0-14A6-7901-2A3A-73825D6A97A7}"/>
              </a:ext>
            </a:extLst>
          </p:cNvPr>
          <p:cNvSpPr txBox="1"/>
          <p:nvPr/>
        </p:nvSpPr>
        <p:spPr>
          <a:xfrm>
            <a:off x="9766300" y="59816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Euler / simple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93" name="line_091">
            <a:extLst>
              <a:ext uri="{FF2B5EF4-FFF2-40B4-BE49-F238E27FC236}">
                <a16:creationId xmlns:a16="http://schemas.microsoft.com/office/drawing/2014/main" id="{424BAA81-5573-8976-DB81-E086F9639892}"/>
              </a:ext>
            </a:extLst>
          </p:cNvPr>
          <p:cNvCxnSpPr/>
          <p:nvPr/>
        </p:nvCxnSpPr>
        <p:spPr>
          <a:xfrm>
            <a:off x="7734300" y="63500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_092">
            <a:extLst>
              <a:ext uri="{FF2B5EF4-FFF2-40B4-BE49-F238E27FC236}">
                <a16:creationId xmlns:a16="http://schemas.microsoft.com/office/drawing/2014/main" id="{D3F8E7C5-A132-68D6-2CB1-1E8ED86AD571}"/>
              </a:ext>
            </a:extLst>
          </p:cNvPr>
          <p:cNvSpPr txBox="1"/>
          <p:nvPr/>
        </p:nvSpPr>
        <p:spPr>
          <a:xfrm>
            <a:off x="7734300" y="63753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Steps / CFG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95" name="text_093">
            <a:extLst>
              <a:ext uri="{FF2B5EF4-FFF2-40B4-BE49-F238E27FC236}">
                <a16:creationId xmlns:a16="http://schemas.microsoft.com/office/drawing/2014/main" id="{C1500FB7-287F-5489-79A0-762E27CE3182}"/>
              </a:ext>
            </a:extLst>
          </p:cNvPr>
          <p:cNvSpPr txBox="1"/>
          <p:nvPr/>
        </p:nvSpPr>
        <p:spPr>
          <a:xfrm>
            <a:off x="9766300" y="63753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25 / 1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96" name="line_094">
            <a:extLst>
              <a:ext uri="{FF2B5EF4-FFF2-40B4-BE49-F238E27FC236}">
                <a16:creationId xmlns:a16="http://schemas.microsoft.com/office/drawing/2014/main" id="{156CC9EB-AAB2-F3B9-2715-61C4E2D1093C}"/>
              </a:ext>
            </a:extLst>
          </p:cNvPr>
          <p:cNvCxnSpPr/>
          <p:nvPr/>
        </p:nvCxnSpPr>
        <p:spPr>
          <a:xfrm>
            <a:off x="7734300" y="67437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_095">
            <a:extLst>
              <a:ext uri="{FF2B5EF4-FFF2-40B4-BE49-F238E27FC236}">
                <a16:creationId xmlns:a16="http://schemas.microsoft.com/office/drawing/2014/main" id="{0F6A0AB3-1EB8-8634-62E5-1F9F9702F041}"/>
              </a:ext>
            </a:extLst>
          </p:cNvPr>
          <p:cNvSpPr txBox="1"/>
          <p:nvPr/>
        </p:nvSpPr>
        <p:spPr>
          <a:xfrm>
            <a:off x="7734300" y="67690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Seed / denoise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98" name="text_096">
            <a:extLst>
              <a:ext uri="{FF2B5EF4-FFF2-40B4-BE49-F238E27FC236}">
                <a16:creationId xmlns:a16="http://schemas.microsoft.com/office/drawing/2014/main" id="{E168901F-043F-F073-BC17-40A677C98173}"/>
              </a:ext>
            </a:extLst>
          </p:cNvPr>
          <p:cNvSpPr txBox="1"/>
          <p:nvPr/>
        </p:nvSpPr>
        <p:spPr>
          <a:xfrm>
            <a:off x="9766300" y="67690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Random / 1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99" name="line_097">
            <a:extLst>
              <a:ext uri="{FF2B5EF4-FFF2-40B4-BE49-F238E27FC236}">
                <a16:creationId xmlns:a16="http://schemas.microsoft.com/office/drawing/2014/main" id="{DD41D25D-90B4-C6DD-2565-A6F31012EAB2}"/>
              </a:ext>
            </a:extLst>
          </p:cNvPr>
          <p:cNvCxnSpPr/>
          <p:nvPr/>
        </p:nvCxnSpPr>
        <p:spPr>
          <a:xfrm>
            <a:off x="7734300" y="71374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_098">
            <a:extLst>
              <a:ext uri="{FF2B5EF4-FFF2-40B4-BE49-F238E27FC236}">
                <a16:creationId xmlns:a16="http://schemas.microsoft.com/office/drawing/2014/main" id="{6B1D09F9-997A-C740-7594-DBABF70A5B72}"/>
              </a:ext>
            </a:extLst>
          </p:cNvPr>
          <p:cNvSpPr txBox="1"/>
          <p:nvPr/>
        </p:nvSpPr>
        <p:spPr>
          <a:xfrm>
            <a:off x="7734300" y="71627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Size / batch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01" name="text_099">
            <a:extLst>
              <a:ext uri="{FF2B5EF4-FFF2-40B4-BE49-F238E27FC236}">
                <a16:creationId xmlns:a16="http://schemas.microsoft.com/office/drawing/2014/main" id="{67CD20F1-E392-A412-CCEB-E469D3084F27}"/>
              </a:ext>
            </a:extLst>
          </p:cNvPr>
          <p:cNvSpPr txBox="1"/>
          <p:nvPr/>
        </p:nvSpPr>
        <p:spPr>
          <a:xfrm>
            <a:off x="9766300" y="71627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1184 × 896 / 1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02" name="line_100">
            <a:extLst>
              <a:ext uri="{FF2B5EF4-FFF2-40B4-BE49-F238E27FC236}">
                <a16:creationId xmlns:a16="http://schemas.microsoft.com/office/drawing/2014/main" id="{1C62F891-837B-75DB-D360-1148BA8CB693}"/>
              </a:ext>
            </a:extLst>
          </p:cNvPr>
          <p:cNvCxnSpPr/>
          <p:nvPr/>
        </p:nvCxnSpPr>
        <p:spPr>
          <a:xfrm>
            <a:off x="7734300" y="75311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_101">
            <a:extLst>
              <a:ext uri="{FF2B5EF4-FFF2-40B4-BE49-F238E27FC236}">
                <a16:creationId xmlns:a16="http://schemas.microsoft.com/office/drawing/2014/main" id="{21002B5A-87ED-68C0-E8AC-37AF3A51F2B2}"/>
              </a:ext>
            </a:extLst>
          </p:cNvPr>
          <p:cNvSpPr txBox="1"/>
          <p:nvPr/>
        </p:nvSpPr>
        <p:spPr>
          <a:xfrm>
            <a:off x="7734300" y="7556499"/>
            <a:ext cx="1905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50">
                <a:solidFill>
                  <a:srgbClr val="181818"/>
                </a:solidFill>
                <a:latin typeface="Arial" panose="020B0604020202020204" pitchFamily="34" charset="0"/>
              </a:rPr>
              <a:t>Negative prompt</a:t>
            </a:r>
            <a:endParaRPr lang="zh-CN" altLang="en-US" sz="1150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04" name="text_102">
            <a:extLst>
              <a:ext uri="{FF2B5EF4-FFF2-40B4-BE49-F238E27FC236}">
                <a16:creationId xmlns:a16="http://schemas.microsoft.com/office/drawing/2014/main" id="{A43069F2-EFC8-9711-05BA-1788A751DB16}"/>
              </a:ext>
            </a:extLst>
          </p:cNvPr>
          <p:cNvSpPr txBox="1"/>
          <p:nvPr/>
        </p:nvSpPr>
        <p:spPr>
          <a:xfrm>
            <a:off x="9766300" y="7556499"/>
            <a:ext cx="33401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400">
                <a:solidFill>
                  <a:srgbClr val="181818"/>
                </a:solidFill>
                <a:latin typeface="Times New Roman" panose="02020603050405020304" pitchFamily="18" charset="0"/>
              </a:rPr>
              <a:t>Empty</a:t>
            </a:r>
            <a:endParaRPr lang="zh-CN" altLang="en-US" sz="14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05" name="line_103">
            <a:extLst>
              <a:ext uri="{FF2B5EF4-FFF2-40B4-BE49-F238E27FC236}">
                <a16:creationId xmlns:a16="http://schemas.microsoft.com/office/drawing/2014/main" id="{1021E0CE-B723-800C-FA1E-20BAA275EC43}"/>
              </a:ext>
            </a:extLst>
          </p:cNvPr>
          <p:cNvCxnSpPr/>
          <p:nvPr/>
        </p:nvCxnSpPr>
        <p:spPr>
          <a:xfrm>
            <a:off x="7734300" y="7924800"/>
            <a:ext cx="5410200" cy="0"/>
          </a:xfrm>
          <a:prstGeom prst="line">
            <a:avLst/>
          </a:prstGeom>
          <a:ln w="4445">
            <a:solidFill>
              <a:srgbClr val="B7B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line_104">
            <a:extLst>
              <a:ext uri="{FF2B5EF4-FFF2-40B4-BE49-F238E27FC236}">
                <a16:creationId xmlns:a16="http://schemas.microsoft.com/office/drawing/2014/main" id="{CFCC9191-FE21-D3D1-9972-2693AAD9C0A0}"/>
              </a:ext>
            </a:extLst>
          </p:cNvPr>
          <p:cNvCxnSpPr/>
          <p:nvPr/>
        </p:nvCxnSpPr>
        <p:spPr>
          <a:xfrm>
            <a:off x="10528300" y="7975600"/>
            <a:ext cx="0" cy="2667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_105">
            <a:extLst>
              <a:ext uri="{FF2B5EF4-FFF2-40B4-BE49-F238E27FC236}">
                <a16:creationId xmlns:a16="http://schemas.microsoft.com/office/drawing/2014/main" id="{104EA226-44D3-3915-90E9-B03699D883AE}"/>
              </a:ext>
            </a:extLst>
          </p:cNvPr>
          <p:cNvSpPr txBox="1"/>
          <p:nvPr/>
        </p:nvSpPr>
        <p:spPr>
          <a:xfrm>
            <a:off x="7683500" y="8280399"/>
            <a:ext cx="5562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250" b="1">
                <a:solidFill>
                  <a:srgbClr val="181818"/>
                </a:solidFill>
                <a:latin typeface="Arial" panose="020B0604020202020204" pitchFamily="34" charset="0"/>
              </a:rPr>
              <a:t>VAE decode → PNG with metadata</a:t>
            </a:r>
            <a:endParaRPr lang="zh-CN" altLang="en-US" sz="1250" b="1">
              <a:solidFill>
                <a:srgbClr val="181818"/>
              </a:solidFill>
              <a:latin typeface="Arial" panose="020B0604020202020204" pitchFamily="34" charset="0"/>
            </a:endParaRPr>
          </a:p>
        </p:txBody>
      </p:sp>
      <p:sp>
        <p:nvSpPr>
          <p:cNvPr id="108" name="text_106">
            <a:extLst>
              <a:ext uri="{FF2B5EF4-FFF2-40B4-BE49-F238E27FC236}">
                <a16:creationId xmlns:a16="http://schemas.microsoft.com/office/drawing/2014/main" id="{05E59E72-6A05-FD0C-1839-1091AB0D9FFB}"/>
              </a:ext>
            </a:extLst>
          </p:cNvPr>
          <p:cNvSpPr txBox="1"/>
          <p:nvPr/>
        </p:nvSpPr>
        <p:spPr>
          <a:xfrm>
            <a:off x="7683500" y="8648699"/>
            <a:ext cx="55626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300">
                <a:solidFill>
                  <a:srgbClr val="181818"/>
                </a:solidFill>
                <a:latin typeface="Times New Roman" panose="02020603050405020304" pitchFamily="18" charset="0"/>
              </a:rPr>
              <a:t>Qwen-Image-2.1 VAE</a:t>
            </a:r>
            <a:endParaRPr lang="zh-CN" altLang="en-US" sz="13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09" name="line_107">
            <a:extLst>
              <a:ext uri="{FF2B5EF4-FFF2-40B4-BE49-F238E27FC236}">
                <a16:creationId xmlns:a16="http://schemas.microsoft.com/office/drawing/2014/main" id="{B0D1C877-DB7E-B133-3041-B2014397EE4A}"/>
              </a:ext>
            </a:extLst>
          </p:cNvPr>
          <p:cNvCxnSpPr/>
          <p:nvPr/>
        </p:nvCxnSpPr>
        <p:spPr>
          <a:xfrm>
            <a:off x="10528300" y="8966200"/>
            <a:ext cx="0" cy="241300"/>
          </a:xfrm>
          <a:prstGeom prst="line">
            <a:avLst/>
          </a:prstGeom>
          <a:ln w="9525">
            <a:solidFill>
              <a:srgbClr val="18181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_108">
            <a:extLst>
              <a:ext uri="{FF2B5EF4-FFF2-40B4-BE49-F238E27FC236}">
                <a16:creationId xmlns:a16="http://schemas.microsoft.com/office/drawing/2014/main" id="{C72C72F6-533D-D236-5691-4984EB79948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0997" y="9271000"/>
            <a:ext cx="1309007" cy="990600"/>
          </a:xfrm>
          <a:prstGeom prst="rect">
            <a:avLst/>
          </a:prstGeom>
        </p:spPr>
      </p:pic>
      <p:sp>
        <p:nvSpPr>
          <p:cNvPr id="112" name="rect_109">
            <a:extLst>
              <a:ext uri="{FF2B5EF4-FFF2-40B4-BE49-F238E27FC236}">
                <a16:creationId xmlns:a16="http://schemas.microsoft.com/office/drawing/2014/main" id="{F49083BB-F489-B366-8726-164B259A0B1A}"/>
              </a:ext>
            </a:extLst>
          </p:cNvPr>
          <p:cNvSpPr/>
          <p:nvPr/>
        </p:nvSpPr>
        <p:spPr>
          <a:xfrm>
            <a:off x="7790997" y="9271000"/>
            <a:ext cx="1309006" cy="990600"/>
          </a:xfrm>
          <a:prstGeom prst="rect">
            <a:avLst/>
          </a:prstGeom>
          <a:noFill/>
          <a:ln w="4445" cap="flat" cmpd="sng" algn="ctr">
            <a:solidFill>
              <a:srgbClr val="BDBDB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4" name="picture_110">
            <a:extLst>
              <a:ext uri="{FF2B5EF4-FFF2-40B4-BE49-F238E27FC236}">
                <a16:creationId xmlns:a16="http://schemas.microsoft.com/office/drawing/2014/main" id="{5AD78D56-DDC1-5E06-4490-A5859D25395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897" y="9271000"/>
            <a:ext cx="1309007" cy="990600"/>
          </a:xfrm>
          <a:prstGeom prst="rect">
            <a:avLst/>
          </a:prstGeom>
        </p:spPr>
      </p:pic>
      <p:sp>
        <p:nvSpPr>
          <p:cNvPr id="115" name="rect_111">
            <a:extLst>
              <a:ext uri="{FF2B5EF4-FFF2-40B4-BE49-F238E27FC236}">
                <a16:creationId xmlns:a16="http://schemas.microsoft.com/office/drawing/2014/main" id="{5C18C6D9-7E9E-24AF-FFE2-F5CA64395883}"/>
              </a:ext>
            </a:extLst>
          </p:cNvPr>
          <p:cNvSpPr/>
          <p:nvPr/>
        </p:nvSpPr>
        <p:spPr>
          <a:xfrm>
            <a:off x="9530897" y="9271000"/>
            <a:ext cx="1309006" cy="990600"/>
          </a:xfrm>
          <a:prstGeom prst="rect">
            <a:avLst/>
          </a:prstGeom>
          <a:noFill/>
          <a:ln w="4445" cap="flat" cmpd="sng" algn="ctr">
            <a:solidFill>
              <a:srgbClr val="BDBDBD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text_112">
            <a:extLst>
              <a:ext uri="{FF2B5EF4-FFF2-40B4-BE49-F238E27FC236}">
                <a16:creationId xmlns:a16="http://schemas.microsoft.com/office/drawing/2014/main" id="{5C4D18F2-FACD-ED49-B492-E7FB8E4B6464}"/>
              </a:ext>
            </a:extLst>
          </p:cNvPr>
          <p:cNvSpPr txBox="1"/>
          <p:nvPr/>
        </p:nvSpPr>
        <p:spPr>
          <a:xfrm>
            <a:off x="11252200" y="9232899"/>
            <a:ext cx="2108200" cy="444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2500" b="1">
                <a:solidFill>
                  <a:srgbClr val="624978"/>
                </a:solidFill>
                <a:latin typeface="Times New Roman" panose="02020603050405020304" pitchFamily="18" charset="0"/>
              </a:rPr>
              <a:t>1,308</a:t>
            </a:r>
            <a:endParaRPr lang="zh-CN" altLang="en-US" sz="2500" b="1">
              <a:solidFill>
                <a:srgbClr val="624978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7" name="text_113">
            <a:extLst>
              <a:ext uri="{FF2B5EF4-FFF2-40B4-BE49-F238E27FC236}">
                <a16:creationId xmlns:a16="http://schemas.microsoft.com/office/drawing/2014/main" id="{A381D38E-B0F4-5A95-7398-947A0FAC2ACD}"/>
              </a:ext>
            </a:extLst>
          </p:cNvPr>
          <p:cNvSpPr txBox="1"/>
          <p:nvPr/>
        </p:nvSpPr>
        <p:spPr>
          <a:xfrm>
            <a:off x="11252200" y="9728199"/>
            <a:ext cx="2108200" cy="546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300">
                <a:solidFill>
                  <a:srgbClr val="181818"/>
                </a:solidFill>
                <a:latin typeface="Times New Roman" panose="02020603050405020304" pitchFamily="18" charset="0"/>
              </a:rPr>
              <a:t>Generated candidates
Unscreened examples</a:t>
            </a:r>
            <a:endParaRPr lang="zh-CN" altLang="en-US" sz="1300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cxnSp>
        <p:nvCxnSpPr>
          <p:cNvPr id="118" name="line_114">
            <a:extLst>
              <a:ext uri="{FF2B5EF4-FFF2-40B4-BE49-F238E27FC236}">
                <a16:creationId xmlns:a16="http://schemas.microsoft.com/office/drawing/2014/main" id="{717E0587-8367-54DB-800E-B41284C1F51E}"/>
              </a:ext>
            </a:extLst>
          </p:cNvPr>
          <p:cNvCxnSpPr/>
          <p:nvPr/>
        </p:nvCxnSpPr>
        <p:spPr>
          <a:xfrm>
            <a:off x="10528300" y="10299700"/>
            <a:ext cx="0" cy="279400"/>
          </a:xfrm>
          <a:prstGeom prst="line">
            <a:avLst/>
          </a:prstGeom>
          <a:ln w="9525">
            <a:solidFill>
              <a:srgbClr val="62497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line_115">
            <a:extLst>
              <a:ext uri="{FF2B5EF4-FFF2-40B4-BE49-F238E27FC236}">
                <a16:creationId xmlns:a16="http://schemas.microsoft.com/office/drawing/2014/main" id="{AAE4394A-1D5C-F3D3-11AF-342C6ED8AA36}"/>
              </a:ext>
            </a:extLst>
          </p:cNvPr>
          <p:cNvCxnSpPr/>
          <p:nvPr/>
        </p:nvCxnSpPr>
        <p:spPr>
          <a:xfrm>
            <a:off x="7645400" y="10579100"/>
            <a:ext cx="5575300" cy="0"/>
          </a:xfrm>
          <a:prstGeom prst="line">
            <a:avLst/>
          </a:prstGeom>
          <a:ln w="8255">
            <a:solidFill>
              <a:srgbClr val="6249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_116">
            <a:extLst>
              <a:ext uri="{FF2B5EF4-FFF2-40B4-BE49-F238E27FC236}">
                <a16:creationId xmlns:a16="http://schemas.microsoft.com/office/drawing/2014/main" id="{0412FAF9-2B6D-92CE-CAA8-DE13161F44DA}"/>
              </a:ext>
            </a:extLst>
          </p:cNvPr>
          <p:cNvSpPr txBox="1"/>
          <p:nvPr/>
        </p:nvSpPr>
        <p:spPr>
          <a:xfrm>
            <a:off x="7645400" y="10655299"/>
            <a:ext cx="55753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600" b="1">
                <a:solidFill>
                  <a:srgbClr val="181818"/>
                </a:solidFill>
                <a:latin typeface="Times New Roman" panose="02020603050405020304" pitchFamily="18" charset="0"/>
              </a:rPr>
              <a:t>Review + annotation: target 465 + 620 = 1,085</a:t>
            </a:r>
            <a:endParaRPr lang="zh-CN" altLang="en-US" sz="1600" b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1" name="text_117">
            <a:extLst>
              <a:ext uri="{FF2B5EF4-FFF2-40B4-BE49-F238E27FC236}">
                <a16:creationId xmlns:a16="http://schemas.microsoft.com/office/drawing/2014/main" id="{7B56E58B-8AAC-7BD9-C90A-DDD4F5AF5354}"/>
              </a:ext>
            </a:extLst>
          </p:cNvPr>
          <p:cNvSpPr txBox="1"/>
          <p:nvPr/>
        </p:nvSpPr>
        <p:spPr>
          <a:xfrm>
            <a:off x="7645400" y="11049000"/>
            <a:ext cx="5575300" cy="241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zh-CN" sz="1100" i="1">
                <a:solidFill>
                  <a:srgbClr val="181818"/>
                </a:solidFill>
                <a:latin typeface="Times New Roman" panose="02020603050405020304" pitchFamily="18" charset="0"/>
              </a:rPr>
              <a:t>Dataset review and detector results pending.</a:t>
            </a:r>
            <a:endParaRPr lang="zh-CN" altLang="en-US" sz="1100" i="1">
              <a:solidFill>
                <a:srgbClr val="181818"/>
              </a:solidFill>
              <a:latin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82689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GURENUMBER" val="3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358</Words>
  <Application>Microsoft Office PowerPoint</Application>
  <PresentationFormat>自定义</PresentationFormat>
  <Paragraphs>65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zhangyizhou@connect.hku.hk</dc:creator>
  <cp:lastModifiedBy>zhangyizhou@connect.hku.hk</cp:lastModifiedBy>
  <cp:revision>1</cp:revision>
  <dcterms:created xsi:type="dcterms:W3CDTF">2026-10-06T10:13:07Z</dcterms:created>
  <dcterms:modified xsi:type="dcterms:W3CDTF">2026-10-06T10:13:07Z</dcterms:modified>
</cp:coreProperties>
</file>