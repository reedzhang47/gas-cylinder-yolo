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8AD69-6846-47D3-A28D-E3F1B6942AE2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72F94-1A2B-42A4-8913-EF1C2E697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52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experiments/v4_protocol/qualitative_detections.json and reviewed GT labels, dev61 images0014/0006/0005. Deployment weights: A yolo26s epoch280, B yolo26s epoch200, C yolo26s epoch260, conf&gt;=.25. These hand-selected cases are illustrative, not frequency estimates. Predictions here use deployment weights, while quantitative figures5/8 use held-out OOF. D blank. Image, each box and each confidence label are independent objects.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2F94-1A2B-42A4-8913-EF1C2E6972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2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54B67-FFAA-21D7-B4A3-9284CED79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95ECEE-67A4-D293-3619-164F3F82F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B4BF7-A85A-1CA0-F544-5E9819C7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441965-19C3-64D0-3CE5-3F6FBA9E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3AA92-82D6-8DD5-7BE1-5977EEE1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4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3AFAA-3D33-AADD-B78C-F2099BD8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B35AD-F3AC-438F-9922-5416F5148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B5B19-0118-DF3D-3A73-EDDB2E9A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4AD5C-01D6-C78A-14F3-6273F867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017B5-883D-F674-D0F1-93C1BDB4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5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278A0-4F49-E4ED-FF57-0AB0111F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1279F9-964C-D9EF-B2A9-881C2EB47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0C5DA-17DC-50B4-0B4C-F85277A7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6D36BA-C36C-2C41-92EE-869290D3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E188A-BE88-DFDC-22A0-BA55E7B9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53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5BE4D-F3D5-0C69-05A2-B414AB0F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E5A81-47D5-C8A4-FD26-CE1259E36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4DFAA0-FECB-DC6B-0CC2-8BCEBA8EC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1ECB93-9C06-51A7-6606-2C11C704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AE534B-FDB9-365F-8E41-7BDC8704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CA9A52-4D39-4575-188C-1218115B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68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271D-304C-4901-FF25-329DB77A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821509-EA16-C54F-29BB-6215D775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E35395-FC50-525B-3F43-42DC62F81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4D2C74-79C7-9BE9-AB8E-839066A26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1B7126-27FC-E639-E1E4-E2978E67B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7A213A-8EE3-3420-1A53-FA6E3CEC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809CBB-BD7A-F504-E794-77EA978E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8F6008-533B-19C3-7B13-70B9CFA7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18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13280-F9F6-E036-3DF4-CB8B5DA0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BA4284-ED42-15D1-98B0-1E8D6B50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96E14C-2340-93FE-3A70-4E984F5B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C3B1BC-7B11-FF91-CC22-03653EF9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55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BF6BD2-276F-E091-744B-4AF5EABA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38AD29-2451-4F26-E7AD-18343862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CF977-B3A7-33EA-B2EB-450FEA21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6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7D4EB-F5F0-C305-0EB3-0C949A5E0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768DF-C4A8-280F-4562-4AE2CA61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3BD4A7-3AFA-FB4F-5CEB-6E33F36B5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1FDD64-ADEB-815C-F165-40FC8D2B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6A05CA-23A4-8DB4-0340-4AEE4817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1679DC-3B77-87C1-822D-8AC89874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28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503A3-F564-5977-65AD-F84061F4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29FAE1-DED7-92C1-9358-D711D01A39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B74642-33BC-13A8-14A1-1A3D66267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8FB4F-B43D-D171-253A-141F237A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041F84-1BFD-3251-8D42-050C4687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598399-F1FB-76AE-D972-B71BFFCE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44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91D5F-A1E8-73CA-8D27-3462A73F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DB8BAE-5154-F942-1669-D1AE98620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0909A-322C-4397-A038-59A75E51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3BF24-3FAA-A983-B2B2-3D182810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AEF1C-AD48-3CDD-EBB9-5572DFD6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5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B441A4-9471-BF85-F1BD-2AB752FDD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B96F5D-351E-E449-B999-C52754E5F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4887C-7963-E030-EFDD-B0585915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CAEDE-A1B2-8C1D-2604-7FB98895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93448-2639-F45C-AD92-464F9EE7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97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756356-660E-FDD4-FE42-0BB441FF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9A6053-FBE6-7230-B35D-997AE3D4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E8AF5-A394-19B3-B4FC-49036A02C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6EC8D-1FEA-4085-B439-FB28E22E99BE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022AB-7EDF-ED71-A55E-C49B54214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3275F-45B6-C329-2F36-D38A02F64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C1877-5933-41FE-9931-A6D807747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88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71A2905A-8B7E-3421-BA55-F1425E26B545}"/>
              </a:ext>
            </a:extLst>
          </p:cNvPr>
          <p:cNvSpPr txBox="1"/>
          <p:nvPr/>
        </p:nvSpPr>
        <p:spPr>
          <a:xfrm>
            <a:off x="355600" y="228599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202020"/>
                </a:solidFill>
                <a:latin typeface="Times New Roman" panose="02020603050405020304" pitchFamily="18" charset="0"/>
              </a:rPr>
              <a:t>Detection examples on the development images</a:t>
            </a:r>
            <a:endParaRPr lang="zh-CN" altLang="en-US" sz="22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FE7C9853-A7DD-261E-AF3F-4C8EC854EDC1}"/>
              </a:ext>
            </a:extLst>
          </p:cNvPr>
          <p:cNvSpPr txBox="1"/>
          <p:nvPr/>
        </p:nvSpPr>
        <p:spPr>
          <a:xfrm>
            <a:off x="355600" y="850899"/>
            <a:ext cx="209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Reviewed GT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_003">
            <a:extLst>
              <a:ext uri="{FF2B5EF4-FFF2-40B4-BE49-F238E27FC236}">
                <a16:creationId xmlns:a16="http://schemas.microsoft.com/office/drawing/2014/main" id="{D1A7BEE2-8C03-1470-CAB5-163511876E7D}"/>
              </a:ext>
            </a:extLst>
          </p:cNvPr>
          <p:cNvSpPr txBox="1"/>
          <p:nvPr/>
        </p:nvSpPr>
        <p:spPr>
          <a:xfrm>
            <a:off x="2705100" y="850899"/>
            <a:ext cx="209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A  real93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_004">
            <a:extLst>
              <a:ext uri="{FF2B5EF4-FFF2-40B4-BE49-F238E27FC236}">
                <a16:creationId xmlns:a16="http://schemas.microsoft.com/office/drawing/2014/main" id="{4E4C0E27-B37B-B662-9A3A-B150C309AE41}"/>
              </a:ext>
            </a:extLst>
          </p:cNvPr>
          <p:cNvSpPr txBox="1"/>
          <p:nvPr/>
        </p:nvSpPr>
        <p:spPr>
          <a:xfrm>
            <a:off x="5054600" y="850899"/>
            <a:ext cx="209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B  Augmented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_005">
            <a:extLst>
              <a:ext uri="{FF2B5EF4-FFF2-40B4-BE49-F238E27FC236}">
                <a16:creationId xmlns:a16="http://schemas.microsoft.com/office/drawing/2014/main" id="{2E17168F-9763-66FE-798B-105A2412872C}"/>
              </a:ext>
            </a:extLst>
          </p:cNvPr>
          <p:cNvSpPr txBox="1"/>
          <p:nvPr/>
        </p:nvSpPr>
        <p:spPr>
          <a:xfrm>
            <a:off x="7404100" y="850899"/>
            <a:ext cx="209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C  Image edit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_006">
            <a:extLst>
              <a:ext uri="{FF2B5EF4-FFF2-40B4-BE49-F238E27FC236}">
                <a16:creationId xmlns:a16="http://schemas.microsoft.com/office/drawing/2014/main" id="{68A139C4-92A1-D346-3FF2-C3CF62A3BE17}"/>
              </a:ext>
            </a:extLst>
          </p:cNvPr>
          <p:cNvSpPr txBox="1"/>
          <p:nvPr/>
        </p:nvSpPr>
        <p:spPr>
          <a:xfrm>
            <a:off x="9753600" y="850899"/>
            <a:ext cx="209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D  LoRA T2I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_007">
            <a:extLst>
              <a:ext uri="{FF2B5EF4-FFF2-40B4-BE49-F238E27FC236}">
                <a16:creationId xmlns:a16="http://schemas.microsoft.com/office/drawing/2014/main" id="{E3B3B742-9F30-B248-F4D2-92B9EDD93C4B}"/>
              </a:ext>
            </a:extLst>
          </p:cNvPr>
          <p:cNvSpPr txBox="1"/>
          <p:nvPr/>
        </p:nvSpPr>
        <p:spPr>
          <a:xfrm>
            <a:off x="355600" y="1244600"/>
            <a:ext cx="774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(a) Fallen cylinders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_008">
            <a:extLst>
              <a:ext uri="{FF2B5EF4-FFF2-40B4-BE49-F238E27FC236}">
                <a16:creationId xmlns:a16="http://schemas.microsoft.com/office/drawing/2014/main" id="{CC6AA28C-799A-EFF4-8F73-48DBCAC45BEB}"/>
              </a:ext>
            </a:extLst>
          </p:cNvPr>
          <p:cNvSpPr txBox="1"/>
          <p:nvPr/>
        </p:nvSpPr>
        <p:spPr>
          <a:xfrm>
            <a:off x="8267700" y="1244600"/>
            <a:ext cx="3581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950">
                <a:solidFill>
                  <a:srgbClr val="626262"/>
                </a:solidFill>
                <a:latin typeface="Arial" panose="020B0604020202020204" pitchFamily="34" charset="0"/>
              </a:rPr>
              <a:t>new_test_set_0014</a:t>
            </a:r>
            <a:endParaRPr lang="zh-CN" altLang="en-US" sz="9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_009">
            <a:extLst>
              <a:ext uri="{FF2B5EF4-FFF2-40B4-BE49-F238E27FC236}">
                <a16:creationId xmlns:a16="http://schemas.microsoft.com/office/drawing/2014/main" id="{EA13BF6E-6FAF-D99B-9A61-4B37E6CF94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709341"/>
            <a:ext cx="2095500" cy="1178719"/>
          </a:xfrm>
          <a:prstGeom prst="rect">
            <a:avLst/>
          </a:prstGeom>
        </p:spPr>
      </p:pic>
      <p:sp>
        <p:nvSpPr>
          <p:cNvPr id="12" name="rect_010">
            <a:extLst>
              <a:ext uri="{FF2B5EF4-FFF2-40B4-BE49-F238E27FC236}">
                <a16:creationId xmlns:a16="http://schemas.microsoft.com/office/drawing/2014/main" id="{6F94F7D5-790D-E891-5E7F-30BDFE9016EF}"/>
              </a:ext>
            </a:extLst>
          </p:cNvPr>
          <p:cNvSpPr/>
          <p:nvPr/>
        </p:nvSpPr>
        <p:spPr>
          <a:xfrm>
            <a:off x="355600" y="1709341"/>
            <a:ext cx="2095500" cy="1178718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_011">
            <a:extLst>
              <a:ext uri="{FF2B5EF4-FFF2-40B4-BE49-F238E27FC236}">
                <a16:creationId xmlns:a16="http://schemas.microsoft.com/office/drawing/2014/main" id="{A9D6A00D-DBED-3A32-67B5-07EF9BC470DE}"/>
              </a:ext>
            </a:extLst>
          </p:cNvPr>
          <p:cNvSpPr/>
          <p:nvPr/>
        </p:nvSpPr>
        <p:spPr>
          <a:xfrm>
            <a:off x="1239126" y="1764264"/>
            <a:ext cx="287666" cy="716725"/>
          </a:xfrm>
          <a:prstGeom prst="rect">
            <a:avLst/>
          </a:prstGeom>
          <a:noFill/>
          <a:ln w="8890" cap="flat" cmpd="sng" algn="ctr">
            <a:solidFill>
              <a:srgbClr val="B72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_012">
            <a:extLst>
              <a:ext uri="{FF2B5EF4-FFF2-40B4-BE49-F238E27FC236}">
                <a16:creationId xmlns:a16="http://schemas.microsoft.com/office/drawing/2014/main" id="{8B45AE11-367C-C43C-9AB2-C8F0EA5B00AA}"/>
              </a:ext>
            </a:extLst>
          </p:cNvPr>
          <p:cNvSpPr/>
          <p:nvPr/>
        </p:nvSpPr>
        <p:spPr>
          <a:xfrm>
            <a:off x="629920" y="2504385"/>
            <a:ext cx="1387946" cy="281165"/>
          </a:xfrm>
          <a:prstGeom prst="rect">
            <a:avLst/>
          </a:prstGeom>
          <a:noFill/>
          <a:ln w="8890" cap="flat" cmpd="sng" algn="ctr">
            <a:solidFill>
              <a:srgbClr val="B72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_013">
            <a:extLst>
              <a:ext uri="{FF2B5EF4-FFF2-40B4-BE49-F238E27FC236}">
                <a16:creationId xmlns:a16="http://schemas.microsoft.com/office/drawing/2014/main" id="{07FA9D77-E700-17D9-41E4-FFEB0AC426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1709341"/>
            <a:ext cx="2095500" cy="1178719"/>
          </a:xfrm>
          <a:prstGeom prst="rect">
            <a:avLst/>
          </a:prstGeom>
        </p:spPr>
      </p:pic>
      <p:sp>
        <p:nvSpPr>
          <p:cNvPr id="17" name="rect_014">
            <a:extLst>
              <a:ext uri="{FF2B5EF4-FFF2-40B4-BE49-F238E27FC236}">
                <a16:creationId xmlns:a16="http://schemas.microsoft.com/office/drawing/2014/main" id="{52A728F0-10F7-199A-ECEB-6297552E0AED}"/>
              </a:ext>
            </a:extLst>
          </p:cNvPr>
          <p:cNvSpPr/>
          <p:nvPr/>
        </p:nvSpPr>
        <p:spPr>
          <a:xfrm>
            <a:off x="2705100" y="1709341"/>
            <a:ext cx="2095500" cy="1178718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_015">
            <a:extLst>
              <a:ext uri="{FF2B5EF4-FFF2-40B4-BE49-F238E27FC236}">
                <a16:creationId xmlns:a16="http://schemas.microsoft.com/office/drawing/2014/main" id="{293C1E1C-CBE1-D579-EBBF-327B6AC98C85}"/>
              </a:ext>
            </a:extLst>
          </p:cNvPr>
          <p:cNvSpPr/>
          <p:nvPr/>
        </p:nvSpPr>
        <p:spPr>
          <a:xfrm>
            <a:off x="4439104" y="1823046"/>
            <a:ext cx="259523" cy="240156"/>
          </a:xfrm>
          <a:prstGeom prst="rect">
            <a:avLst/>
          </a:prstGeom>
          <a:noFill/>
          <a:ln w="8890" cap="flat" cmpd="sng" algn="ctr">
            <a:solidFill>
              <a:srgbClr val="4A667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_016">
            <a:extLst>
              <a:ext uri="{FF2B5EF4-FFF2-40B4-BE49-F238E27FC236}">
                <a16:creationId xmlns:a16="http://schemas.microsoft.com/office/drawing/2014/main" id="{3C258066-3FA8-B43A-2E40-59E55E253F20}"/>
              </a:ext>
            </a:extLst>
          </p:cNvPr>
          <p:cNvSpPr txBox="1"/>
          <p:nvPr/>
        </p:nvSpPr>
        <p:spPr>
          <a:xfrm>
            <a:off x="4394200" y="1709341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4A667D"/>
                </a:solidFill>
                <a:latin typeface="Arial" panose="020B0604020202020204" pitchFamily="34" charset="0"/>
              </a:rPr>
              <a:t>0.76</a:t>
            </a:r>
            <a:endParaRPr lang="zh-CN" altLang="en-US" sz="850">
              <a:solidFill>
                <a:srgbClr val="4A667D"/>
              </a:solidFill>
              <a:latin typeface="Arial" panose="020B0604020202020204" pitchFamily="34" charset="0"/>
            </a:endParaRPr>
          </a:p>
        </p:txBody>
      </p:sp>
      <p:pic>
        <p:nvPicPr>
          <p:cNvPr id="21" name="picture_017">
            <a:extLst>
              <a:ext uri="{FF2B5EF4-FFF2-40B4-BE49-F238E27FC236}">
                <a16:creationId xmlns:a16="http://schemas.microsoft.com/office/drawing/2014/main" id="{33E75FD1-A09F-C63B-DE10-1DD1D41101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600" y="1709341"/>
            <a:ext cx="2095500" cy="1178719"/>
          </a:xfrm>
          <a:prstGeom prst="rect">
            <a:avLst/>
          </a:prstGeom>
        </p:spPr>
      </p:pic>
      <p:sp>
        <p:nvSpPr>
          <p:cNvPr id="22" name="rect_018">
            <a:extLst>
              <a:ext uri="{FF2B5EF4-FFF2-40B4-BE49-F238E27FC236}">
                <a16:creationId xmlns:a16="http://schemas.microsoft.com/office/drawing/2014/main" id="{D17E3D44-3766-7193-31DC-5C78B67558BF}"/>
              </a:ext>
            </a:extLst>
          </p:cNvPr>
          <p:cNvSpPr/>
          <p:nvPr/>
        </p:nvSpPr>
        <p:spPr>
          <a:xfrm>
            <a:off x="5054600" y="1709341"/>
            <a:ext cx="2095500" cy="1178718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_019">
            <a:extLst>
              <a:ext uri="{FF2B5EF4-FFF2-40B4-BE49-F238E27FC236}">
                <a16:creationId xmlns:a16="http://schemas.microsoft.com/office/drawing/2014/main" id="{2D7E0F7C-2656-4E97-E613-F3963B4E3E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100" y="1709341"/>
            <a:ext cx="2095500" cy="1178719"/>
          </a:xfrm>
          <a:prstGeom prst="rect">
            <a:avLst/>
          </a:prstGeom>
        </p:spPr>
      </p:pic>
      <p:sp>
        <p:nvSpPr>
          <p:cNvPr id="25" name="rect_020">
            <a:extLst>
              <a:ext uri="{FF2B5EF4-FFF2-40B4-BE49-F238E27FC236}">
                <a16:creationId xmlns:a16="http://schemas.microsoft.com/office/drawing/2014/main" id="{4325B743-3208-41A0-250C-74F19EEBCEDE}"/>
              </a:ext>
            </a:extLst>
          </p:cNvPr>
          <p:cNvSpPr/>
          <p:nvPr/>
        </p:nvSpPr>
        <p:spPr>
          <a:xfrm>
            <a:off x="7404100" y="1709341"/>
            <a:ext cx="2095500" cy="1178718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_021">
            <a:extLst>
              <a:ext uri="{FF2B5EF4-FFF2-40B4-BE49-F238E27FC236}">
                <a16:creationId xmlns:a16="http://schemas.microsoft.com/office/drawing/2014/main" id="{CC9710DD-ECA7-19F6-7C7F-8908DCD5E729}"/>
              </a:ext>
            </a:extLst>
          </p:cNvPr>
          <p:cNvSpPr/>
          <p:nvPr/>
        </p:nvSpPr>
        <p:spPr>
          <a:xfrm>
            <a:off x="7679448" y="2508471"/>
            <a:ext cx="1381626" cy="289022"/>
          </a:xfrm>
          <a:prstGeom prst="rect">
            <a:avLst/>
          </a:prstGeom>
          <a:noFill/>
          <a:ln w="8890" cap="flat" cmpd="sng" algn="ctr">
            <a:solidFill>
              <a:srgbClr val="377D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_022">
            <a:extLst>
              <a:ext uri="{FF2B5EF4-FFF2-40B4-BE49-F238E27FC236}">
                <a16:creationId xmlns:a16="http://schemas.microsoft.com/office/drawing/2014/main" id="{7CA7F6C9-B2E0-B331-9F6E-2A49F97948E7}"/>
              </a:ext>
            </a:extLst>
          </p:cNvPr>
          <p:cNvSpPr txBox="1"/>
          <p:nvPr/>
        </p:nvSpPr>
        <p:spPr>
          <a:xfrm>
            <a:off x="7679448" y="2356071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377D78"/>
                </a:solidFill>
                <a:latin typeface="Arial" panose="020B0604020202020204" pitchFamily="34" charset="0"/>
              </a:rPr>
              <a:t>0.91</a:t>
            </a:r>
            <a:endParaRPr lang="zh-CN" altLang="en-US" sz="850">
              <a:solidFill>
                <a:srgbClr val="377D78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_023">
            <a:extLst>
              <a:ext uri="{FF2B5EF4-FFF2-40B4-BE49-F238E27FC236}">
                <a16:creationId xmlns:a16="http://schemas.microsoft.com/office/drawing/2014/main" id="{89E3FFC6-389B-BFA8-CD1E-BBA3876A58B6}"/>
              </a:ext>
            </a:extLst>
          </p:cNvPr>
          <p:cNvSpPr/>
          <p:nvPr/>
        </p:nvSpPr>
        <p:spPr>
          <a:xfrm>
            <a:off x="9753600" y="1511300"/>
            <a:ext cx="2095500" cy="1574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_024">
            <a:extLst>
              <a:ext uri="{FF2B5EF4-FFF2-40B4-BE49-F238E27FC236}">
                <a16:creationId xmlns:a16="http://schemas.microsoft.com/office/drawing/2014/main" id="{89BF0F7A-4456-EC34-AEF2-392D6766971A}"/>
              </a:ext>
            </a:extLst>
          </p:cNvPr>
          <p:cNvSpPr txBox="1"/>
          <p:nvPr/>
        </p:nvSpPr>
        <p:spPr>
          <a:xfrm>
            <a:off x="9855200" y="2133599"/>
            <a:ext cx="18923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D output reserved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_025">
            <a:extLst>
              <a:ext uri="{FF2B5EF4-FFF2-40B4-BE49-F238E27FC236}">
                <a16:creationId xmlns:a16="http://schemas.microsoft.com/office/drawing/2014/main" id="{0471CFCB-FEE4-75D5-8B59-7223C58FD0C0}"/>
              </a:ext>
            </a:extLst>
          </p:cNvPr>
          <p:cNvSpPr txBox="1"/>
          <p:nvPr/>
        </p:nvSpPr>
        <p:spPr>
          <a:xfrm>
            <a:off x="355600" y="3187700"/>
            <a:ext cx="774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(b) Background false positive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_026">
            <a:extLst>
              <a:ext uri="{FF2B5EF4-FFF2-40B4-BE49-F238E27FC236}">
                <a16:creationId xmlns:a16="http://schemas.microsoft.com/office/drawing/2014/main" id="{387096AD-F06D-D26A-4694-BEF91ADA2674}"/>
              </a:ext>
            </a:extLst>
          </p:cNvPr>
          <p:cNvSpPr txBox="1"/>
          <p:nvPr/>
        </p:nvSpPr>
        <p:spPr>
          <a:xfrm>
            <a:off x="8267700" y="3187700"/>
            <a:ext cx="3581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950">
                <a:solidFill>
                  <a:srgbClr val="626262"/>
                </a:solidFill>
                <a:latin typeface="Arial" panose="020B0604020202020204" pitchFamily="34" charset="0"/>
              </a:rPr>
              <a:t>new_test_set_0006</a:t>
            </a:r>
            <a:endParaRPr lang="zh-CN" altLang="en-US" sz="9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pic>
        <p:nvPicPr>
          <p:cNvPr id="33" name="picture_027">
            <a:extLst>
              <a:ext uri="{FF2B5EF4-FFF2-40B4-BE49-F238E27FC236}">
                <a16:creationId xmlns:a16="http://schemas.microsoft.com/office/drawing/2014/main" id="{C76DDCA1-596E-A202-353D-BA5AB669A5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8" y="3454400"/>
            <a:ext cx="1392123" cy="1574800"/>
          </a:xfrm>
          <a:prstGeom prst="rect">
            <a:avLst/>
          </a:prstGeom>
        </p:spPr>
      </p:pic>
      <p:sp>
        <p:nvSpPr>
          <p:cNvPr id="34" name="rect_028">
            <a:extLst>
              <a:ext uri="{FF2B5EF4-FFF2-40B4-BE49-F238E27FC236}">
                <a16:creationId xmlns:a16="http://schemas.microsoft.com/office/drawing/2014/main" id="{354ED1EE-9594-45D4-B7AF-E2DC475B0181}"/>
              </a:ext>
            </a:extLst>
          </p:cNvPr>
          <p:cNvSpPr/>
          <p:nvPr/>
        </p:nvSpPr>
        <p:spPr>
          <a:xfrm>
            <a:off x="707288" y="3454400"/>
            <a:ext cx="1392124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_029">
            <a:extLst>
              <a:ext uri="{FF2B5EF4-FFF2-40B4-BE49-F238E27FC236}">
                <a16:creationId xmlns:a16="http://schemas.microsoft.com/office/drawing/2014/main" id="{A3A318AD-0023-98CE-94ED-AF27D983159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788" y="3454400"/>
            <a:ext cx="1392123" cy="1574800"/>
          </a:xfrm>
          <a:prstGeom prst="rect">
            <a:avLst/>
          </a:prstGeom>
        </p:spPr>
      </p:pic>
      <p:sp>
        <p:nvSpPr>
          <p:cNvPr id="37" name="rect_030">
            <a:extLst>
              <a:ext uri="{FF2B5EF4-FFF2-40B4-BE49-F238E27FC236}">
                <a16:creationId xmlns:a16="http://schemas.microsoft.com/office/drawing/2014/main" id="{2820042D-4FD0-829B-BB4D-CD324CF7FD26}"/>
              </a:ext>
            </a:extLst>
          </p:cNvPr>
          <p:cNvSpPr/>
          <p:nvPr/>
        </p:nvSpPr>
        <p:spPr>
          <a:xfrm>
            <a:off x="3056788" y="3454400"/>
            <a:ext cx="1392123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_031">
            <a:extLst>
              <a:ext uri="{FF2B5EF4-FFF2-40B4-BE49-F238E27FC236}">
                <a16:creationId xmlns:a16="http://schemas.microsoft.com/office/drawing/2014/main" id="{22BF2F4D-18B0-4C2F-A039-6BC7722D1839}"/>
              </a:ext>
            </a:extLst>
          </p:cNvPr>
          <p:cNvSpPr/>
          <p:nvPr/>
        </p:nvSpPr>
        <p:spPr>
          <a:xfrm>
            <a:off x="3950782" y="3598613"/>
            <a:ext cx="326940" cy="620702"/>
          </a:xfrm>
          <a:prstGeom prst="rect">
            <a:avLst/>
          </a:prstGeom>
          <a:noFill/>
          <a:ln w="8890" cap="flat" cmpd="sng" algn="ctr">
            <a:solidFill>
              <a:srgbClr val="4A667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_032">
            <a:extLst>
              <a:ext uri="{FF2B5EF4-FFF2-40B4-BE49-F238E27FC236}">
                <a16:creationId xmlns:a16="http://schemas.microsoft.com/office/drawing/2014/main" id="{0529CB28-402C-7BF7-A07C-7D669BDE23A9}"/>
              </a:ext>
            </a:extLst>
          </p:cNvPr>
          <p:cNvSpPr txBox="1"/>
          <p:nvPr/>
        </p:nvSpPr>
        <p:spPr>
          <a:xfrm>
            <a:off x="3950782" y="3454400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4A667D"/>
                </a:solidFill>
                <a:latin typeface="Arial" panose="020B0604020202020204" pitchFamily="34" charset="0"/>
              </a:rPr>
              <a:t>0.36</a:t>
            </a:r>
            <a:endParaRPr lang="zh-CN" altLang="en-US" sz="850">
              <a:solidFill>
                <a:srgbClr val="4A667D"/>
              </a:solidFill>
              <a:latin typeface="Arial" panose="020B0604020202020204" pitchFamily="34" charset="0"/>
            </a:endParaRPr>
          </a:p>
        </p:txBody>
      </p:sp>
      <p:pic>
        <p:nvPicPr>
          <p:cNvPr id="41" name="picture_033">
            <a:extLst>
              <a:ext uri="{FF2B5EF4-FFF2-40B4-BE49-F238E27FC236}">
                <a16:creationId xmlns:a16="http://schemas.microsoft.com/office/drawing/2014/main" id="{C329AB12-7E47-78B2-B692-7377E5E2F4F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88" y="3454400"/>
            <a:ext cx="1392123" cy="1574800"/>
          </a:xfrm>
          <a:prstGeom prst="rect">
            <a:avLst/>
          </a:prstGeom>
        </p:spPr>
      </p:pic>
      <p:sp>
        <p:nvSpPr>
          <p:cNvPr id="42" name="rect_034">
            <a:extLst>
              <a:ext uri="{FF2B5EF4-FFF2-40B4-BE49-F238E27FC236}">
                <a16:creationId xmlns:a16="http://schemas.microsoft.com/office/drawing/2014/main" id="{F3D4290D-C0E3-08FF-FD6F-EE372DF907D5}"/>
              </a:ext>
            </a:extLst>
          </p:cNvPr>
          <p:cNvSpPr/>
          <p:nvPr/>
        </p:nvSpPr>
        <p:spPr>
          <a:xfrm>
            <a:off x="5406288" y="3454400"/>
            <a:ext cx="1392123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picture_035">
            <a:extLst>
              <a:ext uri="{FF2B5EF4-FFF2-40B4-BE49-F238E27FC236}">
                <a16:creationId xmlns:a16="http://schemas.microsoft.com/office/drawing/2014/main" id="{EC3C0A4E-79B9-4BFD-4031-9261D7AAE11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789" y="3454400"/>
            <a:ext cx="1392123" cy="1574800"/>
          </a:xfrm>
          <a:prstGeom prst="rect">
            <a:avLst/>
          </a:prstGeom>
        </p:spPr>
      </p:pic>
      <p:sp>
        <p:nvSpPr>
          <p:cNvPr id="45" name="rect_036">
            <a:extLst>
              <a:ext uri="{FF2B5EF4-FFF2-40B4-BE49-F238E27FC236}">
                <a16:creationId xmlns:a16="http://schemas.microsoft.com/office/drawing/2014/main" id="{F84D4403-1BA3-123D-7D9F-4673B9402E84}"/>
              </a:ext>
            </a:extLst>
          </p:cNvPr>
          <p:cNvSpPr/>
          <p:nvPr/>
        </p:nvSpPr>
        <p:spPr>
          <a:xfrm>
            <a:off x="7755789" y="3454400"/>
            <a:ext cx="1392122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rect_037">
            <a:extLst>
              <a:ext uri="{FF2B5EF4-FFF2-40B4-BE49-F238E27FC236}">
                <a16:creationId xmlns:a16="http://schemas.microsoft.com/office/drawing/2014/main" id="{BF1EDCA6-A6E4-5C65-6C4E-E043DD6340E8}"/>
              </a:ext>
            </a:extLst>
          </p:cNvPr>
          <p:cNvSpPr/>
          <p:nvPr/>
        </p:nvSpPr>
        <p:spPr>
          <a:xfrm>
            <a:off x="9753600" y="3454400"/>
            <a:ext cx="2095500" cy="1574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_038">
            <a:extLst>
              <a:ext uri="{FF2B5EF4-FFF2-40B4-BE49-F238E27FC236}">
                <a16:creationId xmlns:a16="http://schemas.microsoft.com/office/drawing/2014/main" id="{F96A0E78-7DDE-4E3B-AF3D-06323684DF2F}"/>
              </a:ext>
            </a:extLst>
          </p:cNvPr>
          <p:cNvSpPr txBox="1"/>
          <p:nvPr/>
        </p:nvSpPr>
        <p:spPr>
          <a:xfrm>
            <a:off x="9855200" y="4076699"/>
            <a:ext cx="18923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D output reserved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_039">
            <a:extLst>
              <a:ext uri="{FF2B5EF4-FFF2-40B4-BE49-F238E27FC236}">
                <a16:creationId xmlns:a16="http://schemas.microsoft.com/office/drawing/2014/main" id="{20EC8EC2-7143-12CB-C84E-E1DDE16C4D3B}"/>
              </a:ext>
            </a:extLst>
          </p:cNvPr>
          <p:cNvSpPr txBox="1"/>
          <p:nvPr/>
        </p:nvSpPr>
        <p:spPr>
          <a:xfrm>
            <a:off x="355600" y="5130800"/>
            <a:ext cx="774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(c) Multiple predictions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_040">
            <a:extLst>
              <a:ext uri="{FF2B5EF4-FFF2-40B4-BE49-F238E27FC236}">
                <a16:creationId xmlns:a16="http://schemas.microsoft.com/office/drawing/2014/main" id="{3CFDB6E7-3166-0E0B-1ABF-1A3CA47AA77C}"/>
              </a:ext>
            </a:extLst>
          </p:cNvPr>
          <p:cNvSpPr txBox="1"/>
          <p:nvPr/>
        </p:nvSpPr>
        <p:spPr>
          <a:xfrm>
            <a:off x="8267700" y="5130800"/>
            <a:ext cx="3581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950">
                <a:solidFill>
                  <a:srgbClr val="626262"/>
                </a:solidFill>
                <a:latin typeface="Arial" panose="020B0604020202020204" pitchFamily="34" charset="0"/>
              </a:rPr>
              <a:t>new_test_set_0005</a:t>
            </a:r>
            <a:endParaRPr lang="zh-CN" altLang="en-US" sz="9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pic>
        <p:nvPicPr>
          <p:cNvPr id="51" name="picture_041">
            <a:extLst>
              <a:ext uri="{FF2B5EF4-FFF2-40B4-BE49-F238E27FC236}">
                <a16:creationId xmlns:a16="http://schemas.microsoft.com/office/drawing/2014/main" id="{7419F5BE-1404-A79A-4F7E-2487451C23B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7" y="5397500"/>
            <a:ext cx="1049867" cy="1574800"/>
          </a:xfrm>
          <a:prstGeom prst="rect">
            <a:avLst/>
          </a:prstGeom>
        </p:spPr>
      </p:pic>
      <p:sp>
        <p:nvSpPr>
          <p:cNvPr id="52" name="rect_042">
            <a:extLst>
              <a:ext uri="{FF2B5EF4-FFF2-40B4-BE49-F238E27FC236}">
                <a16:creationId xmlns:a16="http://schemas.microsoft.com/office/drawing/2014/main" id="{3425D0BD-EADD-B652-6122-1AE8585C02FD}"/>
              </a:ext>
            </a:extLst>
          </p:cNvPr>
          <p:cNvSpPr/>
          <p:nvPr/>
        </p:nvSpPr>
        <p:spPr>
          <a:xfrm>
            <a:off x="878417" y="5397500"/>
            <a:ext cx="1049866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rect_043">
            <a:extLst>
              <a:ext uri="{FF2B5EF4-FFF2-40B4-BE49-F238E27FC236}">
                <a16:creationId xmlns:a16="http://schemas.microsoft.com/office/drawing/2014/main" id="{0E1A50D7-B419-90E6-210F-2A67231AE6A8}"/>
              </a:ext>
            </a:extLst>
          </p:cNvPr>
          <p:cNvSpPr/>
          <p:nvPr/>
        </p:nvSpPr>
        <p:spPr>
          <a:xfrm>
            <a:off x="1541067" y="5573854"/>
            <a:ext cx="302826" cy="1143192"/>
          </a:xfrm>
          <a:prstGeom prst="rect">
            <a:avLst/>
          </a:prstGeom>
          <a:noFill/>
          <a:ln w="8890" cap="flat" cmpd="sng" algn="ctr">
            <a:solidFill>
              <a:srgbClr val="B7212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picture_044">
            <a:extLst>
              <a:ext uri="{FF2B5EF4-FFF2-40B4-BE49-F238E27FC236}">
                <a16:creationId xmlns:a16="http://schemas.microsoft.com/office/drawing/2014/main" id="{AF51D1B0-8760-BABA-CDB1-EC901B4F39F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917" y="5397500"/>
            <a:ext cx="1049867" cy="1574800"/>
          </a:xfrm>
          <a:prstGeom prst="rect">
            <a:avLst/>
          </a:prstGeom>
        </p:spPr>
      </p:pic>
      <p:sp>
        <p:nvSpPr>
          <p:cNvPr id="56" name="rect_045">
            <a:extLst>
              <a:ext uri="{FF2B5EF4-FFF2-40B4-BE49-F238E27FC236}">
                <a16:creationId xmlns:a16="http://schemas.microsoft.com/office/drawing/2014/main" id="{FACA444C-9734-74D1-704E-98B93823ECB0}"/>
              </a:ext>
            </a:extLst>
          </p:cNvPr>
          <p:cNvSpPr/>
          <p:nvPr/>
        </p:nvSpPr>
        <p:spPr>
          <a:xfrm>
            <a:off x="3227917" y="5397500"/>
            <a:ext cx="1049866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rect_046">
            <a:extLst>
              <a:ext uri="{FF2B5EF4-FFF2-40B4-BE49-F238E27FC236}">
                <a16:creationId xmlns:a16="http://schemas.microsoft.com/office/drawing/2014/main" id="{4B76E3E2-5258-EBCF-3437-04A053D50AF7}"/>
              </a:ext>
            </a:extLst>
          </p:cNvPr>
          <p:cNvSpPr/>
          <p:nvPr/>
        </p:nvSpPr>
        <p:spPr>
          <a:xfrm>
            <a:off x="3572171" y="5510535"/>
            <a:ext cx="259339" cy="371674"/>
          </a:xfrm>
          <a:prstGeom prst="rect">
            <a:avLst/>
          </a:prstGeom>
          <a:noFill/>
          <a:ln w="8890" cap="flat" cmpd="sng" algn="ctr">
            <a:solidFill>
              <a:srgbClr val="4A667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text_047">
            <a:extLst>
              <a:ext uri="{FF2B5EF4-FFF2-40B4-BE49-F238E27FC236}">
                <a16:creationId xmlns:a16="http://schemas.microsoft.com/office/drawing/2014/main" id="{530EE17D-2FE2-3555-4BAE-8C1630138AA8}"/>
              </a:ext>
            </a:extLst>
          </p:cNvPr>
          <p:cNvSpPr txBox="1"/>
          <p:nvPr/>
        </p:nvSpPr>
        <p:spPr>
          <a:xfrm>
            <a:off x="3572171" y="5397500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4A667D"/>
                </a:solidFill>
                <a:latin typeface="Arial" panose="020B0604020202020204" pitchFamily="34" charset="0"/>
              </a:rPr>
              <a:t>0.35</a:t>
            </a:r>
            <a:endParaRPr lang="zh-CN" altLang="en-US" sz="850">
              <a:solidFill>
                <a:srgbClr val="4A667D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_048">
            <a:extLst>
              <a:ext uri="{FF2B5EF4-FFF2-40B4-BE49-F238E27FC236}">
                <a16:creationId xmlns:a16="http://schemas.microsoft.com/office/drawing/2014/main" id="{4ECBDA11-FC17-033E-D1E0-14CC7CA0E0C0}"/>
              </a:ext>
            </a:extLst>
          </p:cNvPr>
          <p:cNvSpPr/>
          <p:nvPr/>
        </p:nvSpPr>
        <p:spPr>
          <a:xfrm>
            <a:off x="3926911" y="5546976"/>
            <a:ext cx="306423" cy="968536"/>
          </a:xfrm>
          <a:prstGeom prst="rect">
            <a:avLst/>
          </a:prstGeom>
          <a:noFill/>
          <a:ln w="8890" cap="flat" cmpd="sng" algn="ctr">
            <a:solidFill>
              <a:srgbClr val="4A667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_049">
            <a:extLst>
              <a:ext uri="{FF2B5EF4-FFF2-40B4-BE49-F238E27FC236}">
                <a16:creationId xmlns:a16="http://schemas.microsoft.com/office/drawing/2014/main" id="{00B6874E-5252-AEC4-DCAB-4E0AE7BA8F78}"/>
              </a:ext>
            </a:extLst>
          </p:cNvPr>
          <p:cNvSpPr txBox="1"/>
          <p:nvPr/>
        </p:nvSpPr>
        <p:spPr>
          <a:xfrm>
            <a:off x="3871383" y="5397500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4A667D"/>
                </a:solidFill>
                <a:latin typeface="Arial" panose="020B0604020202020204" pitchFamily="34" charset="0"/>
              </a:rPr>
              <a:t>0.31</a:t>
            </a:r>
            <a:endParaRPr lang="zh-CN" altLang="en-US" sz="850">
              <a:solidFill>
                <a:srgbClr val="4A667D"/>
              </a:solidFill>
              <a:latin typeface="Arial" panose="020B0604020202020204" pitchFamily="34" charset="0"/>
            </a:endParaRPr>
          </a:p>
        </p:txBody>
      </p:sp>
      <p:pic>
        <p:nvPicPr>
          <p:cNvPr id="62" name="picture_050">
            <a:extLst>
              <a:ext uri="{FF2B5EF4-FFF2-40B4-BE49-F238E27FC236}">
                <a16:creationId xmlns:a16="http://schemas.microsoft.com/office/drawing/2014/main" id="{2BF2DBCD-E23D-E124-D168-7A58E16E175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417" y="5397500"/>
            <a:ext cx="1049867" cy="1574800"/>
          </a:xfrm>
          <a:prstGeom prst="rect">
            <a:avLst/>
          </a:prstGeom>
        </p:spPr>
      </p:pic>
      <p:sp>
        <p:nvSpPr>
          <p:cNvPr id="63" name="rect_051">
            <a:extLst>
              <a:ext uri="{FF2B5EF4-FFF2-40B4-BE49-F238E27FC236}">
                <a16:creationId xmlns:a16="http://schemas.microsoft.com/office/drawing/2014/main" id="{3DF3416F-715E-11A9-A785-BD113EA73C34}"/>
              </a:ext>
            </a:extLst>
          </p:cNvPr>
          <p:cNvSpPr/>
          <p:nvPr/>
        </p:nvSpPr>
        <p:spPr>
          <a:xfrm>
            <a:off x="5577417" y="5397500"/>
            <a:ext cx="1049866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rect_052">
            <a:extLst>
              <a:ext uri="{FF2B5EF4-FFF2-40B4-BE49-F238E27FC236}">
                <a16:creationId xmlns:a16="http://schemas.microsoft.com/office/drawing/2014/main" id="{C44D908D-87DF-BDB4-0D89-23733C3E3AA1}"/>
              </a:ext>
            </a:extLst>
          </p:cNvPr>
          <p:cNvSpPr/>
          <p:nvPr/>
        </p:nvSpPr>
        <p:spPr>
          <a:xfrm>
            <a:off x="6221788" y="5590385"/>
            <a:ext cx="381182" cy="1126995"/>
          </a:xfrm>
          <a:prstGeom prst="rect">
            <a:avLst/>
          </a:prstGeom>
          <a:noFill/>
          <a:ln w="8890" cap="flat" cmpd="sng" algn="ctr">
            <a:solidFill>
              <a:srgbClr val="AD814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text_053">
            <a:extLst>
              <a:ext uri="{FF2B5EF4-FFF2-40B4-BE49-F238E27FC236}">
                <a16:creationId xmlns:a16="http://schemas.microsoft.com/office/drawing/2014/main" id="{3086F56A-2767-3711-AD49-CF6E6B76FD64}"/>
              </a:ext>
            </a:extLst>
          </p:cNvPr>
          <p:cNvSpPr txBox="1"/>
          <p:nvPr/>
        </p:nvSpPr>
        <p:spPr>
          <a:xfrm>
            <a:off x="6220883" y="5437985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AD8146"/>
                </a:solidFill>
                <a:latin typeface="Arial" panose="020B0604020202020204" pitchFamily="34" charset="0"/>
              </a:rPr>
              <a:t>0.96</a:t>
            </a:r>
            <a:endParaRPr lang="zh-CN" altLang="en-US" sz="850">
              <a:solidFill>
                <a:srgbClr val="AD8146"/>
              </a:solidFill>
              <a:latin typeface="Arial" panose="020B0604020202020204" pitchFamily="34" charset="0"/>
            </a:endParaRPr>
          </a:p>
        </p:txBody>
      </p:sp>
      <p:pic>
        <p:nvPicPr>
          <p:cNvPr id="67" name="picture_054">
            <a:extLst>
              <a:ext uri="{FF2B5EF4-FFF2-40B4-BE49-F238E27FC236}">
                <a16:creationId xmlns:a16="http://schemas.microsoft.com/office/drawing/2014/main" id="{CD50FE3B-D485-CC57-E320-FC4568F4F82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917" y="5397500"/>
            <a:ext cx="1049867" cy="1574800"/>
          </a:xfrm>
          <a:prstGeom prst="rect">
            <a:avLst/>
          </a:prstGeom>
        </p:spPr>
      </p:pic>
      <p:sp>
        <p:nvSpPr>
          <p:cNvPr id="68" name="rect_055">
            <a:extLst>
              <a:ext uri="{FF2B5EF4-FFF2-40B4-BE49-F238E27FC236}">
                <a16:creationId xmlns:a16="http://schemas.microsoft.com/office/drawing/2014/main" id="{4A771D74-8A6C-195F-CAF1-4BAC6476E400}"/>
              </a:ext>
            </a:extLst>
          </p:cNvPr>
          <p:cNvSpPr/>
          <p:nvPr/>
        </p:nvSpPr>
        <p:spPr>
          <a:xfrm>
            <a:off x="7926917" y="5397500"/>
            <a:ext cx="1049867" cy="1574800"/>
          </a:xfrm>
          <a:prstGeom prst="rect">
            <a:avLst/>
          </a:prstGeom>
          <a:noFill/>
          <a:ln w="4445" cap="flat" cmpd="sng" algn="ctr">
            <a:solidFill>
              <a:srgbClr val="BDBDB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ect_056">
            <a:extLst>
              <a:ext uri="{FF2B5EF4-FFF2-40B4-BE49-F238E27FC236}">
                <a16:creationId xmlns:a16="http://schemas.microsoft.com/office/drawing/2014/main" id="{3324DF9D-D3B5-CF77-DDAC-07CD649B3E37}"/>
              </a:ext>
            </a:extLst>
          </p:cNvPr>
          <p:cNvSpPr/>
          <p:nvPr/>
        </p:nvSpPr>
        <p:spPr>
          <a:xfrm>
            <a:off x="8593167" y="5595919"/>
            <a:ext cx="306318" cy="1122374"/>
          </a:xfrm>
          <a:prstGeom prst="rect">
            <a:avLst/>
          </a:prstGeom>
          <a:noFill/>
          <a:ln w="8890" cap="flat" cmpd="sng" algn="ctr">
            <a:solidFill>
              <a:srgbClr val="377D7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text_057">
            <a:extLst>
              <a:ext uri="{FF2B5EF4-FFF2-40B4-BE49-F238E27FC236}">
                <a16:creationId xmlns:a16="http://schemas.microsoft.com/office/drawing/2014/main" id="{7C499D99-E79E-B8B8-ADD0-D9075D3DE894}"/>
              </a:ext>
            </a:extLst>
          </p:cNvPr>
          <p:cNvSpPr txBox="1"/>
          <p:nvPr/>
        </p:nvSpPr>
        <p:spPr>
          <a:xfrm>
            <a:off x="8570383" y="5443519"/>
            <a:ext cx="406400" cy="1651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850">
                <a:solidFill>
                  <a:srgbClr val="377D78"/>
                </a:solidFill>
                <a:latin typeface="Arial" panose="020B0604020202020204" pitchFamily="34" charset="0"/>
              </a:rPr>
              <a:t>0.97</a:t>
            </a:r>
            <a:endParaRPr lang="zh-CN" altLang="en-US" sz="850">
              <a:solidFill>
                <a:srgbClr val="377D78"/>
              </a:solidFill>
              <a:latin typeface="Arial" panose="020B0604020202020204" pitchFamily="34" charset="0"/>
            </a:endParaRPr>
          </a:p>
        </p:txBody>
      </p:sp>
      <p:sp>
        <p:nvSpPr>
          <p:cNvPr id="71" name="rect_058">
            <a:extLst>
              <a:ext uri="{FF2B5EF4-FFF2-40B4-BE49-F238E27FC236}">
                <a16:creationId xmlns:a16="http://schemas.microsoft.com/office/drawing/2014/main" id="{A2299678-17C2-9708-CD16-915A181EAC7A}"/>
              </a:ext>
            </a:extLst>
          </p:cNvPr>
          <p:cNvSpPr/>
          <p:nvPr/>
        </p:nvSpPr>
        <p:spPr>
          <a:xfrm>
            <a:off x="9753600" y="5397500"/>
            <a:ext cx="2095500" cy="1574800"/>
          </a:xfrm>
          <a:prstGeom prst="rect">
            <a:avLst/>
          </a:prstGeom>
          <a:noFill/>
          <a:ln w="6350" cap="flat" cmpd="sng" algn="ctr">
            <a:solidFill>
              <a:srgbClr val="B6ACBE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_059">
            <a:extLst>
              <a:ext uri="{FF2B5EF4-FFF2-40B4-BE49-F238E27FC236}">
                <a16:creationId xmlns:a16="http://schemas.microsoft.com/office/drawing/2014/main" id="{1291CB3E-C7BA-041F-9D32-154FB14C055A}"/>
              </a:ext>
            </a:extLst>
          </p:cNvPr>
          <p:cNvSpPr txBox="1"/>
          <p:nvPr/>
        </p:nvSpPr>
        <p:spPr>
          <a:xfrm>
            <a:off x="9855200" y="6019799"/>
            <a:ext cx="18923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626262"/>
                </a:solidFill>
                <a:latin typeface="Arial" panose="020B0604020202020204" pitchFamily="34" charset="0"/>
              </a:rPr>
              <a:t>D output reserved</a:t>
            </a:r>
            <a:endParaRPr lang="zh-CN" altLang="en-US" sz="110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_060">
            <a:extLst>
              <a:ext uri="{FF2B5EF4-FFF2-40B4-BE49-F238E27FC236}">
                <a16:creationId xmlns:a16="http://schemas.microsoft.com/office/drawing/2014/main" id="{E14BE18B-857E-8FA1-D001-D426418E270C}"/>
              </a:ext>
            </a:extLst>
          </p:cNvPr>
          <p:cNvSpPr txBox="1"/>
          <p:nvPr/>
        </p:nvSpPr>
        <p:spPr>
          <a:xfrm>
            <a:off x="355600" y="7442200"/>
            <a:ext cx="114808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Dashed red boxes: reviewed GT. Solid coloured boxes: detections at confidence ≥ 0.25.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74" name="text_061">
            <a:extLst>
              <a:ext uri="{FF2B5EF4-FFF2-40B4-BE49-F238E27FC236}">
                <a16:creationId xmlns:a16="http://schemas.microsoft.com/office/drawing/2014/main" id="{8C56365A-C4DA-4C23-03A3-E74C15E9A3AA}"/>
              </a:ext>
            </a:extLst>
          </p:cNvPr>
          <p:cNvSpPr txBox="1"/>
          <p:nvPr/>
        </p:nvSpPr>
        <p:spPr>
          <a:xfrm>
            <a:off x="355600" y="7746999"/>
            <a:ext cx="11480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Hand-selected illustrations using deployment checkpoints on dev61. Their occurrence does not estimate error rates.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55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自定义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2026-10-06T08:47:17Z</dcterms:created>
  <dcterms:modified xsi:type="dcterms:W3CDTF">2026-10-06T08:47:17Z</dcterms:modified>
</cp:coreProperties>
</file>