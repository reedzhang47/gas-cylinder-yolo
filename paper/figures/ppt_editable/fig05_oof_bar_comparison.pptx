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812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4243B-0359-4D46-BC95-4F17C0400A01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79F21-1663-4D5E-9586-8E1050B6D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39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Source: experiments/v4_protocol/bootstrap_paired.json, target=joint. Panel a shows joint detector+checkpoint cross-fitted pooled OOF mAP50-95. Panel b shows observed paired differences against real93 and95% paired image-cluster bootstrap CIs. 10000 bootstrap resamples,61 dev images. No marginal absolute AP CI is invented. D pending, not zero.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79F21-1663-4D5E-9586-8E1050B6DE9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153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6BCC6-38E3-E885-4647-45DFA9235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0208"/>
            <a:ext cx="9144000" cy="28297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DCED3C-952B-C588-FC79-B1DE6A1EB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082"/>
            <a:ext cx="9144000" cy="19623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954B5D-7F6A-24A9-3E08-857B7F69D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AD9E7-7F9D-8ED5-135A-05D49B9C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F4A23-000F-CF9B-6578-3A44A880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80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8FC18-4CD3-60E8-BC59-208E1A96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2077AF-177F-743C-90AA-2E3C2708E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0961EF-0E5E-63F1-96E3-F33FAF4A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74ED4-72DD-DE8B-BF12-AF436C09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9B33E-6E97-E1BE-F3B9-C2DA221C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99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ECBE5-5D1C-3788-2641-B80E0794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357"/>
            <a:ext cx="10515600" cy="33810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EE7DAA-23E9-6A05-DBEF-D74B581AE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439364"/>
            <a:ext cx="10515600" cy="1777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D372D4-095F-22FC-C5A7-AF41F5F6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F4275-BC5D-0108-CDF2-66282D71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E68962-94AD-B362-3610-4EE3D33E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24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FC57A-40DB-F684-A668-E1451A03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F4BC4-6C8C-9F92-12A0-92AFAD6B6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18EA4C-D802-467C-B2FC-3C0E6DF28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450F9F-3E2A-E184-ACFA-17087B4A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27E4EF-D5B9-1805-359D-6F382542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6EA6FF-72B2-2105-39E9-7D51DF82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2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75816-B6F3-D068-98F8-25E7E25B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32741"/>
            <a:ext cx="10515600" cy="1571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D95078-065C-E14A-C1EB-6CF719DA3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92490"/>
            <a:ext cx="5157787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F9C82F-373D-6B52-DD63-D19E9F040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8978"/>
            <a:ext cx="5157787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555FDC-31D9-A6F6-3F3C-0B6FDE4FF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92490"/>
            <a:ext cx="5183188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E290A3-05E7-39E1-972B-159F2F701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8978"/>
            <a:ext cx="5183188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F1596B-07C5-47AB-62A1-D0D0FA42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343A8F-414D-2A76-40ED-ECF98B90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781E79-C2F8-6C7D-88F6-305F5D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39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128C7-BFCE-A6D7-B476-AD14DAC4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ABCDEB-EDD5-056A-A6DD-4B71E39F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E1E5F9-8719-0612-BDC7-4A59F7819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B41605-5B8A-C92C-2264-BC90FF75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278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2963F1-3E49-228E-C0A1-F0EE2EEC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70F6BC-A326-BD37-5FD3-F2DE7305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2A8B7B-3B1D-EA77-4AFC-7B6BBE5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90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BECCD-2118-3050-7089-35828D4C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E4706-B2B4-B6D1-17F5-C2EDDC22C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A70584-4410-6014-EB0B-61A201445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F8E2D4-68FD-785D-BA1F-D6BD9C3E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D82BC7-C328-EDE2-85D6-548FE0ED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26AC2-773E-2B34-F3D2-3F3FC265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50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64E82-2477-1FC2-07C3-BBFD33512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1CC8DD-E444-F218-C837-4A49EDB2045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6523E9-6EF8-E95E-4B3D-CBE8928EB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0D4865-43E1-3988-4B57-2ED2A523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0C1B06-A8F6-0BE6-30B2-3305129D2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68852B-45A1-3876-11A4-51486E26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17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B19B8-F877-0B92-78BC-A8FAE9A9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4F41E-3298-A5B2-CA89-DFC9EA9E9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27E17-BC95-AD9D-F5B5-E9F2B448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E9EDF4-96B3-E31F-CD1F-FCD6E21D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1064D-42BA-184C-C386-08E1ED87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087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F717A7-9269-E99E-DB04-9F5AA1EC4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32741"/>
            <a:ext cx="2628900" cy="68881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F4D34B-DD1B-E567-4A8C-FC12322D5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32741"/>
            <a:ext cx="7734300" cy="688810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CF6D6F-4D7A-951F-2AEF-A98F2CDAD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095640-E865-84B7-678C-6DFAB5E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778D50-F0EA-27C6-D233-2B307E69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77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4EA8C6-A678-E597-49FB-F1408B11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41"/>
            <a:ext cx="10515600" cy="157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58CE19-D93E-5395-B254-D5BED771C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3704"/>
            <a:ext cx="10515600" cy="515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14CD6-12B9-7870-19A6-1079623D8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E163A-B78C-4799-984E-FDA4B0834983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799ED1-C45A-3E80-8C5F-104857F93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533452"/>
            <a:ext cx="41148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A5C5E6-3D39-ACF6-6B4C-91E0AD3F1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89F90-F8AF-41D6-BF88-9045607E68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698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FA76AD74-B656-5C04-04CE-020F6B3DFB9A}"/>
              </a:ext>
            </a:extLst>
          </p:cNvPr>
          <p:cNvSpPr txBox="1"/>
          <p:nvPr/>
        </p:nvSpPr>
        <p:spPr>
          <a:xfrm>
            <a:off x="355600" y="228599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200">
                <a:solidFill>
                  <a:srgbClr val="202020"/>
                </a:solidFill>
                <a:latin typeface="Times New Roman" panose="02020603050405020304" pitchFamily="18" charset="0"/>
              </a:rPr>
              <a:t>Arm-level performance relative to the real93 baseline</a:t>
            </a:r>
            <a:endParaRPr lang="zh-CN" altLang="en-US" sz="22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_002">
            <a:extLst>
              <a:ext uri="{FF2B5EF4-FFF2-40B4-BE49-F238E27FC236}">
                <a16:creationId xmlns:a16="http://schemas.microsoft.com/office/drawing/2014/main" id="{43EAB745-62CC-85D1-8783-1972E4A08EF2}"/>
              </a:ext>
            </a:extLst>
          </p:cNvPr>
          <p:cNvSpPr txBox="1"/>
          <p:nvPr/>
        </p:nvSpPr>
        <p:spPr>
          <a:xfrm>
            <a:off x="368300" y="939799"/>
            <a:ext cx="5486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202020"/>
                </a:solidFill>
                <a:latin typeface="Times New Roman" panose="02020603050405020304" pitchFamily="18" charset="0"/>
              </a:rPr>
              <a:t>(a) Pooled OOF mAP50–95</a:t>
            </a:r>
            <a:endParaRPr lang="zh-CN" altLang="en-US" sz="17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_003">
            <a:extLst>
              <a:ext uri="{FF2B5EF4-FFF2-40B4-BE49-F238E27FC236}">
                <a16:creationId xmlns:a16="http://schemas.microsoft.com/office/drawing/2014/main" id="{71C0B936-7EFD-36AA-7A10-09E93707097D}"/>
              </a:ext>
            </a:extLst>
          </p:cNvPr>
          <p:cNvSpPr txBox="1"/>
          <p:nvPr/>
        </p:nvSpPr>
        <p:spPr>
          <a:xfrm>
            <a:off x="6438900" y="939799"/>
            <a:ext cx="5486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>
                <a:solidFill>
                  <a:srgbClr val="202020"/>
                </a:solidFill>
                <a:latin typeface="Times New Roman" panose="02020603050405020304" pitchFamily="18" charset="0"/>
              </a:rPr>
              <a:t>(b) Difference from real93</a:t>
            </a:r>
            <a:endParaRPr lang="zh-CN" altLang="en-US" sz="1700">
              <a:solidFill>
                <a:srgbClr val="20202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" name="line_004">
            <a:extLst>
              <a:ext uri="{FF2B5EF4-FFF2-40B4-BE49-F238E27FC236}">
                <a16:creationId xmlns:a16="http://schemas.microsoft.com/office/drawing/2014/main" id="{E8557739-1D5B-30E0-F734-584D1AB07C92}"/>
              </a:ext>
            </a:extLst>
          </p:cNvPr>
          <p:cNvCxnSpPr/>
          <p:nvPr/>
        </p:nvCxnSpPr>
        <p:spPr>
          <a:xfrm>
            <a:off x="1168400" y="1905000"/>
            <a:ext cx="0" cy="440690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ine_005">
            <a:extLst>
              <a:ext uri="{FF2B5EF4-FFF2-40B4-BE49-F238E27FC236}">
                <a16:creationId xmlns:a16="http://schemas.microsoft.com/office/drawing/2014/main" id="{0DCD111F-05DD-BFBA-70A8-F3366BF52EEC}"/>
              </a:ext>
            </a:extLst>
          </p:cNvPr>
          <p:cNvCxnSpPr/>
          <p:nvPr/>
        </p:nvCxnSpPr>
        <p:spPr>
          <a:xfrm>
            <a:off x="1168400" y="6311900"/>
            <a:ext cx="4356100" cy="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ne_006">
            <a:extLst>
              <a:ext uri="{FF2B5EF4-FFF2-40B4-BE49-F238E27FC236}">
                <a16:creationId xmlns:a16="http://schemas.microsoft.com/office/drawing/2014/main" id="{EFD957B6-3DDC-3467-8741-202F1131D0FE}"/>
              </a:ext>
            </a:extLst>
          </p:cNvPr>
          <p:cNvCxnSpPr/>
          <p:nvPr/>
        </p:nvCxnSpPr>
        <p:spPr>
          <a:xfrm>
            <a:off x="1117600" y="63119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_007">
            <a:extLst>
              <a:ext uri="{FF2B5EF4-FFF2-40B4-BE49-F238E27FC236}">
                <a16:creationId xmlns:a16="http://schemas.microsoft.com/office/drawing/2014/main" id="{CD2E6562-E329-B3EC-2D91-CED49518528D}"/>
              </a:ext>
            </a:extLst>
          </p:cNvPr>
          <p:cNvSpPr txBox="1"/>
          <p:nvPr/>
        </p:nvSpPr>
        <p:spPr>
          <a:xfrm>
            <a:off x="546100" y="61976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line_008">
            <a:extLst>
              <a:ext uri="{FF2B5EF4-FFF2-40B4-BE49-F238E27FC236}">
                <a16:creationId xmlns:a16="http://schemas.microsoft.com/office/drawing/2014/main" id="{74670CC8-2BA4-139F-ED8D-F00B708E53E7}"/>
              </a:ext>
            </a:extLst>
          </p:cNvPr>
          <p:cNvCxnSpPr/>
          <p:nvPr/>
        </p:nvCxnSpPr>
        <p:spPr>
          <a:xfrm>
            <a:off x="1117600" y="543052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_009">
            <a:extLst>
              <a:ext uri="{FF2B5EF4-FFF2-40B4-BE49-F238E27FC236}">
                <a16:creationId xmlns:a16="http://schemas.microsoft.com/office/drawing/2014/main" id="{8ACA82A8-6294-A408-6891-4A95AB83E2EE}"/>
              </a:ext>
            </a:extLst>
          </p:cNvPr>
          <p:cNvSpPr txBox="1"/>
          <p:nvPr/>
        </p:nvSpPr>
        <p:spPr>
          <a:xfrm>
            <a:off x="546100" y="531622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0.2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line_010">
            <a:extLst>
              <a:ext uri="{FF2B5EF4-FFF2-40B4-BE49-F238E27FC236}">
                <a16:creationId xmlns:a16="http://schemas.microsoft.com/office/drawing/2014/main" id="{B810C686-F77A-681C-8AE4-01CA11E7CCDA}"/>
              </a:ext>
            </a:extLst>
          </p:cNvPr>
          <p:cNvCxnSpPr/>
          <p:nvPr/>
        </p:nvCxnSpPr>
        <p:spPr>
          <a:xfrm>
            <a:off x="1168400" y="543052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ne_011">
            <a:extLst>
              <a:ext uri="{FF2B5EF4-FFF2-40B4-BE49-F238E27FC236}">
                <a16:creationId xmlns:a16="http://schemas.microsoft.com/office/drawing/2014/main" id="{810A23BD-89AC-DB30-CEB4-5B4D7486D798}"/>
              </a:ext>
            </a:extLst>
          </p:cNvPr>
          <p:cNvCxnSpPr/>
          <p:nvPr/>
        </p:nvCxnSpPr>
        <p:spPr>
          <a:xfrm>
            <a:off x="1117600" y="454914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_012">
            <a:extLst>
              <a:ext uri="{FF2B5EF4-FFF2-40B4-BE49-F238E27FC236}">
                <a16:creationId xmlns:a16="http://schemas.microsoft.com/office/drawing/2014/main" id="{D041FE3F-80C1-7191-DB5F-3C9569469040}"/>
              </a:ext>
            </a:extLst>
          </p:cNvPr>
          <p:cNvSpPr txBox="1"/>
          <p:nvPr/>
        </p:nvSpPr>
        <p:spPr>
          <a:xfrm>
            <a:off x="546100" y="443484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0.4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line_013">
            <a:extLst>
              <a:ext uri="{FF2B5EF4-FFF2-40B4-BE49-F238E27FC236}">
                <a16:creationId xmlns:a16="http://schemas.microsoft.com/office/drawing/2014/main" id="{937A4AB5-E8E0-6239-9D1F-0F5578A2549F}"/>
              </a:ext>
            </a:extLst>
          </p:cNvPr>
          <p:cNvCxnSpPr/>
          <p:nvPr/>
        </p:nvCxnSpPr>
        <p:spPr>
          <a:xfrm>
            <a:off x="1168400" y="454914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_014">
            <a:extLst>
              <a:ext uri="{FF2B5EF4-FFF2-40B4-BE49-F238E27FC236}">
                <a16:creationId xmlns:a16="http://schemas.microsoft.com/office/drawing/2014/main" id="{02DC5A87-5004-A49D-F6D7-BF8DDB669B7C}"/>
              </a:ext>
            </a:extLst>
          </p:cNvPr>
          <p:cNvCxnSpPr/>
          <p:nvPr/>
        </p:nvCxnSpPr>
        <p:spPr>
          <a:xfrm>
            <a:off x="1117600" y="366776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015">
            <a:extLst>
              <a:ext uri="{FF2B5EF4-FFF2-40B4-BE49-F238E27FC236}">
                <a16:creationId xmlns:a16="http://schemas.microsoft.com/office/drawing/2014/main" id="{ACBD598A-1039-F03A-2202-82A96667C824}"/>
              </a:ext>
            </a:extLst>
          </p:cNvPr>
          <p:cNvSpPr txBox="1"/>
          <p:nvPr/>
        </p:nvSpPr>
        <p:spPr>
          <a:xfrm>
            <a:off x="546100" y="355346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0.6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line_016">
            <a:extLst>
              <a:ext uri="{FF2B5EF4-FFF2-40B4-BE49-F238E27FC236}">
                <a16:creationId xmlns:a16="http://schemas.microsoft.com/office/drawing/2014/main" id="{BCD12864-3E9A-69D9-00D9-4D4C3596575B}"/>
              </a:ext>
            </a:extLst>
          </p:cNvPr>
          <p:cNvCxnSpPr/>
          <p:nvPr/>
        </p:nvCxnSpPr>
        <p:spPr>
          <a:xfrm>
            <a:off x="1168400" y="366776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ne_017">
            <a:extLst>
              <a:ext uri="{FF2B5EF4-FFF2-40B4-BE49-F238E27FC236}">
                <a16:creationId xmlns:a16="http://schemas.microsoft.com/office/drawing/2014/main" id="{E392F864-416A-F915-976D-E1A32577DCC0}"/>
              </a:ext>
            </a:extLst>
          </p:cNvPr>
          <p:cNvCxnSpPr/>
          <p:nvPr/>
        </p:nvCxnSpPr>
        <p:spPr>
          <a:xfrm>
            <a:off x="1117600" y="278638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_018">
            <a:extLst>
              <a:ext uri="{FF2B5EF4-FFF2-40B4-BE49-F238E27FC236}">
                <a16:creationId xmlns:a16="http://schemas.microsoft.com/office/drawing/2014/main" id="{50B408B4-EAB2-9740-2953-B7C3F94F4060}"/>
              </a:ext>
            </a:extLst>
          </p:cNvPr>
          <p:cNvSpPr txBox="1"/>
          <p:nvPr/>
        </p:nvSpPr>
        <p:spPr>
          <a:xfrm>
            <a:off x="546100" y="267208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0.8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0" name="line_019">
            <a:extLst>
              <a:ext uri="{FF2B5EF4-FFF2-40B4-BE49-F238E27FC236}">
                <a16:creationId xmlns:a16="http://schemas.microsoft.com/office/drawing/2014/main" id="{6D07E3D2-B46B-2F36-ABB3-CF49E8DB12E8}"/>
              </a:ext>
            </a:extLst>
          </p:cNvPr>
          <p:cNvCxnSpPr/>
          <p:nvPr/>
        </p:nvCxnSpPr>
        <p:spPr>
          <a:xfrm>
            <a:off x="1168400" y="278638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ne_020">
            <a:extLst>
              <a:ext uri="{FF2B5EF4-FFF2-40B4-BE49-F238E27FC236}">
                <a16:creationId xmlns:a16="http://schemas.microsoft.com/office/drawing/2014/main" id="{8467DB4B-3B12-4DFD-B9B3-A7DCD41C9AFF}"/>
              </a:ext>
            </a:extLst>
          </p:cNvPr>
          <p:cNvCxnSpPr/>
          <p:nvPr/>
        </p:nvCxnSpPr>
        <p:spPr>
          <a:xfrm>
            <a:off x="1117600" y="1905000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_021">
            <a:extLst>
              <a:ext uri="{FF2B5EF4-FFF2-40B4-BE49-F238E27FC236}">
                <a16:creationId xmlns:a16="http://schemas.microsoft.com/office/drawing/2014/main" id="{038E9D94-2765-10F9-9005-DC788323D0EC}"/>
              </a:ext>
            </a:extLst>
          </p:cNvPr>
          <p:cNvSpPr txBox="1"/>
          <p:nvPr/>
        </p:nvSpPr>
        <p:spPr>
          <a:xfrm>
            <a:off x="546100" y="1790700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1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23" name="line_022">
            <a:extLst>
              <a:ext uri="{FF2B5EF4-FFF2-40B4-BE49-F238E27FC236}">
                <a16:creationId xmlns:a16="http://schemas.microsoft.com/office/drawing/2014/main" id="{5D713DAF-964E-E792-80D9-A67BAB5D25AF}"/>
              </a:ext>
            </a:extLst>
          </p:cNvPr>
          <p:cNvCxnSpPr/>
          <p:nvPr/>
        </p:nvCxnSpPr>
        <p:spPr>
          <a:xfrm>
            <a:off x="1168400" y="1905000"/>
            <a:ext cx="43561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_023">
            <a:extLst>
              <a:ext uri="{FF2B5EF4-FFF2-40B4-BE49-F238E27FC236}">
                <a16:creationId xmlns:a16="http://schemas.microsoft.com/office/drawing/2014/main" id="{CE2ECF3F-C4E3-19AF-65B8-CCBEB758D889}"/>
              </a:ext>
            </a:extLst>
          </p:cNvPr>
          <p:cNvSpPr txBox="1"/>
          <p:nvPr/>
        </p:nvSpPr>
        <p:spPr>
          <a:xfrm>
            <a:off x="279400" y="3028949"/>
            <a:ext cx="292100" cy="2159000"/>
          </a:xfrm>
          <a:prstGeom prst="rect">
            <a:avLst/>
          </a:prstGeom>
          <a:noFill/>
        </p:spPr>
        <p:txBody>
          <a:bodyPr vert="vert" wrap="square" lIns="0" tIns="0" rIns="0" bIns="0" rtlCol="0" anchor="ctr">
            <a:noAutofit/>
          </a:bodyPr>
          <a:lstStyle/>
          <a:p>
            <a:pPr algn="ctr"/>
            <a:r>
              <a:rPr lang="en-US" altLang="zh-CN" sz="1100">
                <a:solidFill>
                  <a:srgbClr val="202020"/>
                </a:solidFill>
                <a:latin typeface="Arial" panose="020B0604020202020204" pitchFamily="34" charset="0"/>
              </a:rPr>
              <a:t>mAP50–95</a:t>
            </a:r>
            <a:endParaRPr lang="zh-CN" altLang="en-US" sz="11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_024">
            <a:extLst>
              <a:ext uri="{FF2B5EF4-FFF2-40B4-BE49-F238E27FC236}">
                <a16:creationId xmlns:a16="http://schemas.microsoft.com/office/drawing/2014/main" id="{8CD498D1-E247-03B9-BE43-86B5FFCF73D7}"/>
              </a:ext>
            </a:extLst>
          </p:cNvPr>
          <p:cNvSpPr/>
          <p:nvPr/>
        </p:nvSpPr>
        <p:spPr>
          <a:xfrm>
            <a:off x="1397000" y="4407939"/>
            <a:ext cx="558800" cy="1903961"/>
          </a:xfrm>
          <a:prstGeom prst="rect">
            <a:avLst/>
          </a:prstGeom>
          <a:solidFill>
            <a:srgbClr val="4A667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_025">
            <a:extLst>
              <a:ext uri="{FF2B5EF4-FFF2-40B4-BE49-F238E27FC236}">
                <a16:creationId xmlns:a16="http://schemas.microsoft.com/office/drawing/2014/main" id="{7272DCAD-01DE-EFFE-BDA7-8D3F6E4C871D}"/>
              </a:ext>
            </a:extLst>
          </p:cNvPr>
          <p:cNvSpPr txBox="1"/>
          <p:nvPr/>
        </p:nvSpPr>
        <p:spPr>
          <a:xfrm>
            <a:off x="1231900" y="4065039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0.432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_026">
            <a:extLst>
              <a:ext uri="{FF2B5EF4-FFF2-40B4-BE49-F238E27FC236}">
                <a16:creationId xmlns:a16="http://schemas.microsoft.com/office/drawing/2014/main" id="{0C9EED4B-C928-17BA-551E-EA819664F76A}"/>
              </a:ext>
            </a:extLst>
          </p:cNvPr>
          <p:cNvSpPr txBox="1"/>
          <p:nvPr/>
        </p:nvSpPr>
        <p:spPr>
          <a:xfrm>
            <a:off x="1206500" y="64516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A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_027">
            <a:extLst>
              <a:ext uri="{FF2B5EF4-FFF2-40B4-BE49-F238E27FC236}">
                <a16:creationId xmlns:a16="http://schemas.microsoft.com/office/drawing/2014/main" id="{2842A69E-C8F2-BE97-BB94-D6DC8836BF97}"/>
              </a:ext>
            </a:extLst>
          </p:cNvPr>
          <p:cNvSpPr txBox="1"/>
          <p:nvPr/>
        </p:nvSpPr>
        <p:spPr>
          <a:xfrm>
            <a:off x="1181100" y="6794499"/>
            <a:ext cx="990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93 real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_028">
            <a:extLst>
              <a:ext uri="{FF2B5EF4-FFF2-40B4-BE49-F238E27FC236}">
                <a16:creationId xmlns:a16="http://schemas.microsoft.com/office/drawing/2014/main" id="{380FDA3F-BC55-4F2B-2E78-48A308438D34}"/>
              </a:ext>
            </a:extLst>
          </p:cNvPr>
          <p:cNvSpPr/>
          <p:nvPr/>
        </p:nvSpPr>
        <p:spPr>
          <a:xfrm>
            <a:off x="2438400" y="4836183"/>
            <a:ext cx="558800" cy="1475717"/>
          </a:xfrm>
          <a:prstGeom prst="rect">
            <a:avLst/>
          </a:prstGeom>
          <a:solidFill>
            <a:srgbClr val="AD81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_029">
            <a:extLst>
              <a:ext uri="{FF2B5EF4-FFF2-40B4-BE49-F238E27FC236}">
                <a16:creationId xmlns:a16="http://schemas.microsoft.com/office/drawing/2014/main" id="{665B6D20-EC60-F82A-C582-5722E14EFE86}"/>
              </a:ext>
            </a:extLst>
          </p:cNvPr>
          <p:cNvSpPr txBox="1"/>
          <p:nvPr/>
        </p:nvSpPr>
        <p:spPr>
          <a:xfrm>
            <a:off x="2273300" y="4493283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0.335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_030">
            <a:extLst>
              <a:ext uri="{FF2B5EF4-FFF2-40B4-BE49-F238E27FC236}">
                <a16:creationId xmlns:a16="http://schemas.microsoft.com/office/drawing/2014/main" id="{9467039F-5BBF-8851-D755-186EDA1D4B4B}"/>
              </a:ext>
            </a:extLst>
          </p:cNvPr>
          <p:cNvSpPr txBox="1"/>
          <p:nvPr/>
        </p:nvSpPr>
        <p:spPr>
          <a:xfrm>
            <a:off x="2247900" y="64516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B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_031">
            <a:extLst>
              <a:ext uri="{FF2B5EF4-FFF2-40B4-BE49-F238E27FC236}">
                <a16:creationId xmlns:a16="http://schemas.microsoft.com/office/drawing/2014/main" id="{D276D2C5-E8FC-2D2B-3E84-8DA0A868D638}"/>
              </a:ext>
            </a:extLst>
          </p:cNvPr>
          <p:cNvSpPr txBox="1"/>
          <p:nvPr/>
        </p:nvSpPr>
        <p:spPr>
          <a:xfrm>
            <a:off x="2222500" y="6794499"/>
            <a:ext cx="990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1,085 aug.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33" name="rect_032">
            <a:extLst>
              <a:ext uri="{FF2B5EF4-FFF2-40B4-BE49-F238E27FC236}">
                <a16:creationId xmlns:a16="http://schemas.microsoft.com/office/drawing/2014/main" id="{0FCC2FAF-927C-8230-FBB2-71B6B4FF5AF3}"/>
              </a:ext>
            </a:extLst>
          </p:cNvPr>
          <p:cNvSpPr/>
          <p:nvPr/>
        </p:nvSpPr>
        <p:spPr>
          <a:xfrm>
            <a:off x="3479800" y="3478717"/>
            <a:ext cx="558800" cy="2833183"/>
          </a:xfrm>
          <a:prstGeom prst="rect">
            <a:avLst/>
          </a:prstGeom>
          <a:solidFill>
            <a:srgbClr val="377D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text_033">
            <a:extLst>
              <a:ext uri="{FF2B5EF4-FFF2-40B4-BE49-F238E27FC236}">
                <a16:creationId xmlns:a16="http://schemas.microsoft.com/office/drawing/2014/main" id="{695BB75F-AD0A-CC7A-E19E-F21499B72AF3}"/>
              </a:ext>
            </a:extLst>
          </p:cNvPr>
          <p:cNvSpPr txBox="1"/>
          <p:nvPr/>
        </p:nvSpPr>
        <p:spPr>
          <a:xfrm>
            <a:off x="3314700" y="3135817"/>
            <a:ext cx="88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0.643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_034">
            <a:extLst>
              <a:ext uri="{FF2B5EF4-FFF2-40B4-BE49-F238E27FC236}">
                <a16:creationId xmlns:a16="http://schemas.microsoft.com/office/drawing/2014/main" id="{74B8A800-781E-D310-FB1E-3ED14AB35E2E}"/>
              </a:ext>
            </a:extLst>
          </p:cNvPr>
          <p:cNvSpPr txBox="1"/>
          <p:nvPr/>
        </p:nvSpPr>
        <p:spPr>
          <a:xfrm>
            <a:off x="3289300" y="64516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C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_035">
            <a:extLst>
              <a:ext uri="{FF2B5EF4-FFF2-40B4-BE49-F238E27FC236}">
                <a16:creationId xmlns:a16="http://schemas.microsoft.com/office/drawing/2014/main" id="{F35EADFB-9016-0F02-46EF-83772E78351D}"/>
              </a:ext>
            </a:extLst>
          </p:cNvPr>
          <p:cNvSpPr txBox="1"/>
          <p:nvPr/>
        </p:nvSpPr>
        <p:spPr>
          <a:xfrm>
            <a:off x="3263900" y="6794499"/>
            <a:ext cx="990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1,085 edits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_036">
            <a:extLst>
              <a:ext uri="{FF2B5EF4-FFF2-40B4-BE49-F238E27FC236}">
                <a16:creationId xmlns:a16="http://schemas.microsoft.com/office/drawing/2014/main" id="{2F7197F8-370D-50C0-723F-432750EC6157}"/>
              </a:ext>
            </a:extLst>
          </p:cNvPr>
          <p:cNvSpPr txBox="1"/>
          <p:nvPr/>
        </p:nvSpPr>
        <p:spPr>
          <a:xfrm>
            <a:off x="4330700" y="5206999"/>
            <a:ext cx="93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i="1">
                <a:solidFill>
                  <a:srgbClr val="626262"/>
                </a:solidFill>
                <a:latin typeface="Arial" panose="020B0604020202020204" pitchFamily="34" charset="0"/>
              </a:rPr>
              <a:t>Pending</a:t>
            </a:r>
            <a:endParaRPr lang="zh-CN" altLang="en-US" sz="1100" i="1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_037">
            <a:extLst>
              <a:ext uri="{FF2B5EF4-FFF2-40B4-BE49-F238E27FC236}">
                <a16:creationId xmlns:a16="http://schemas.microsoft.com/office/drawing/2014/main" id="{3185ACD2-E175-7B83-C63D-5EEE446A9D6B}"/>
              </a:ext>
            </a:extLst>
          </p:cNvPr>
          <p:cNvSpPr txBox="1"/>
          <p:nvPr/>
        </p:nvSpPr>
        <p:spPr>
          <a:xfrm>
            <a:off x="4330700" y="6451600"/>
            <a:ext cx="939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202020"/>
                </a:solidFill>
                <a:latin typeface="Arial" panose="020B0604020202020204" pitchFamily="34" charset="0"/>
              </a:rPr>
              <a:t>D</a:t>
            </a:r>
            <a:endParaRPr lang="zh-CN" altLang="en-US" sz="1200" b="1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_038">
            <a:extLst>
              <a:ext uri="{FF2B5EF4-FFF2-40B4-BE49-F238E27FC236}">
                <a16:creationId xmlns:a16="http://schemas.microsoft.com/office/drawing/2014/main" id="{84A98C26-4861-6546-7C41-ABC98223D0BE}"/>
              </a:ext>
            </a:extLst>
          </p:cNvPr>
          <p:cNvSpPr txBox="1"/>
          <p:nvPr/>
        </p:nvSpPr>
        <p:spPr>
          <a:xfrm>
            <a:off x="4305300" y="6794499"/>
            <a:ext cx="990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1,085 target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cxnSp>
        <p:nvCxnSpPr>
          <p:cNvPr id="40" name="line_039">
            <a:extLst>
              <a:ext uri="{FF2B5EF4-FFF2-40B4-BE49-F238E27FC236}">
                <a16:creationId xmlns:a16="http://schemas.microsoft.com/office/drawing/2014/main" id="{8E2BABF2-7546-6747-B953-E4D6138A46A4}"/>
              </a:ext>
            </a:extLst>
          </p:cNvPr>
          <p:cNvCxnSpPr/>
          <p:nvPr/>
        </p:nvCxnSpPr>
        <p:spPr>
          <a:xfrm>
            <a:off x="7175500" y="1905000"/>
            <a:ext cx="0" cy="440690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ine_040">
            <a:extLst>
              <a:ext uri="{FF2B5EF4-FFF2-40B4-BE49-F238E27FC236}">
                <a16:creationId xmlns:a16="http://schemas.microsoft.com/office/drawing/2014/main" id="{05CB4586-E7CC-7AEB-4FD7-DAED4C172B3F}"/>
              </a:ext>
            </a:extLst>
          </p:cNvPr>
          <p:cNvCxnSpPr/>
          <p:nvPr/>
        </p:nvCxnSpPr>
        <p:spPr>
          <a:xfrm>
            <a:off x="7175500" y="6311900"/>
            <a:ext cx="4572000" cy="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ne_041">
            <a:extLst>
              <a:ext uri="{FF2B5EF4-FFF2-40B4-BE49-F238E27FC236}">
                <a16:creationId xmlns:a16="http://schemas.microsoft.com/office/drawing/2014/main" id="{581120CE-F920-F90B-EE47-9B6A289C2DBE}"/>
              </a:ext>
            </a:extLst>
          </p:cNvPr>
          <p:cNvCxnSpPr/>
          <p:nvPr/>
        </p:nvCxnSpPr>
        <p:spPr>
          <a:xfrm>
            <a:off x="7124700" y="5944658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_042">
            <a:extLst>
              <a:ext uri="{FF2B5EF4-FFF2-40B4-BE49-F238E27FC236}">
                <a16:creationId xmlns:a16="http://schemas.microsoft.com/office/drawing/2014/main" id="{9FF5F98C-6412-3D24-90E2-1439DD3339E1}"/>
              </a:ext>
            </a:extLst>
          </p:cNvPr>
          <p:cNvSpPr txBox="1"/>
          <p:nvPr/>
        </p:nvSpPr>
        <p:spPr>
          <a:xfrm>
            <a:off x="6553200" y="5830358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-0.2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44" name="line_043">
            <a:extLst>
              <a:ext uri="{FF2B5EF4-FFF2-40B4-BE49-F238E27FC236}">
                <a16:creationId xmlns:a16="http://schemas.microsoft.com/office/drawing/2014/main" id="{C7E2F326-013D-C98F-6EE1-78BB48EA369E}"/>
              </a:ext>
            </a:extLst>
          </p:cNvPr>
          <p:cNvCxnSpPr/>
          <p:nvPr/>
        </p:nvCxnSpPr>
        <p:spPr>
          <a:xfrm>
            <a:off x="7175500" y="5944658"/>
            <a:ext cx="45720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_044">
            <a:extLst>
              <a:ext uri="{FF2B5EF4-FFF2-40B4-BE49-F238E27FC236}">
                <a16:creationId xmlns:a16="http://schemas.microsoft.com/office/drawing/2014/main" id="{44DEB466-1CF2-EF4A-6018-456FA1A2F688}"/>
              </a:ext>
            </a:extLst>
          </p:cNvPr>
          <p:cNvCxnSpPr/>
          <p:nvPr/>
        </p:nvCxnSpPr>
        <p:spPr>
          <a:xfrm>
            <a:off x="7124700" y="5210175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_045">
            <a:extLst>
              <a:ext uri="{FF2B5EF4-FFF2-40B4-BE49-F238E27FC236}">
                <a16:creationId xmlns:a16="http://schemas.microsoft.com/office/drawing/2014/main" id="{13C53FF6-57B5-E855-BF5A-E88C5C9AE487}"/>
              </a:ext>
            </a:extLst>
          </p:cNvPr>
          <p:cNvSpPr txBox="1"/>
          <p:nvPr/>
        </p:nvSpPr>
        <p:spPr>
          <a:xfrm>
            <a:off x="6553200" y="5095875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-0.1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47" name="line_046">
            <a:extLst>
              <a:ext uri="{FF2B5EF4-FFF2-40B4-BE49-F238E27FC236}">
                <a16:creationId xmlns:a16="http://schemas.microsoft.com/office/drawing/2014/main" id="{3047BDD3-690B-8E25-2BDC-F5CCD75FFCDD}"/>
              </a:ext>
            </a:extLst>
          </p:cNvPr>
          <p:cNvCxnSpPr/>
          <p:nvPr/>
        </p:nvCxnSpPr>
        <p:spPr>
          <a:xfrm>
            <a:off x="7175500" y="5210175"/>
            <a:ext cx="45720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ne_047">
            <a:extLst>
              <a:ext uri="{FF2B5EF4-FFF2-40B4-BE49-F238E27FC236}">
                <a16:creationId xmlns:a16="http://schemas.microsoft.com/office/drawing/2014/main" id="{7BD993C7-4917-603E-6ABB-398226A1C053}"/>
              </a:ext>
            </a:extLst>
          </p:cNvPr>
          <p:cNvCxnSpPr/>
          <p:nvPr/>
        </p:nvCxnSpPr>
        <p:spPr>
          <a:xfrm>
            <a:off x="7124700" y="4475692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_048">
            <a:extLst>
              <a:ext uri="{FF2B5EF4-FFF2-40B4-BE49-F238E27FC236}">
                <a16:creationId xmlns:a16="http://schemas.microsoft.com/office/drawing/2014/main" id="{DFEFAAD4-403A-DA95-941A-68FBE9463F7B}"/>
              </a:ext>
            </a:extLst>
          </p:cNvPr>
          <p:cNvSpPr txBox="1"/>
          <p:nvPr/>
        </p:nvSpPr>
        <p:spPr>
          <a:xfrm>
            <a:off x="6553200" y="4361392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0" name="line_049">
            <a:extLst>
              <a:ext uri="{FF2B5EF4-FFF2-40B4-BE49-F238E27FC236}">
                <a16:creationId xmlns:a16="http://schemas.microsoft.com/office/drawing/2014/main" id="{1A0EA48D-00D5-DEA7-38C4-98BF288213FE}"/>
              </a:ext>
            </a:extLst>
          </p:cNvPr>
          <p:cNvCxnSpPr/>
          <p:nvPr/>
        </p:nvCxnSpPr>
        <p:spPr>
          <a:xfrm>
            <a:off x="7124700" y="3741208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_050">
            <a:extLst>
              <a:ext uri="{FF2B5EF4-FFF2-40B4-BE49-F238E27FC236}">
                <a16:creationId xmlns:a16="http://schemas.microsoft.com/office/drawing/2014/main" id="{E4EB74C4-F659-CA48-5ED5-C97C0AE775A2}"/>
              </a:ext>
            </a:extLst>
          </p:cNvPr>
          <p:cNvSpPr txBox="1"/>
          <p:nvPr/>
        </p:nvSpPr>
        <p:spPr>
          <a:xfrm>
            <a:off x="6553200" y="3626908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0.1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2" name="line_051">
            <a:extLst>
              <a:ext uri="{FF2B5EF4-FFF2-40B4-BE49-F238E27FC236}">
                <a16:creationId xmlns:a16="http://schemas.microsoft.com/office/drawing/2014/main" id="{948FC0D4-661D-0982-6E69-08D1A018821E}"/>
              </a:ext>
            </a:extLst>
          </p:cNvPr>
          <p:cNvCxnSpPr/>
          <p:nvPr/>
        </p:nvCxnSpPr>
        <p:spPr>
          <a:xfrm>
            <a:off x="7175500" y="3741208"/>
            <a:ext cx="45720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_052">
            <a:extLst>
              <a:ext uri="{FF2B5EF4-FFF2-40B4-BE49-F238E27FC236}">
                <a16:creationId xmlns:a16="http://schemas.microsoft.com/office/drawing/2014/main" id="{CF5A9D2F-0122-3B32-44C3-50AEB76FAE0F}"/>
              </a:ext>
            </a:extLst>
          </p:cNvPr>
          <p:cNvCxnSpPr/>
          <p:nvPr/>
        </p:nvCxnSpPr>
        <p:spPr>
          <a:xfrm>
            <a:off x="7124700" y="3006725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_053">
            <a:extLst>
              <a:ext uri="{FF2B5EF4-FFF2-40B4-BE49-F238E27FC236}">
                <a16:creationId xmlns:a16="http://schemas.microsoft.com/office/drawing/2014/main" id="{78CADF15-14F2-03EE-92EA-D4931392CEA8}"/>
              </a:ext>
            </a:extLst>
          </p:cNvPr>
          <p:cNvSpPr txBox="1"/>
          <p:nvPr/>
        </p:nvSpPr>
        <p:spPr>
          <a:xfrm>
            <a:off x="6553200" y="2892425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0.2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5" name="line_054">
            <a:extLst>
              <a:ext uri="{FF2B5EF4-FFF2-40B4-BE49-F238E27FC236}">
                <a16:creationId xmlns:a16="http://schemas.microsoft.com/office/drawing/2014/main" id="{D55417AA-0916-9C9E-55B9-A7067CE93493}"/>
              </a:ext>
            </a:extLst>
          </p:cNvPr>
          <p:cNvCxnSpPr/>
          <p:nvPr/>
        </p:nvCxnSpPr>
        <p:spPr>
          <a:xfrm>
            <a:off x="7175500" y="3006725"/>
            <a:ext cx="45720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ne_055">
            <a:extLst>
              <a:ext uri="{FF2B5EF4-FFF2-40B4-BE49-F238E27FC236}">
                <a16:creationId xmlns:a16="http://schemas.microsoft.com/office/drawing/2014/main" id="{C2C7B696-1D63-CD3D-91B6-C2F1CF294C92}"/>
              </a:ext>
            </a:extLst>
          </p:cNvPr>
          <p:cNvCxnSpPr/>
          <p:nvPr/>
        </p:nvCxnSpPr>
        <p:spPr>
          <a:xfrm>
            <a:off x="7124700" y="2272242"/>
            <a:ext cx="50800" cy="0"/>
          </a:xfrm>
          <a:prstGeom prst="line">
            <a:avLst/>
          </a:prstGeom>
          <a:ln w="762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_056">
            <a:extLst>
              <a:ext uri="{FF2B5EF4-FFF2-40B4-BE49-F238E27FC236}">
                <a16:creationId xmlns:a16="http://schemas.microsoft.com/office/drawing/2014/main" id="{20F9AE24-E1B2-AE04-585F-AEAE9DE58974}"/>
              </a:ext>
            </a:extLst>
          </p:cNvPr>
          <p:cNvSpPr txBox="1"/>
          <p:nvPr/>
        </p:nvSpPr>
        <p:spPr>
          <a:xfrm>
            <a:off x="6553200" y="2157942"/>
            <a:ext cx="495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050">
                <a:solidFill>
                  <a:srgbClr val="202020"/>
                </a:solidFill>
                <a:latin typeface="Arial" panose="020B0604020202020204" pitchFamily="34" charset="0"/>
              </a:rPr>
              <a:t>0.3</a:t>
            </a:r>
            <a:endParaRPr lang="zh-CN" altLang="en-US" sz="10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58" name="line_057">
            <a:extLst>
              <a:ext uri="{FF2B5EF4-FFF2-40B4-BE49-F238E27FC236}">
                <a16:creationId xmlns:a16="http://schemas.microsoft.com/office/drawing/2014/main" id="{05FAC2F2-FE53-B6E4-C5B6-D93E382864C7}"/>
              </a:ext>
            </a:extLst>
          </p:cNvPr>
          <p:cNvCxnSpPr/>
          <p:nvPr/>
        </p:nvCxnSpPr>
        <p:spPr>
          <a:xfrm>
            <a:off x="7175500" y="2272242"/>
            <a:ext cx="4572000" cy="0"/>
          </a:xfrm>
          <a:prstGeom prst="line">
            <a:avLst/>
          </a:prstGeom>
          <a:ln w="4445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_058">
            <a:extLst>
              <a:ext uri="{FF2B5EF4-FFF2-40B4-BE49-F238E27FC236}">
                <a16:creationId xmlns:a16="http://schemas.microsoft.com/office/drawing/2014/main" id="{887F3721-BB5F-9969-E3BB-D56D27B0F4B3}"/>
              </a:ext>
            </a:extLst>
          </p:cNvPr>
          <p:cNvSpPr txBox="1"/>
          <p:nvPr/>
        </p:nvSpPr>
        <p:spPr>
          <a:xfrm>
            <a:off x="6286500" y="3028949"/>
            <a:ext cx="292100" cy="2159000"/>
          </a:xfrm>
          <a:prstGeom prst="rect">
            <a:avLst/>
          </a:prstGeom>
          <a:noFill/>
        </p:spPr>
        <p:txBody>
          <a:bodyPr vert="vert" wrap="square" lIns="0" tIns="0" rIns="0" bIns="0" rtlCol="0" anchor="ctr">
            <a:noAutofit/>
          </a:bodyPr>
          <a:lstStyle/>
          <a:p>
            <a:pPr algn="ctr"/>
            <a:r>
              <a:rPr lang="el-GR" altLang="zh-CN" sz="1100">
                <a:solidFill>
                  <a:srgbClr val="202020"/>
                </a:solidFill>
                <a:latin typeface="Arial" panose="020B0604020202020204" pitchFamily="34" charset="0"/>
              </a:rPr>
              <a:t>Δ </a:t>
            </a:r>
            <a:r>
              <a:rPr lang="en-US" altLang="zh-CN" sz="1100">
                <a:solidFill>
                  <a:srgbClr val="202020"/>
                </a:solidFill>
                <a:latin typeface="Arial" panose="020B0604020202020204" pitchFamily="34" charset="0"/>
              </a:rPr>
              <a:t>mAP50–95</a:t>
            </a:r>
            <a:endParaRPr lang="zh-CN" altLang="en-US" sz="11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cxnSp>
        <p:nvCxnSpPr>
          <p:cNvPr id="60" name="line_059">
            <a:extLst>
              <a:ext uri="{FF2B5EF4-FFF2-40B4-BE49-F238E27FC236}">
                <a16:creationId xmlns:a16="http://schemas.microsoft.com/office/drawing/2014/main" id="{A8715FBF-9B95-6696-E607-76671B0C3DA6}"/>
              </a:ext>
            </a:extLst>
          </p:cNvPr>
          <p:cNvCxnSpPr/>
          <p:nvPr/>
        </p:nvCxnSpPr>
        <p:spPr>
          <a:xfrm>
            <a:off x="7175500" y="4475692"/>
            <a:ext cx="4572000" cy="0"/>
          </a:xfrm>
          <a:prstGeom prst="line">
            <a:avLst/>
          </a:prstGeom>
          <a:ln w="1016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_060">
            <a:extLst>
              <a:ext uri="{FF2B5EF4-FFF2-40B4-BE49-F238E27FC236}">
                <a16:creationId xmlns:a16="http://schemas.microsoft.com/office/drawing/2014/main" id="{A679C5B7-85A5-7496-C17E-835976326700}"/>
              </a:ext>
            </a:extLst>
          </p:cNvPr>
          <p:cNvSpPr/>
          <p:nvPr/>
        </p:nvSpPr>
        <p:spPr>
          <a:xfrm>
            <a:off x="7696200" y="4475692"/>
            <a:ext cx="609600" cy="713741"/>
          </a:xfrm>
          <a:prstGeom prst="rect">
            <a:avLst/>
          </a:prstGeom>
          <a:solidFill>
            <a:srgbClr val="AD81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line_061">
            <a:extLst>
              <a:ext uri="{FF2B5EF4-FFF2-40B4-BE49-F238E27FC236}">
                <a16:creationId xmlns:a16="http://schemas.microsoft.com/office/drawing/2014/main" id="{2E8623D9-9AC9-F2E5-5031-6DDBAADA5F41}"/>
              </a:ext>
            </a:extLst>
          </p:cNvPr>
          <p:cNvCxnSpPr/>
          <p:nvPr/>
        </p:nvCxnSpPr>
        <p:spPr>
          <a:xfrm flipV="1">
            <a:off x="8001000" y="4353092"/>
            <a:ext cx="0" cy="1566946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line_062">
            <a:extLst>
              <a:ext uri="{FF2B5EF4-FFF2-40B4-BE49-F238E27FC236}">
                <a16:creationId xmlns:a16="http://schemas.microsoft.com/office/drawing/2014/main" id="{CD6852F1-60AD-B73D-7ED1-EF91019846D3}"/>
              </a:ext>
            </a:extLst>
          </p:cNvPr>
          <p:cNvCxnSpPr/>
          <p:nvPr/>
        </p:nvCxnSpPr>
        <p:spPr>
          <a:xfrm>
            <a:off x="7899400" y="5920038"/>
            <a:ext cx="203200" cy="0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ine_063">
            <a:extLst>
              <a:ext uri="{FF2B5EF4-FFF2-40B4-BE49-F238E27FC236}">
                <a16:creationId xmlns:a16="http://schemas.microsoft.com/office/drawing/2014/main" id="{E0B1F996-3423-162D-CE64-BE9B5D39EF08}"/>
              </a:ext>
            </a:extLst>
          </p:cNvPr>
          <p:cNvCxnSpPr/>
          <p:nvPr/>
        </p:nvCxnSpPr>
        <p:spPr>
          <a:xfrm>
            <a:off x="7899400" y="4353092"/>
            <a:ext cx="203200" cy="0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_064">
            <a:extLst>
              <a:ext uri="{FF2B5EF4-FFF2-40B4-BE49-F238E27FC236}">
                <a16:creationId xmlns:a16="http://schemas.microsoft.com/office/drawing/2014/main" id="{3217E006-A465-9582-156A-533ED56CAA50}"/>
              </a:ext>
            </a:extLst>
          </p:cNvPr>
          <p:cNvSpPr txBox="1"/>
          <p:nvPr/>
        </p:nvSpPr>
        <p:spPr>
          <a:xfrm>
            <a:off x="7378700" y="6021637"/>
            <a:ext cx="1244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-0.097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66" name="text_065">
            <a:extLst>
              <a:ext uri="{FF2B5EF4-FFF2-40B4-BE49-F238E27FC236}">
                <a16:creationId xmlns:a16="http://schemas.microsoft.com/office/drawing/2014/main" id="{223FA088-E650-B6C3-BEDB-E4412B3600B1}"/>
              </a:ext>
            </a:extLst>
          </p:cNvPr>
          <p:cNvSpPr txBox="1"/>
          <p:nvPr/>
        </p:nvSpPr>
        <p:spPr>
          <a:xfrm>
            <a:off x="7378700" y="6451599"/>
            <a:ext cx="1244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B − A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67" name="rect_066">
            <a:extLst>
              <a:ext uri="{FF2B5EF4-FFF2-40B4-BE49-F238E27FC236}">
                <a16:creationId xmlns:a16="http://schemas.microsoft.com/office/drawing/2014/main" id="{8F19751C-ED16-0AD8-A5FB-63BD70091C7D}"/>
              </a:ext>
            </a:extLst>
          </p:cNvPr>
          <p:cNvSpPr/>
          <p:nvPr/>
        </p:nvSpPr>
        <p:spPr>
          <a:xfrm>
            <a:off x="9156700" y="2926990"/>
            <a:ext cx="609600" cy="1548702"/>
          </a:xfrm>
          <a:prstGeom prst="rect">
            <a:avLst/>
          </a:prstGeom>
          <a:solidFill>
            <a:srgbClr val="377D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line_067">
            <a:extLst>
              <a:ext uri="{FF2B5EF4-FFF2-40B4-BE49-F238E27FC236}">
                <a16:creationId xmlns:a16="http://schemas.microsoft.com/office/drawing/2014/main" id="{CE68408C-D083-944D-2C0F-B29F1643F69C}"/>
              </a:ext>
            </a:extLst>
          </p:cNvPr>
          <p:cNvCxnSpPr/>
          <p:nvPr/>
        </p:nvCxnSpPr>
        <p:spPr>
          <a:xfrm flipV="1">
            <a:off x="9461500" y="2124515"/>
            <a:ext cx="0" cy="1528688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ine_068">
            <a:extLst>
              <a:ext uri="{FF2B5EF4-FFF2-40B4-BE49-F238E27FC236}">
                <a16:creationId xmlns:a16="http://schemas.microsoft.com/office/drawing/2014/main" id="{AB7B53FA-8AB3-F6CF-329F-EBF08FF651E5}"/>
              </a:ext>
            </a:extLst>
          </p:cNvPr>
          <p:cNvCxnSpPr/>
          <p:nvPr/>
        </p:nvCxnSpPr>
        <p:spPr>
          <a:xfrm>
            <a:off x="9359900" y="3653203"/>
            <a:ext cx="203200" cy="0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ne_069">
            <a:extLst>
              <a:ext uri="{FF2B5EF4-FFF2-40B4-BE49-F238E27FC236}">
                <a16:creationId xmlns:a16="http://schemas.microsoft.com/office/drawing/2014/main" id="{C98E3BAA-A961-EB5B-94FF-684DBF64CE40}"/>
              </a:ext>
            </a:extLst>
          </p:cNvPr>
          <p:cNvCxnSpPr/>
          <p:nvPr/>
        </p:nvCxnSpPr>
        <p:spPr>
          <a:xfrm>
            <a:off x="9359900" y="2124515"/>
            <a:ext cx="203200" cy="0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_070">
            <a:extLst>
              <a:ext uri="{FF2B5EF4-FFF2-40B4-BE49-F238E27FC236}">
                <a16:creationId xmlns:a16="http://schemas.microsoft.com/office/drawing/2014/main" id="{FA4CA413-2EC4-FBB3-AC72-B6480166207C}"/>
              </a:ext>
            </a:extLst>
          </p:cNvPr>
          <p:cNvSpPr txBox="1"/>
          <p:nvPr/>
        </p:nvSpPr>
        <p:spPr>
          <a:xfrm>
            <a:off x="8839200" y="1819714"/>
            <a:ext cx="1244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+0.211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2" name="text_071">
            <a:extLst>
              <a:ext uri="{FF2B5EF4-FFF2-40B4-BE49-F238E27FC236}">
                <a16:creationId xmlns:a16="http://schemas.microsoft.com/office/drawing/2014/main" id="{4190AB6E-63C7-88F8-99DA-4B8478358330}"/>
              </a:ext>
            </a:extLst>
          </p:cNvPr>
          <p:cNvSpPr txBox="1"/>
          <p:nvPr/>
        </p:nvSpPr>
        <p:spPr>
          <a:xfrm>
            <a:off x="8839200" y="6451599"/>
            <a:ext cx="1244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C − A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3" name="text_072">
            <a:extLst>
              <a:ext uri="{FF2B5EF4-FFF2-40B4-BE49-F238E27FC236}">
                <a16:creationId xmlns:a16="http://schemas.microsoft.com/office/drawing/2014/main" id="{798A8477-C4BB-FD7B-BAA9-CE40311BC417}"/>
              </a:ext>
            </a:extLst>
          </p:cNvPr>
          <p:cNvSpPr txBox="1"/>
          <p:nvPr/>
        </p:nvSpPr>
        <p:spPr>
          <a:xfrm>
            <a:off x="10350500" y="3428999"/>
            <a:ext cx="114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100" i="1">
                <a:solidFill>
                  <a:srgbClr val="626262"/>
                </a:solidFill>
                <a:latin typeface="Arial" panose="020B0604020202020204" pitchFamily="34" charset="0"/>
              </a:rPr>
              <a:t>Pending</a:t>
            </a:r>
            <a:endParaRPr lang="zh-CN" altLang="en-US" sz="1100" i="1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74" name="text_073">
            <a:extLst>
              <a:ext uri="{FF2B5EF4-FFF2-40B4-BE49-F238E27FC236}">
                <a16:creationId xmlns:a16="http://schemas.microsoft.com/office/drawing/2014/main" id="{5C0D4625-388E-0EF3-D859-2C37FBCD00A3}"/>
              </a:ext>
            </a:extLst>
          </p:cNvPr>
          <p:cNvSpPr txBox="1"/>
          <p:nvPr/>
        </p:nvSpPr>
        <p:spPr>
          <a:xfrm>
            <a:off x="10299700" y="6451599"/>
            <a:ext cx="1244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02020"/>
                </a:solidFill>
                <a:latin typeface="Arial" panose="020B0604020202020204" pitchFamily="34" charset="0"/>
              </a:rPr>
              <a:t>D − A</a:t>
            </a:r>
            <a:endParaRPr lang="zh-CN" altLang="en-US" sz="12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  <p:sp>
        <p:nvSpPr>
          <p:cNvPr id="75" name="text_074">
            <a:extLst>
              <a:ext uri="{FF2B5EF4-FFF2-40B4-BE49-F238E27FC236}">
                <a16:creationId xmlns:a16="http://schemas.microsoft.com/office/drawing/2014/main" id="{4B60B46D-A245-3479-A2EE-74E7F50819D2}"/>
              </a:ext>
            </a:extLst>
          </p:cNvPr>
          <p:cNvSpPr txBox="1"/>
          <p:nvPr/>
        </p:nvSpPr>
        <p:spPr>
          <a:xfrm>
            <a:off x="368300" y="7365999"/>
            <a:ext cx="5334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Secondary mAP50: A: 0.674  B: 0.659  C: 0.837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76" name="text_075">
            <a:extLst>
              <a:ext uri="{FF2B5EF4-FFF2-40B4-BE49-F238E27FC236}">
                <a16:creationId xmlns:a16="http://schemas.microsoft.com/office/drawing/2014/main" id="{BABF5D9F-ED5A-1F07-750E-9C9138A1ACC0}"/>
              </a:ext>
            </a:extLst>
          </p:cNvPr>
          <p:cNvSpPr txBox="1"/>
          <p:nvPr/>
        </p:nvSpPr>
        <p:spPr>
          <a:xfrm>
            <a:off x="6438900" y="7365999"/>
            <a:ext cx="53975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Error bars: paired 95% bootstrap interval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  <p:sp>
        <p:nvSpPr>
          <p:cNvPr id="77" name="text_076">
            <a:extLst>
              <a:ext uri="{FF2B5EF4-FFF2-40B4-BE49-F238E27FC236}">
                <a16:creationId xmlns:a16="http://schemas.microsoft.com/office/drawing/2014/main" id="{51F62ACC-A815-CF7E-0247-32931186DBD1}"/>
              </a:ext>
            </a:extLst>
          </p:cNvPr>
          <p:cNvSpPr txBox="1"/>
          <p:nvPr/>
        </p:nvSpPr>
        <p:spPr>
          <a:xfrm>
            <a:off x="355600" y="7683499"/>
            <a:ext cx="114808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050">
                <a:solidFill>
                  <a:srgbClr val="626262"/>
                </a:solidFill>
                <a:latin typeface="Arial" panose="020B0604020202020204" pitchFamily="34" charset="0"/>
              </a:rPr>
              <a:t>Development analysis on dev61 (n = 61). Model and checkpoint selection use five-fold cross-fitting. D results remain empty.</a:t>
            </a:r>
            <a:endParaRPr lang="zh-CN" altLang="en-US" sz="1050">
              <a:solidFill>
                <a:srgbClr val="62626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7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自定义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2026-10-06T08:47:11Z</dcterms:created>
  <dcterms:modified xsi:type="dcterms:W3CDTF">2026-10-06T08:47:11Z</dcterms:modified>
</cp:coreProperties>
</file>