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1684000" cy="95758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E86874-3B2B-46DF-AD46-EDF5E71C1782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546225" y="1143000"/>
            <a:ext cx="37655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772E08-94EF-481E-946F-76302C3CA2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01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000">
                <a:latin typeface="Arial" panose="020B0604020202020204" pitchFamily="34" charset="0"/>
              </a:rPr>
              <a:t>Author workflow: reference in archive/drafts/fig1_pipeline.pptx. Exact models: qwen_image_edit_2509_fp8_e4m3fn.safetensors; qwen_2.5_vl_7b_fp8_scaled.safetensors; qwen_image_vae.safetensors; Qwen-Image-Edit-2509-Lightning-4steps-V1.0-bf16.safetensors. The standard/Lightning switch is available; the diagram does not assert all retained C images used four-step sampling. Source photographs and retained example are illustrative and unpaired. Exact per-image C sampling parameters and retained workflow provenance still need archival.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772E08-94EF-481E-946F-76302C3CA26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0676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B9307F-D47A-6F08-55DB-D5B255D439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0500" y="1567151"/>
            <a:ext cx="8763000" cy="3333797"/>
          </a:xfrm>
        </p:spPr>
        <p:txBody>
          <a:bodyPr anchor="b"/>
          <a:lstStyle>
            <a:lvl1pPr algn="ctr">
              <a:defRPr sz="575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524D986-20DE-97BE-B865-F9377A09F6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0500" y="5029512"/>
            <a:ext cx="8763000" cy="2311934"/>
          </a:xfrm>
        </p:spPr>
        <p:txBody>
          <a:bodyPr/>
          <a:lstStyle>
            <a:lvl1pPr marL="0" indent="0" algn="ctr">
              <a:buNone/>
              <a:defRPr sz="2300"/>
            </a:lvl1pPr>
            <a:lvl2pPr marL="438135" indent="0" algn="ctr">
              <a:buNone/>
              <a:defRPr sz="1917"/>
            </a:lvl2pPr>
            <a:lvl3pPr marL="876270" indent="0" algn="ctr">
              <a:buNone/>
              <a:defRPr sz="1725"/>
            </a:lvl3pPr>
            <a:lvl4pPr marL="1314404" indent="0" algn="ctr">
              <a:buNone/>
              <a:defRPr sz="1533"/>
            </a:lvl4pPr>
            <a:lvl5pPr marL="1752539" indent="0" algn="ctr">
              <a:buNone/>
              <a:defRPr sz="1533"/>
            </a:lvl5pPr>
            <a:lvl6pPr marL="2190674" indent="0" algn="ctr">
              <a:buNone/>
              <a:defRPr sz="1533"/>
            </a:lvl6pPr>
            <a:lvl7pPr marL="2628809" indent="0" algn="ctr">
              <a:buNone/>
              <a:defRPr sz="1533"/>
            </a:lvl7pPr>
            <a:lvl8pPr marL="3066943" indent="0" algn="ctr">
              <a:buNone/>
              <a:defRPr sz="1533"/>
            </a:lvl8pPr>
            <a:lvl9pPr marL="3505078" indent="0" algn="ctr">
              <a:buNone/>
              <a:defRPr sz="1533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D16B22-3819-EBC7-7086-EB87D6635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D762F-A6DF-4976-BAF9-7ED4F9CC0F9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FC0595-5838-428B-534D-647503E55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B87876-7B6C-5F67-58A3-5B118D0D5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F8A20-A1EF-442E-94A9-FA0659D951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039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F5A224-1EE4-B5EB-C4F6-C17D3CCED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3B899B-3DEF-DFB6-464C-CE60E89B1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946DFA-7B2C-7A8C-0714-AFF310C8F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D762F-A6DF-4976-BAF9-7ED4F9CC0F9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369C89-DD4F-D51D-2C0D-5FEE4257B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BAAC19-C735-88BE-04BB-7CD522226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F8A20-A1EF-442E-94A9-FA0659D951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0837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F27F27-01C9-2983-0994-750E76CD3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190" y="2387303"/>
            <a:ext cx="10077450" cy="3983266"/>
          </a:xfrm>
        </p:spPr>
        <p:txBody>
          <a:bodyPr anchor="b"/>
          <a:lstStyle>
            <a:lvl1pPr>
              <a:defRPr sz="575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4B1797-067F-E719-63A1-ABC93CA0B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7190" y="6408252"/>
            <a:ext cx="10077450" cy="2094706"/>
          </a:xfrm>
        </p:spPr>
        <p:txBody>
          <a:bodyPr/>
          <a:lstStyle>
            <a:lvl1pPr marL="0" indent="0">
              <a:buNone/>
              <a:defRPr sz="2300">
                <a:solidFill>
                  <a:schemeClr val="tx1">
                    <a:tint val="82000"/>
                  </a:schemeClr>
                </a:solidFill>
              </a:defRPr>
            </a:lvl1pPr>
            <a:lvl2pPr marL="438135" indent="0">
              <a:buNone/>
              <a:defRPr sz="1917">
                <a:solidFill>
                  <a:schemeClr val="tx1">
                    <a:tint val="82000"/>
                  </a:schemeClr>
                </a:solidFill>
              </a:defRPr>
            </a:lvl2pPr>
            <a:lvl3pPr marL="876270" indent="0">
              <a:buNone/>
              <a:defRPr sz="1725">
                <a:solidFill>
                  <a:schemeClr val="tx1">
                    <a:tint val="82000"/>
                  </a:schemeClr>
                </a:solidFill>
              </a:defRPr>
            </a:lvl3pPr>
            <a:lvl4pPr marL="1314404" indent="0">
              <a:buNone/>
              <a:defRPr sz="1533">
                <a:solidFill>
                  <a:schemeClr val="tx1">
                    <a:tint val="82000"/>
                  </a:schemeClr>
                </a:solidFill>
              </a:defRPr>
            </a:lvl4pPr>
            <a:lvl5pPr marL="1752539" indent="0">
              <a:buNone/>
              <a:defRPr sz="1533">
                <a:solidFill>
                  <a:schemeClr val="tx1">
                    <a:tint val="82000"/>
                  </a:schemeClr>
                </a:solidFill>
              </a:defRPr>
            </a:lvl5pPr>
            <a:lvl6pPr marL="2190674" indent="0">
              <a:buNone/>
              <a:defRPr sz="1533">
                <a:solidFill>
                  <a:schemeClr val="tx1">
                    <a:tint val="82000"/>
                  </a:schemeClr>
                </a:solidFill>
              </a:defRPr>
            </a:lvl6pPr>
            <a:lvl7pPr marL="2628809" indent="0">
              <a:buNone/>
              <a:defRPr sz="1533">
                <a:solidFill>
                  <a:schemeClr val="tx1">
                    <a:tint val="82000"/>
                  </a:schemeClr>
                </a:solidFill>
              </a:defRPr>
            </a:lvl7pPr>
            <a:lvl8pPr marL="3066943" indent="0">
              <a:buNone/>
              <a:defRPr sz="1533">
                <a:solidFill>
                  <a:schemeClr val="tx1">
                    <a:tint val="82000"/>
                  </a:schemeClr>
                </a:solidFill>
              </a:defRPr>
            </a:lvl8pPr>
            <a:lvl9pPr marL="3505078" indent="0">
              <a:buNone/>
              <a:defRPr sz="15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CAC33A-CC94-80D3-AF02-D48B0706A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D762F-A6DF-4976-BAF9-7ED4F9CC0F9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E24EA3-42BC-BFC2-114D-D65AD82A9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6D2DD4-0F83-38DC-E065-AA026447B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F8A20-A1EF-442E-94A9-FA0659D951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1485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A733F2-047E-192B-D8CC-740A21706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1D32E1-E469-4F48-8BED-C2A19FAC1F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3275" y="2549113"/>
            <a:ext cx="4965700" cy="60757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8A34F7-C7FD-FE90-9013-9439B9F2D9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15025" y="2549113"/>
            <a:ext cx="4965700" cy="60757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07DEFE-F205-032B-A202-D1C2CBCB2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D762F-A6DF-4976-BAF9-7ED4F9CC0F9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9D614F-AB48-9850-562F-B674494CE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B16568-26F7-3209-530D-E2BF5EA02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F8A20-A1EF-442E-94A9-FA0659D951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2900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5ED55D-3455-3B23-3988-DACE93F0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797" y="509825"/>
            <a:ext cx="10077450" cy="185087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AF8531-7689-43E1-3592-F1E9716A3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798" y="2347402"/>
            <a:ext cx="4942879" cy="1150425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8135" indent="0">
              <a:buNone/>
              <a:defRPr sz="1917" b="1"/>
            </a:lvl2pPr>
            <a:lvl3pPr marL="876270" indent="0">
              <a:buNone/>
              <a:defRPr sz="1725" b="1"/>
            </a:lvl3pPr>
            <a:lvl4pPr marL="1314404" indent="0">
              <a:buNone/>
              <a:defRPr sz="1533" b="1"/>
            </a:lvl4pPr>
            <a:lvl5pPr marL="1752539" indent="0">
              <a:buNone/>
              <a:defRPr sz="1533" b="1"/>
            </a:lvl5pPr>
            <a:lvl6pPr marL="2190674" indent="0">
              <a:buNone/>
              <a:defRPr sz="1533" b="1"/>
            </a:lvl6pPr>
            <a:lvl7pPr marL="2628809" indent="0">
              <a:buNone/>
              <a:defRPr sz="1533" b="1"/>
            </a:lvl7pPr>
            <a:lvl8pPr marL="3066943" indent="0">
              <a:buNone/>
              <a:defRPr sz="1533" b="1"/>
            </a:lvl8pPr>
            <a:lvl9pPr marL="3505078" indent="0">
              <a:buNone/>
              <a:defRPr sz="15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CBCC9EC-576F-F1AB-8B0A-8B480EAA37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4798" y="3497827"/>
            <a:ext cx="4942879" cy="51447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2AEB0CC-167E-3265-A56D-1C97FCE489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15025" y="2347402"/>
            <a:ext cx="4967222" cy="1150425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8135" indent="0">
              <a:buNone/>
              <a:defRPr sz="1917" b="1"/>
            </a:lvl2pPr>
            <a:lvl3pPr marL="876270" indent="0">
              <a:buNone/>
              <a:defRPr sz="1725" b="1"/>
            </a:lvl3pPr>
            <a:lvl4pPr marL="1314404" indent="0">
              <a:buNone/>
              <a:defRPr sz="1533" b="1"/>
            </a:lvl4pPr>
            <a:lvl5pPr marL="1752539" indent="0">
              <a:buNone/>
              <a:defRPr sz="1533" b="1"/>
            </a:lvl5pPr>
            <a:lvl6pPr marL="2190674" indent="0">
              <a:buNone/>
              <a:defRPr sz="1533" b="1"/>
            </a:lvl6pPr>
            <a:lvl7pPr marL="2628809" indent="0">
              <a:buNone/>
              <a:defRPr sz="1533" b="1"/>
            </a:lvl7pPr>
            <a:lvl8pPr marL="3066943" indent="0">
              <a:buNone/>
              <a:defRPr sz="1533" b="1"/>
            </a:lvl8pPr>
            <a:lvl9pPr marL="3505078" indent="0">
              <a:buNone/>
              <a:defRPr sz="15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90D5072-47BF-69E1-1EB5-5ACB7A0A1F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15025" y="3497827"/>
            <a:ext cx="4967222" cy="51447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063315C-052E-61A6-BD6B-4F33B2838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D762F-A6DF-4976-BAF9-7ED4F9CC0F9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0B105F4-F461-A708-9B9D-5A9240F03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304E192-14C6-A4A9-A515-8C2760778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F8A20-A1EF-442E-94A9-FA0659D951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088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140740-C86B-C57F-C74E-BC36D1891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7499792-96F6-D078-E521-6CB491BE7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D762F-A6DF-4976-BAF9-7ED4F9CC0F9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B90F3AF-D54B-5E82-CB0B-A0963D6F9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75E8892-C557-3038-6B1B-598F774BA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F8A20-A1EF-442E-94A9-FA0659D951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5675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564CBF0-1283-ED63-1CDE-C0F4295AE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D762F-A6DF-4976-BAF9-7ED4F9CC0F9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A6FCA50-8FD6-317B-D8E6-C27F57795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8ADA48-73AC-8A38-1F45-9D63CF13B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F8A20-A1EF-442E-94A9-FA0659D951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61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3760B3-9E50-82CF-9925-C283DD707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797" y="638387"/>
            <a:ext cx="3768394" cy="2234353"/>
          </a:xfrm>
        </p:spPr>
        <p:txBody>
          <a:bodyPr anchor="b"/>
          <a:lstStyle>
            <a:lvl1pPr>
              <a:defRPr sz="3067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5118B5-B4F1-18F5-4D2E-448474165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7223" y="1378740"/>
            <a:ext cx="5915025" cy="6805025"/>
          </a:xfrm>
        </p:spPr>
        <p:txBody>
          <a:bodyPr/>
          <a:lstStyle>
            <a:lvl1pPr>
              <a:defRPr sz="3067"/>
            </a:lvl1pPr>
            <a:lvl2pPr>
              <a:defRPr sz="2683"/>
            </a:lvl2pPr>
            <a:lvl3pPr>
              <a:defRPr sz="2300"/>
            </a:lvl3pPr>
            <a:lvl4pPr>
              <a:defRPr sz="1917"/>
            </a:lvl4pPr>
            <a:lvl5pPr>
              <a:defRPr sz="1917"/>
            </a:lvl5pPr>
            <a:lvl6pPr>
              <a:defRPr sz="1917"/>
            </a:lvl6pPr>
            <a:lvl7pPr>
              <a:defRPr sz="1917"/>
            </a:lvl7pPr>
            <a:lvl8pPr>
              <a:defRPr sz="1917"/>
            </a:lvl8pPr>
            <a:lvl9pPr>
              <a:defRPr sz="191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D7FC83D-F84C-8D36-EE1B-D60FDFED10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4797" y="2872740"/>
            <a:ext cx="3768394" cy="5322106"/>
          </a:xfrm>
        </p:spPr>
        <p:txBody>
          <a:bodyPr/>
          <a:lstStyle>
            <a:lvl1pPr marL="0" indent="0">
              <a:buNone/>
              <a:defRPr sz="1533"/>
            </a:lvl1pPr>
            <a:lvl2pPr marL="438135" indent="0">
              <a:buNone/>
              <a:defRPr sz="1342"/>
            </a:lvl2pPr>
            <a:lvl3pPr marL="876270" indent="0">
              <a:buNone/>
              <a:defRPr sz="1150"/>
            </a:lvl3pPr>
            <a:lvl4pPr marL="1314404" indent="0">
              <a:buNone/>
              <a:defRPr sz="958"/>
            </a:lvl4pPr>
            <a:lvl5pPr marL="1752539" indent="0">
              <a:buNone/>
              <a:defRPr sz="958"/>
            </a:lvl5pPr>
            <a:lvl6pPr marL="2190674" indent="0">
              <a:buNone/>
              <a:defRPr sz="958"/>
            </a:lvl6pPr>
            <a:lvl7pPr marL="2628809" indent="0">
              <a:buNone/>
              <a:defRPr sz="958"/>
            </a:lvl7pPr>
            <a:lvl8pPr marL="3066943" indent="0">
              <a:buNone/>
              <a:defRPr sz="958"/>
            </a:lvl8pPr>
            <a:lvl9pPr marL="3505078" indent="0">
              <a:buNone/>
              <a:defRPr sz="95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208FAE-5137-C714-F04D-F8DBFFEC5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D762F-A6DF-4976-BAF9-7ED4F9CC0F9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17BFE9-1FCC-DFE2-6E0B-BE3B91DF6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5757BF-BC9B-E663-F07C-7CAF91C88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F8A20-A1EF-442E-94A9-FA0659D951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2909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13C864-28CB-437C-1D83-F2F06BB06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797" y="638387"/>
            <a:ext cx="3768394" cy="2234353"/>
          </a:xfrm>
        </p:spPr>
        <p:txBody>
          <a:bodyPr anchor="b"/>
          <a:lstStyle>
            <a:lvl1pPr>
              <a:defRPr sz="3067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DD94252-A13F-7645-7046-D415AE75D2C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4967223" y="1378740"/>
            <a:ext cx="5915025" cy="6805025"/>
          </a:xfrm>
        </p:spPr>
        <p:txBody>
          <a:bodyPr/>
          <a:lstStyle>
            <a:lvl1pPr marL="0" indent="0">
              <a:buNone/>
              <a:defRPr sz="3067"/>
            </a:lvl1pPr>
            <a:lvl2pPr marL="438135" indent="0">
              <a:buNone/>
              <a:defRPr sz="2683"/>
            </a:lvl2pPr>
            <a:lvl3pPr marL="876270" indent="0">
              <a:buNone/>
              <a:defRPr sz="2300"/>
            </a:lvl3pPr>
            <a:lvl4pPr marL="1314404" indent="0">
              <a:buNone/>
              <a:defRPr sz="1917"/>
            </a:lvl4pPr>
            <a:lvl5pPr marL="1752539" indent="0">
              <a:buNone/>
              <a:defRPr sz="1917"/>
            </a:lvl5pPr>
            <a:lvl6pPr marL="2190674" indent="0">
              <a:buNone/>
              <a:defRPr sz="1917"/>
            </a:lvl6pPr>
            <a:lvl7pPr marL="2628809" indent="0">
              <a:buNone/>
              <a:defRPr sz="1917"/>
            </a:lvl7pPr>
            <a:lvl8pPr marL="3066943" indent="0">
              <a:buNone/>
              <a:defRPr sz="1917"/>
            </a:lvl8pPr>
            <a:lvl9pPr marL="3505078" indent="0">
              <a:buNone/>
              <a:defRPr sz="1917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A33EF9A-E4C8-E206-E4F7-DFE85E584B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4797" y="2872740"/>
            <a:ext cx="3768394" cy="5322106"/>
          </a:xfrm>
        </p:spPr>
        <p:txBody>
          <a:bodyPr/>
          <a:lstStyle>
            <a:lvl1pPr marL="0" indent="0">
              <a:buNone/>
              <a:defRPr sz="1533"/>
            </a:lvl1pPr>
            <a:lvl2pPr marL="438135" indent="0">
              <a:buNone/>
              <a:defRPr sz="1342"/>
            </a:lvl2pPr>
            <a:lvl3pPr marL="876270" indent="0">
              <a:buNone/>
              <a:defRPr sz="1150"/>
            </a:lvl3pPr>
            <a:lvl4pPr marL="1314404" indent="0">
              <a:buNone/>
              <a:defRPr sz="958"/>
            </a:lvl4pPr>
            <a:lvl5pPr marL="1752539" indent="0">
              <a:buNone/>
              <a:defRPr sz="958"/>
            </a:lvl5pPr>
            <a:lvl6pPr marL="2190674" indent="0">
              <a:buNone/>
              <a:defRPr sz="958"/>
            </a:lvl6pPr>
            <a:lvl7pPr marL="2628809" indent="0">
              <a:buNone/>
              <a:defRPr sz="958"/>
            </a:lvl7pPr>
            <a:lvl8pPr marL="3066943" indent="0">
              <a:buNone/>
              <a:defRPr sz="958"/>
            </a:lvl8pPr>
            <a:lvl9pPr marL="3505078" indent="0">
              <a:buNone/>
              <a:defRPr sz="95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2ECB69-FB5A-DB10-F562-DC02B5E7C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D762F-A6DF-4976-BAF9-7ED4F9CC0F9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4B18F74-FAC3-2C8E-9B9B-6C4898ECA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2F3092-3D0D-459A-44BB-2199EFEED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F8A20-A1EF-442E-94A9-FA0659D951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6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F76182-E921-1A42-1472-9F9C54758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36588F9-F318-902B-1FFE-BB9F4AA3F9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4EE386-780A-CFE5-EB23-8D556D1CD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D762F-A6DF-4976-BAF9-7ED4F9CC0F9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5053F1-7CF6-D63E-E946-D67EEC331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86975C-46E3-1AB8-01C0-78D62DF52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F8A20-A1EF-442E-94A9-FA0659D951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9309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56E0B2F-4163-9703-B2FE-911A7EFBD1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361363" y="509823"/>
            <a:ext cx="2519363" cy="811504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607F183-4077-4FCE-E535-A7DD6B9780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03275" y="509823"/>
            <a:ext cx="7412038" cy="811504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FD261D-46E7-1576-B1AE-FBAC24DBB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D762F-A6DF-4976-BAF9-7ED4F9CC0F9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F2F7FD-811E-9281-8C1B-ECAA717E1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7D6934-264F-2CA7-F878-6BF933FD9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F8A20-A1EF-442E-94A9-FA0659D951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1353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028719B-24D9-9573-527C-F1448AF02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75" y="509825"/>
            <a:ext cx="10077450" cy="18508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1D0213-6453-EBB3-D538-7A0F21506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3275" y="2549113"/>
            <a:ext cx="10077450" cy="6075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6C72BE-856E-08AE-D7E1-73185D944C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3275" y="8875350"/>
            <a:ext cx="2628900" cy="509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FD762F-A6DF-4976-BAF9-7ED4F9CC0F9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B79980-8F1B-CF07-79F5-3097E0E144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70325" y="8875350"/>
            <a:ext cx="3943350" cy="509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538924-59D4-8D38-279A-46B89B1A3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51825" y="8875350"/>
            <a:ext cx="2628900" cy="509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9F8A20-A1EF-442E-94A9-FA0659D951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28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876270" rtl="0" eaLnBrk="1" latinLnBrk="0" hangingPunct="1">
        <a:lnSpc>
          <a:spcPct val="90000"/>
        </a:lnSpc>
        <a:spcBef>
          <a:spcPct val="0"/>
        </a:spcBef>
        <a:buNone/>
        <a:defRPr sz="42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9067" indent="-219067" algn="l" defTabSz="876270" rtl="0" eaLnBrk="1" latinLnBrk="0" hangingPunct="1">
        <a:lnSpc>
          <a:spcPct val="90000"/>
        </a:lnSpc>
        <a:spcBef>
          <a:spcPts val="958"/>
        </a:spcBef>
        <a:buFont typeface="Arial" panose="020B0604020202020204" pitchFamily="34" charset="0"/>
        <a:buChar char="•"/>
        <a:defRPr sz="2683" kern="1200">
          <a:solidFill>
            <a:schemeClr val="tx1"/>
          </a:solidFill>
          <a:latin typeface="+mn-lt"/>
          <a:ea typeface="+mn-ea"/>
          <a:cs typeface="+mn-cs"/>
        </a:defRPr>
      </a:lvl1pPr>
      <a:lvl2pPr marL="657202" indent="-219067" algn="l" defTabSz="876270" rtl="0" eaLnBrk="1" latinLnBrk="0" hangingPunct="1">
        <a:lnSpc>
          <a:spcPct val="90000"/>
        </a:lnSpc>
        <a:spcBef>
          <a:spcPts val="479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095337" indent="-219067" algn="l" defTabSz="876270" rtl="0" eaLnBrk="1" latinLnBrk="0" hangingPunct="1">
        <a:lnSpc>
          <a:spcPct val="90000"/>
        </a:lnSpc>
        <a:spcBef>
          <a:spcPts val="479"/>
        </a:spcBef>
        <a:buFont typeface="Arial" panose="020B0604020202020204" pitchFamily="34" charset="0"/>
        <a:buChar char="•"/>
        <a:defRPr sz="1917" kern="1200">
          <a:solidFill>
            <a:schemeClr val="tx1"/>
          </a:solidFill>
          <a:latin typeface="+mn-lt"/>
          <a:ea typeface="+mn-ea"/>
          <a:cs typeface="+mn-cs"/>
        </a:defRPr>
      </a:lvl3pPr>
      <a:lvl4pPr marL="1533472" indent="-219067" algn="l" defTabSz="876270" rtl="0" eaLnBrk="1" latinLnBrk="0" hangingPunct="1">
        <a:lnSpc>
          <a:spcPct val="90000"/>
        </a:lnSpc>
        <a:spcBef>
          <a:spcPts val="479"/>
        </a:spcBef>
        <a:buFont typeface="Arial" panose="020B0604020202020204" pitchFamily="34" charset="0"/>
        <a:buChar char="•"/>
        <a:defRPr sz="1725" kern="1200">
          <a:solidFill>
            <a:schemeClr val="tx1"/>
          </a:solidFill>
          <a:latin typeface="+mn-lt"/>
          <a:ea typeface="+mn-ea"/>
          <a:cs typeface="+mn-cs"/>
        </a:defRPr>
      </a:lvl4pPr>
      <a:lvl5pPr marL="1971606" indent="-219067" algn="l" defTabSz="876270" rtl="0" eaLnBrk="1" latinLnBrk="0" hangingPunct="1">
        <a:lnSpc>
          <a:spcPct val="90000"/>
        </a:lnSpc>
        <a:spcBef>
          <a:spcPts val="479"/>
        </a:spcBef>
        <a:buFont typeface="Arial" panose="020B0604020202020204" pitchFamily="34" charset="0"/>
        <a:buChar char="•"/>
        <a:defRPr sz="1725" kern="1200">
          <a:solidFill>
            <a:schemeClr val="tx1"/>
          </a:solidFill>
          <a:latin typeface="+mn-lt"/>
          <a:ea typeface="+mn-ea"/>
          <a:cs typeface="+mn-cs"/>
        </a:defRPr>
      </a:lvl5pPr>
      <a:lvl6pPr marL="2409741" indent="-219067" algn="l" defTabSz="876270" rtl="0" eaLnBrk="1" latinLnBrk="0" hangingPunct="1">
        <a:lnSpc>
          <a:spcPct val="90000"/>
        </a:lnSpc>
        <a:spcBef>
          <a:spcPts val="479"/>
        </a:spcBef>
        <a:buFont typeface="Arial" panose="020B0604020202020204" pitchFamily="34" charset="0"/>
        <a:buChar char="•"/>
        <a:defRPr sz="1725" kern="1200">
          <a:solidFill>
            <a:schemeClr val="tx1"/>
          </a:solidFill>
          <a:latin typeface="+mn-lt"/>
          <a:ea typeface="+mn-ea"/>
          <a:cs typeface="+mn-cs"/>
        </a:defRPr>
      </a:lvl6pPr>
      <a:lvl7pPr marL="2847876" indent="-219067" algn="l" defTabSz="876270" rtl="0" eaLnBrk="1" latinLnBrk="0" hangingPunct="1">
        <a:lnSpc>
          <a:spcPct val="90000"/>
        </a:lnSpc>
        <a:spcBef>
          <a:spcPts val="479"/>
        </a:spcBef>
        <a:buFont typeface="Arial" panose="020B0604020202020204" pitchFamily="34" charset="0"/>
        <a:buChar char="•"/>
        <a:defRPr sz="1725" kern="1200">
          <a:solidFill>
            <a:schemeClr val="tx1"/>
          </a:solidFill>
          <a:latin typeface="+mn-lt"/>
          <a:ea typeface="+mn-ea"/>
          <a:cs typeface="+mn-cs"/>
        </a:defRPr>
      </a:lvl7pPr>
      <a:lvl8pPr marL="3286011" indent="-219067" algn="l" defTabSz="876270" rtl="0" eaLnBrk="1" latinLnBrk="0" hangingPunct="1">
        <a:lnSpc>
          <a:spcPct val="90000"/>
        </a:lnSpc>
        <a:spcBef>
          <a:spcPts val="479"/>
        </a:spcBef>
        <a:buFont typeface="Arial" panose="020B0604020202020204" pitchFamily="34" charset="0"/>
        <a:buChar char="•"/>
        <a:defRPr sz="1725" kern="1200">
          <a:solidFill>
            <a:schemeClr val="tx1"/>
          </a:solidFill>
          <a:latin typeface="+mn-lt"/>
          <a:ea typeface="+mn-ea"/>
          <a:cs typeface="+mn-cs"/>
        </a:defRPr>
      </a:lvl8pPr>
      <a:lvl9pPr marL="3724145" indent="-219067" algn="l" defTabSz="876270" rtl="0" eaLnBrk="1" latinLnBrk="0" hangingPunct="1">
        <a:lnSpc>
          <a:spcPct val="90000"/>
        </a:lnSpc>
        <a:spcBef>
          <a:spcPts val="479"/>
        </a:spcBef>
        <a:buFont typeface="Arial" panose="020B0604020202020204" pitchFamily="34" charset="0"/>
        <a:buChar char="•"/>
        <a:defRPr sz="17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76270" rtl="0" eaLnBrk="1" latinLnBrk="0" hangingPunct="1">
        <a:defRPr sz="1725" kern="1200">
          <a:solidFill>
            <a:schemeClr val="tx1"/>
          </a:solidFill>
          <a:latin typeface="+mn-lt"/>
          <a:ea typeface="+mn-ea"/>
          <a:cs typeface="+mn-cs"/>
        </a:defRPr>
      </a:lvl1pPr>
      <a:lvl2pPr marL="438135" algn="l" defTabSz="876270" rtl="0" eaLnBrk="1" latinLnBrk="0" hangingPunct="1">
        <a:defRPr sz="1725" kern="1200">
          <a:solidFill>
            <a:schemeClr val="tx1"/>
          </a:solidFill>
          <a:latin typeface="+mn-lt"/>
          <a:ea typeface="+mn-ea"/>
          <a:cs typeface="+mn-cs"/>
        </a:defRPr>
      </a:lvl2pPr>
      <a:lvl3pPr marL="876270" algn="l" defTabSz="876270" rtl="0" eaLnBrk="1" latinLnBrk="0" hangingPunct="1">
        <a:defRPr sz="1725" kern="1200">
          <a:solidFill>
            <a:schemeClr val="tx1"/>
          </a:solidFill>
          <a:latin typeface="+mn-lt"/>
          <a:ea typeface="+mn-ea"/>
          <a:cs typeface="+mn-cs"/>
        </a:defRPr>
      </a:lvl3pPr>
      <a:lvl4pPr marL="1314404" algn="l" defTabSz="876270" rtl="0" eaLnBrk="1" latinLnBrk="0" hangingPunct="1">
        <a:defRPr sz="1725" kern="1200">
          <a:solidFill>
            <a:schemeClr val="tx1"/>
          </a:solidFill>
          <a:latin typeface="+mn-lt"/>
          <a:ea typeface="+mn-ea"/>
          <a:cs typeface="+mn-cs"/>
        </a:defRPr>
      </a:lvl4pPr>
      <a:lvl5pPr marL="1752539" algn="l" defTabSz="876270" rtl="0" eaLnBrk="1" latinLnBrk="0" hangingPunct="1">
        <a:defRPr sz="1725" kern="1200">
          <a:solidFill>
            <a:schemeClr val="tx1"/>
          </a:solidFill>
          <a:latin typeface="+mn-lt"/>
          <a:ea typeface="+mn-ea"/>
          <a:cs typeface="+mn-cs"/>
        </a:defRPr>
      </a:lvl5pPr>
      <a:lvl6pPr marL="2190674" algn="l" defTabSz="876270" rtl="0" eaLnBrk="1" latinLnBrk="0" hangingPunct="1">
        <a:defRPr sz="1725" kern="1200">
          <a:solidFill>
            <a:schemeClr val="tx1"/>
          </a:solidFill>
          <a:latin typeface="+mn-lt"/>
          <a:ea typeface="+mn-ea"/>
          <a:cs typeface="+mn-cs"/>
        </a:defRPr>
      </a:lvl6pPr>
      <a:lvl7pPr marL="2628809" algn="l" defTabSz="876270" rtl="0" eaLnBrk="1" latinLnBrk="0" hangingPunct="1">
        <a:defRPr sz="1725" kern="1200">
          <a:solidFill>
            <a:schemeClr val="tx1"/>
          </a:solidFill>
          <a:latin typeface="+mn-lt"/>
          <a:ea typeface="+mn-ea"/>
          <a:cs typeface="+mn-cs"/>
        </a:defRPr>
      </a:lvl7pPr>
      <a:lvl8pPr marL="3066943" algn="l" defTabSz="876270" rtl="0" eaLnBrk="1" latinLnBrk="0" hangingPunct="1">
        <a:defRPr sz="1725" kern="1200">
          <a:solidFill>
            <a:schemeClr val="tx1"/>
          </a:solidFill>
          <a:latin typeface="+mn-lt"/>
          <a:ea typeface="+mn-ea"/>
          <a:cs typeface="+mn-cs"/>
        </a:defRPr>
      </a:lvl8pPr>
      <a:lvl9pPr marL="3505078" algn="l" defTabSz="876270" rtl="0" eaLnBrk="1" latinLnBrk="0" hangingPunct="1">
        <a:defRPr sz="17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001">
            <a:extLst>
              <a:ext uri="{FF2B5EF4-FFF2-40B4-BE49-F238E27FC236}">
                <a16:creationId xmlns:a16="http://schemas.microsoft.com/office/drawing/2014/main" id="{F0BD54B2-265E-DA56-E2DF-895BA04E54A6}"/>
              </a:ext>
            </a:extLst>
          </p:cNvPr>
          <p:cNvSpPr txBox="1"/>
          <p:nvPr/>
        </p:nvSpPr>
        <p:spPr>
          <a:xfrm>
            <a:off x="304800" y="177799"/>
            <a:ext cx="57023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600" b="1">
                <a:solidFill>
                  <a:srgbClr val="181818"/>
                </a:solidFill>
                <a:latin typeface="Arial" panose="020B0604020202020204" pitchFamily="34" charset="0"/>
              </a:rPr>
              <a:t>(a) Conditioning and model preparation</a:t>
            </a:r>
            <a:endParaRPr lang="zh-CN" altLang="en-US" sz="1600" b="1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_002">
            <a:extLst>
              <a:ext uri="{FF2B5EF4-FFF2-40B4-BE49-F238E27FC236}">
                <a16:creationId xmlns:a16="http://schemas.microsoft.com/office/drawing/2014/main" id="{A42BE4DA-B10D-FBD0-1255-CF17DFCB02D9}"/>
              </a:ext>
            </a:extLst>
          </p:cNvPr>
          <p:cNvSpPr txBox="1"/>
          <p:nvPr/>
        </p:nvSpPr>
        <p:spPr>
          <a:xfrm>
            <a:off x="6718300" y="177799"/>
            <a:ext cx="46609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600" b="1">
                <a:solidFill>
                  <a:srgbClr val="181818"/>
                </a:solidFill>
                <a:latin typeface="Arial" panose="020B0604020202020204" pitchFamily="34" charset="0"/>
              </a:rPr>
              <a:t>(b) Sampling and dataset assembly</a:t>
            </a:r>
            <a:endParaRPr lang="zh-CN" altLang="en-US" sz="1600" b="1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line_003">
            <a:extLst>
              <a:ext uri="{FF2B5EF4-FFF2-40B4-BE49-F238E27FC236}">
                <a16:creationId xmlns:a16="http://schemas.microsoft.com/office/drawing/2014/main" id="{E1E7001A-AB1B-32EA-C26F-DCF298D97C7B}"/>
              </a:ext>
            </a:extLst>
          </p:cNvPr>
          <p:cNvCxnSpPr/>
          <p:nvPr/>
        </p:nvCxnSpPr>
        <p:spPr>
          <a:xfrm>
            <a:off x="304800" y="673100"/>
            <a:ext cx="5600700" cy="0"/>
          </a:xfrm>
          <a:prstGeom prst="line">
            <a:avLst/>
          </a:prstGeom>
          <a:ln w="13970">
            <a:solidFill>
              <a:srgbClr val="266A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line_004">
            <a:extLst>
              <a:ext uri="{FF2B5EF4-FFF2-40B4-BE49-F238E27FC236}">
                <a16:creationId xmlns:a16="http://schemas.microsoft.com/office/drawing/2014/main" id="{CB2C1CF9-1369-145A-AF05-DEAF7D73429C}"/>
              </a:ext>
            </a:extLst>
          </p:cNvPr>
          <p:cNvCxnSpPr/>
          <p:nvPr/>
        </p:nvCxnSpPr>
        <p:spPr>
          <a:xfrm>
            <a:off x="6718300" y="673100"/>
            <a:ext cx="4660900" cy="0"/>
          </a:xfrm>
          <a:prstGeom prst="line">
            <a:avLst/>
          </a:prstGeom>
          <a:ln w="13970">
            <a:solidFill>
              <a:srgbClr val="266A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_005">
            <a:extLst>
              <a:ext uri="{FF2B5EF4-FFF2-40B4-BE49-F238E27FC236}">
                <a16:creationId xmlns:a16="http://schemas.microsoft.com/office/drawing/2014/main" id="{D0A52BF2-DDCD-9B12-C45F-1F127709061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067" y="977900"/>
            <a:ext cx="1557867" cy="1168400"/>
          </a:xfrm>
          <a:prstGeom prst="rect">
            <a:avLst/>
          </a:prstGeom>
        </p:spPr>
      </p:pic>
      <p:sp>
        <p:nvSpPr>
          <p:cNvPr id="8" name="rect_006">
            <a:extLst>
              <a:ext uri="{FF2B5EF4-FFF2-40B4-BE49-F238E27FC236}">
                <a16:creationId xmlns:a16="http://schemas.microsoft.com/office/drawing/2014/main" id="{5DE1D129-1B14-DDA5-0221-DAF88D59C153}"/>
              </a:ext>
            </a:extLst>
          </p:cNvPr>
          <p:cNvSpPr/>
          <p:nvPr/>
        </p:nvSpPr>
        <p:spPr>
          <a:xfrm>
            <a:off x="745067" y="977900"/>
            <a:ext cx="1557866" cy="1168400"/>
          </a:xfrm>
          <a:prstGeom prst="rect">
            <a:avLst/>
          </a:prstGeom>
          <a:noFill/>
          <a:ln w="4445" cap="flat" cmpd="sng" algn="ctr">
            <a:solidFill>
              <a:srgbClr val="BDBDB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_007">
            <a:extLst>
              <a:ext uri="{FF2B5EF4-FFF2-40B4-BE49-F238E27FC236}">
                <a16:creationId xmlns:a16="http://schemas.microsoft.com/office/drawing/2014/main" id="{A9B4EA20-1FEB-D25A-3655-20F7F2525977}"/>
              </a:ext>
            </a:extLst>
          </p:cNvPr>
          <p:cNvSpPr txBox="1"/>
          <p:nvPr/>
        </p:nvSpPr>
        <p:spPr>
          <a:xfrm>
            <a:off x="558800" y="2235199"/>
            <a:ext cx="19431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400">
                <a:solidFill>
                  <a:srgbClr val="181818"/>
                </a:solidFill>
                <a:latin typeface="Times New Roman" panose="02020603050405020304" pitchFamily="18" charset="0"/>
              </a:rPr>
              <a:t>Reference photograph</a:t>
            </a:r>
            <a:endParaRPr lang="zh-CN" altLang="en-US" sz="14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rect_008">
            <a:extLst>
              <a:ext uri="{FF2B5EF4-FFF2-40B4-BE49-F238E27FC236}">
                <a16:creationId xmlns:a16="http://schemas.microsoft.com/office/drawing/2014/main" id="{8589F119-9332-2187-FE7C-30EBB0D24FF4}"/>
              </a:ext>
            </a:extLst>
          </p:cNvPr>
          <p:cNvSpPr/>
          <p:nvPr/>
        </p:nvSpPr>
        <p:spPr>
          <a:xfrm>
            <a:off x="3200400" y="1028700"/>
            <a:ext cx="2451100" cy="1193800"/>
          </a:xfrm>
          <a:prstGeom prst="rect">
            <a:avLst/>
          </a:prstGeom>
          <a:solidFill>
            <a:srgbClr val="F6F6F3"/>
          </a:solidFill>
          <a:ln w="5715">
            <a:solidFill>
              <a:srgbClr val="B7BC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_009">
            <a:extLst>
              <a:ext uri="{FF2B5EF4-FFF2-40B4-BE49-F238E27FC236}">
                <a16:creationId xmlns:a16="http://schemas.microsoft.com/office/drawing/2014/main" id="{833EAD58-75D7-2D22-30A7-09D5407B439B}"/>
              </a:ext>
            </a:extLst>
          </p:cNvPr>
          <p:cNvSpPr txBox="1"/>
          <p:nvPr/>
        </p:nvSpPr>
        <p:spPr>
          <a:xfrm>
            <a:off x="3365500" y="1117599"/>
            <a:ext cx="21209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 b="1">
                <a:solidFill>
                  <a:srgbClr val="181818"/>
                </a:solidFill>
                <a:latin typeface="Arial" panose="020B0604020202020204" pitchFamily="34" charset="0"/>
              </a:rPr>
              <a:t>Edit instruction</a:t>
            </a:r>
            <a:endParaRPr lang="zh-CN" altLang="en-US" sz="1200" b="1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_010">
            <a:extLst>
              <a:ext uri="{FF2B5EF4-FFF2-40B4-BE49-F238E27FC236}">
                <a16:creationId xmlns:a16="http://schemas.microsoft.com/office/drawing/2014/main" id="{0F561009-DD57-BE6D-2EA3-94A2FE34DDF6}"/>
              </a:ext>
            </a:extLst>
          </p:cNvPr>
          <p:cNvSpPr txBox="1"/>
          <p:nvPr/>
        </p:nvSpPr>
        <p:spPr>
          <a:xfrm>
            <a:off x="3365500" y="1498599"/>
            <a:ext cx="20701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400">
                <a:solidFill>
                  <a:srgbClr val="181818"/>
                </a:solidFill>
                <a:latin typeface="Times New Roman" panose="02020603050405020304" pitchFamily="18" charset="0"/>
              </a:rPr>
              <a:t>Target safety state
and scene description</a:t>
            </a:r>
            <a:endParaRPr lang="zh-CN" altLang="en-US" sz="14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13" name="line_011">
            <a:extLst>
              <a:ext uri="{FF2B5EF4-FFF2-40B4-BE49-F238E27FC236}">
                <a16:creationId xmlns:a16="http://schemas.microsoft.com/office/drawing/2014/main" id="{6F5E939B-0718-154A-179F-D2AE07A0ADCC}"/>
              </a:ext>
            </a:extLst>
          </p:cNvPr>
          <p:cNvCxnSpPr/>
          <p:nvPr/>
        </p:nvCxnSpPr>
        <p:spPr>
          <a:xfrm>
            <a:off x="1536700" y="2590800"/>
            <a:ext cx="0" cy="342900"/>
          </a:xfrm>
          <a:prstGeom prst="line">
            <a:avLst/>
          </a:prstGeom>
          <a:ln w="9525">
            <a:solidFill>
              <a:srgbClr val="18181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line_012">
            <a:extLst>
              <a:ext uri="{FF2B5EF4-FFF2-40B4-BE49-F238E27FC236}">
                <a16:creationId xmlns:a16="http://schemas.microsoft.com/office/drawing/2014/main" id="{A97DBFAC-E7DB-9B99-67AA-C586D63E8301}"/>
              </a:ext>
            </a:extLst>
          </p:cNvPr>
          <p:cNvCxnSpPr/>
          <p:nvPr/>
        </p:nvCxnSpPr>
        <p:spPr>
          <a:xfrm>
            <a:off x="4419600" y="2222500"/>
            <a:ext cx="0" cy="711200"/>
          </a:xfrm>
          <a:prstGeom prst="line">
            <a:avLst/>
          </a:prstGeom>
          <a:ln w="9525">
            <a:solidFill>
              <a:srgbClr val="18181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ine_013">
            <a:extLst>
              <a:ext uri="{FF2B5EF4-FFF2-40B4-BE49-F238E27FC236}">
                <a16:creationId xmlns:a16="http://schemas.microsoft.com/office/drawing/2014/main" id="{E4A35789-3D74-8E2F-622E-185D6733367F}"/>
              </a:ext>
            </a:extLst>
          </p:cNvPr>
          <p:cNvCxnSpPr/>
          <p:nvPr/>
        </p:nvCxnSpPr>
        <p:spPr>
          <a:xfrm>
            <a:off x="2413000" y="1587500"/>
            <a:ext cx="355600" cy="0"/>
          </a:xfrm>
          <a:prstGeom prst="line">
            <a:avLst/>
          </a:prstGeom>
          <a:ln w="8255">
            <a:solidFill>
              <a:srgbClr val="266A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ine_014">
            <a:extLst>
              <a:ext uri="{FF2B5EF4-FFF2-40B4-BE49-F238E27FC236}">
                <a16:creationId xmlns:a16="http://schemas.microsoft.com/office/drawing/2014/main" id="{A651F9A2-2A48-EE56-808E-211AB966ED6F}"/>
              </a:ext>
            </a:extLst>
          </p:cNvPr>
          <p:cNvCxnSpPr/>
          <p:nvPr/>
        </p:nvCxnSpPr>
        <p:spPr>
          <a:xfrm>
            <a:off x="2768600" y="1587500"/>
            <a:ext cx="0" cy="1193800"/>
          </a:xfrm>
          <a:prstGeom prst="line">
            <a:avLst/>
          </a:prstGeom>
          <a:ln w="8255">
            <a:solidFill>
              <a:srgbClr val="266A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ine_015">
            <a:extLst>
              <a:ext uri="{FF2B5EF4-FFF2-40B4-BE49-F238E27FC236}">
                <a16:creationId xmlns:a16="http://schemas.microsoft.com/office/drawing/2014/main" id="{5217EF29-EAF0-E0F7-F436-0168870E0C40}"/>
              </a:ext>
            </a:extLst>
          </p:cNvPr>
          <p:cNvCxnSpPr/>
          <p:nvPr/>
        </p:nvCxnSpPr>
        <p:spPr>
          <a:xfrm>
            <a:off x="2768600" y="2781300"/>
            <a:ext cx="1308100" cy="0"/>
          </a:xfrm>
          <a:prstGeom prst="line">
            <a:avLst/>
          </a:prstGeom>
          <a:ln w="8255">
            <a:solidFill>
              <a:srgbClr val="266A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ine_016">
            <a:extLst>
              <a:ext uri="{FF2B5EF4-FFF2-40B4-BE49-F238E27FC236}">
                <a16:creationId xmlns:a16="http://schemas.microsoft.com/office/drawing/2014/main" id="{E5E043B2-8C5D-C054-4BEA-DFDD9D37E345}"/>
              </a:ext>
            </a:extLst>
          </p:cNvPr>
          <p:cNvCxnSpPr/>
          <p:nvPr/>
        </p:nvCxnSpPr>
        <p:spPr>
          <a:xfrm>
            <a:off x="4076700" y="2781300"/>
            <a:ext cx="0" cy="152400"/>
          </a:xfrm>
          <a:prstGeom prst="line">
            <a:avLst/>
          </a:prstGeom>
          <a:ln w="8255">
            <a:solidFill>
              <a:srgbClr val="266A7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_017">
            <a:extLst>
              <a:ext uri="{FF2B5EF4-FFF2-40B4-BE49-F238E27FC236}">
                <a16:creationId xmlns:a16="http://schemas.microsoft.com/office/drawing/2014/main" id="{10DC0DFE-9B0F-8E95-A3A3-66033F988CBD}"/>
              </a:ext>
            </a:extLst>
          </p:cNvPr>
          <p:cNvSpPr/>
          <p:nvPr/>
        </p:nvSpPr>
        <p:spPr>
          <a:xfrm>
            <a:off x="622300" y="2933700"/>
            <a:ext cx="2032000" cy="1028700"/>
          </a:xfrm>
          <a:prstGeom prst="rect">
            <a:avLst/>
          </a:prstGeom>
          <a:solidFill>
            <a:srgbClr val="EEF5F5"/>
          </a:solidFill>
          <a:ln w="8255">
            <a:solidFill>
              <a:srgbClr val="266A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_018">
            <a:extLst>
              <a:ext uri="{FF2B5EF4-FFF2-40B4-BE49-F238E27FC236}">
                <a16:creationId xmlns:a16="http://schemas.microsoft.com/office/drawing/2014/main" id="{66A1949E-E819-407D-4A8C-E22E3F75801E}"/>
              </a:ext>
            </a:extLst>
          </p:cNvPr>
          <p:cNvSpPr txBox="1"/>
          <p:nvPr/>
        </p:nvSpPr>
        <p:spPr>
          <a:xfrm>
            <a:off x="774700" y="3022599"/>
            <a:ext cx="17272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 b="1">
                <a:solidFill>
                  <a:srgbClr val="266A71"/>
                </a:solidFill>
                <a:latin typeface="Arial" panose="020B0604020202020204" pitchFamily="34" charset="0"/>
              </a:rPr>
              <a:t>Image encoding</a:t>
            </a:r>
            <a:endParaRPr lang="zh-CN" altLang="en-US" sz="1200" b="1">
              <a:solidFill>
                <a:srgbClr val="266A71"/>
              </a:solidFill>
              <a:latin typeface="Arial" panose="020B0604020202020204" pitchFamily="34" charset="0"/>
            </a:endParaRPr>
          </a:p>
        </p:txBody>
      </p:sp>
      <p:sp>
        <p:nvSpPr>
          <p:cNvPr id="21" name="text_019">
            <a:extLst>
              <a:ext uri="{FF2B5EF4-FFF2-40B4-BE49-F238E27FC236}">
                <a16:creationId xmlns:a16="http://schemas.microsoft.com/office/drawing/2014/main" id="{E59DB68F-973C-F47D-23D8-59F1B1EF5E40}"/>
              </a:ext>
            </a:extLst>
          </p:cNvPr>
          <p:cNvSpPr txBox="1"/>
          <p:nvPr/>
        </p:nvSpPr>
        <p:spPr>
          <a:xfrm>
            <a:off x="774700" y="3378199"/>
            <a:ext cx="1727200" cy="520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400">
                <a:solidFill>
                  <a:srgbClr val="181818"/>
                </a:solidFill>
                <a:latin typeface="Times New Roman" panose="02020603050405020304" pitchFamily="18" charset="0"/>
              </a:rPr>
              <a:t>Scale + Qwen VAE</a:t>
            </a:r>
            <a:endParaRPr lang="zh-CN" altLang="en-US" sz="14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rect_020">
            <a:extLst>
              <a:ext uri="{FF2B5EF4-FFF2-40B4-BE49-F238E27FC236}">
                <a16:creationId xmlns:a16="http://schemas.microsoft.com/office/drawing/2014/main" id="{200A7578-366D-5B8D-A743-41B7125F1FE4}"/>
              </a:ext>
            </a:extLst>
          </p:cNvPr>
          <p:cNvSpPr/>
          <p:nvPr/>
        </p:nvSpPr>
        <p:spPr>
          <a:xfrm>
            <a:off x="3200400" y="2933700"/>
            <a:ext cx="2451100" cy="1028700"/>
          </a:xfrm>
          <a:prstGeom prst="rect">
            <a:avLst/>
          </a:prstGeom>
          <a:solidFill>
            <a:srgbClr val="EEF5F5"/>
          </a:solidFill>
          <a:ln w="8255">
            <a:solidFill>
              <a:srgbClr val="266A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_021">
            <a:extLst>
              <a:ext uri="{FF2B5EF4-FFF2-40B4-BE49-F238E27FC236}">
                <a16:creationId xmlns:a16="http://schemas.microsoft.com/office/drawing/2014/main" id="{7B9F7044-A40C-56D6-9EDF-DFA9742A29D5}"/>
              </a:ext>
            </a:extLst>
          </p:cNvPr>
          <p:cNvSpPr txBox="1"/>
          <p:nvPr/>
        </p:nvSpPr>
        <p:spPr>
          <a:xfrm>
            <a:off x="3352800" y="3022599"/>
            <a:ext cx="21463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 b="1">
                <a:solidFill>
                  <a:srgbClr val="266A71"/>
                </a:solidFill>
                <a:latin typeface="Arial" panose="020B0604020202020204" pitchFamily="34" charset="0"/>
              </a:rPr>
              <a:t>Multimodal encoding</a:t>
            </a:r>
            <a:endParaRPr lang="zh-CN" altLang="en-US" sz="1200" b="1">
              <a:solidFill>
                <a:srgbClr val="266A71"/>
              </a:solidFill>
              <a:latin typeface="Arial" panose="020B0604020202020204" pitchFamily="34" charset="0"/>
            </a:endParaRPr>
          </a:p>
        </p:txBody>
      </p:sp>
      <p:sp>
        <p:nvSpPr>
          <p:cNvPr id="24" name="text_022">
            <a:extLst>
              <a:ext uri="{FF2B5EF4-FFF2-40B4-BE49-F238E27FC236}">
                <a16:creationId xmlns:a16="http://schemas.microsoft.com/office/drawing/2014/main" id="{7BCF492A-FB0A-81A1-7A98-EAEB11D0F4FB}"/>
              </a:ext>
            </a:extLst>
          </p:cNvPr>
          <p:cNvSpPr txBox="1"/>
          <p:nvPr/>
        </p:nvSpPr>
        <p:spPr>
          <a:xfrm>
            <a:off x="3352800" y="3378199"/>
            <a:ext cx="2146300" cy="520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400">
                <a:solidFill>
                  <a:srgbClr val="181818"/>
                </a:solidFill>
                <a:latin typeface="Times New Roman" panose="02020603050405020304" pitchFamily="18" charset="0"/>
              </a:rPr>
              <a:t>Qwen2.5-VL 7B
FP8 text encoder</a:t>
            </a:r>
            <a:endParaRPr lang="zh-CN" altLang="en-US" sz="14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" name="text_023">
            <a:extLst>
              <a:ext uri="{FF2B5EF4-FFF2-40B4-BE49-F238E27FC236}">
                <a16:creationId xmlns:a16="http://schemas.microsoft.com/office/drawing/2014/main" id="{52EC8ECF-EEB1-5522-FF41-BD6EEBE24240}"/>
              </a:ext>
            </a:extLst>
          </p:cNvPr>
          <p:cNvSpPr txBox="1"/>
          <p:nvPr/>
        </p:nvSpPr>
        <p:spPr>
          <a:xfrm>
            <a:off x="685800" y="4051299"/>
            <a:ext cx="1905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300" i="1">
                <a:solidFill>
                  <a:srgbClr val="181818"/>
                </a:solidFill>
                <a:latin typeface="Times New Roman" panose="02020603050405020304" pitchFamily="18" charset="0"/>
              </a:rPr>
              <a:t>Image latent</a:t>
            </a:r>
            <a:endParaRPr lang="zh-CN" altLang="en-US" sz="1300" i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" name="text_024">
            <a:extLst>
              <a:ext uri="{FF2B5EF4-FFF2-40B4-BE49-F238E27FC236}">
                <a16:creationId xmlns:a16="http://schemas.microsoft.com/office/drawing/2014/main" id="{201E7963-8C4A-5A72-0E45-C10489028EBD}"/>
              </a:ext>
            </a:extLst>
          </p:cNvPr>
          <p:cNvSpPr txBox="1"/>
          <p:nvPr/>
        </p:nvSpPr>
        <p:spPr>
          <a:xfrm>
            <a:off x="3378200" y="4051299"/>
            <a:ext cx="21209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300" i="1">
                <a:solidFill>
                  <a:srgbClr val="181818"/>
                </a:solidFill>
                <a:latin typeface="Times New Roman" panose="02020603050405020304" pitchFamily="18" charset="0"/>
              </a:rPr>
              <a:t>Text conditioning</a:t>
            </a:r>
            <a:endParaRPr lang="zh-CN" altLang="en-US" sz="1300" i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27" name="line_025">
            <a:extLst>
              <a:ext uri="{FF2B5EF4-FFF2-40B4-BE49-F238E27FC236}">
                <a16:creationId xmlns:a16="http://schemas.microsoft.com/office/drawing/2014/main" id="{891A61DF-6FDF-3A04-2974-806567D5C30C}"/>
              </a:ext>
            </a:extLst>
          </p:cNvPr>
          <p:cNvCxnSpPr/>
          <p:nvPr/>
        </p:nvCxnSpPr>
        <p:spPr>
          <a:xfrm>
            <a:off x="1536700" y="4368800"/>
            <a:ext cx="0" cy="127000"/>
          </a:xfrm>
          <a:prstGeom prst="line">
            <a:avLst/>
          </a:prstGeom>
          <a:ln w="9525">
            <a:solidFill>
              <a:srgbClr val="266A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line_026">
            <a:extLst>
              <a:ext uri="{FF2B5EF4-FFF2-40B4-BE49-F238E27FC236}">
                <a16:creationId xmlns:a16="http://schemas.microsoft.com/office/drawing/2014/main" id="{3AB98AF8-0B72-7C1D-C760-54E3126817C5}"/>
              </a:ext>
            </a:extLst>
          </p:cNvPr>
          <p:cNvCxnSpPr/>
          <p:nvPr/>
        </p:nvCxnSpPr>
        <p:spPr>
          <a:xfrm flipH="1">
            <a:off x="393700" y="4495800"/>
            <a:ext cx="1143000" cy="0"/>
          </a:xfrm>
          <a:prstGeom prst="line">
            <a:avLst/>
          </a:prstGeom>
          <a:ln w="9525">
            <a:solidFill>
              <a:srgbClr val="266A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line_027">
            <a:extLst>
              <a:ext uri="{FF2B5EF4-FFF2-40B4-BE49-F238E27FC236}">
                <a16:creationId xmlns:a16="http://schemas.microsoft.com/office/drawing/2014/main" id="{5B7A7549-1AE6-DFD9-28B2-FA8920E0FA59}"/>
              </a:ext>
            </a:extLst>
          </p:cNvPr>
          <p:cNvCxnSpPr/>
          <p:nvPr/>
        </p:nvCxnSpPr>
        <p:spPr>
          <a:xfrm>
            <a:off x="393700" y="4495800"/>
            <a:ext cx="0" cy="3403600"/>
          </a:xfrm>
          <a:prstGeom prst="line">
            <a:avLst/>
          </a:prstGeom>
          <a:ln w="9525">
            <a:solidFill>
              <a:srgbClr val="266A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ine_028">
            <a:extLst>
              <a:ext uri="{FF2B5EF4-FFF2-40B4-BE49-F238E27FC236}">
                <a16:creationId xmlns:a16="http://schemas.microsoft.com/office/drawing/2014/main" id="{F8DB23CC-57FA-59F9-0A11-459E38FDFB5A}"/>
              </a:ext>
            </a:extLst>
          </p:cNvPr>
          <p:cNvCxnSpPr/>
          <p:nvPr/>
        </p:nvCxnSpPr>
        <p:spPr>
          <a:xfrm>
            <a:off x="393700" y="7899400"/>
            <a:ext cx="317500" cy="0"/>
          </a:xfrm>
          <a:prstGeom prst="line">
            <a:avLst/>
          </a:prstGeom>
          <a:ln w="9525">
            <a:solidFill>
              <a:srgbClr val="266A7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ine_029">
            <a:extLst>
              <a:ext uri="{FF2B5EF4-FFF2-40B4-BE49-F238E27FC236}">
                <a16:creationId xmlns:a16="http://schemas.microsoft.com/office/drawing/2014/main" id="{AD60CB62-E32E-75CE-D190-E20843869D68}"/>
              </a:ext>
            </a:extLst>
          </p:cNvPr>
          <p:cNvCxnSpPr/>
          <p:nvPr/>
        </p:nvCxnSpPr>
        <p:spPr>
          <a:xfrm>
            <a:off x="4419600" y="4368800"/>
            <a:ext cx="0" cy="127000"/>
          </a:xfrm>
          <a:prstGeom prst="line">
            <a:avLst/>
          </a:prstGeom>
          <a:ln w="9525">
            <a:solidFill>
              <a:srgbClr val="266A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line_030">
            <a:extLst>
              <a:ext uri="{FF2B5EF4-FFF2-40B4-BE49-F238E27FC236}">
                <a16:creationId xmlns:a16="http://schemas.microsoft.com/office/drawing/2014/main" id="{DA4FFF3F-BF54-0120-B0ED-9E00D6974C4D}"/>
              </a:ext>
            </a:extLst>
          </p:cNvPr>
          <p:cNvCxnSpPr/>
          <p:nvPr/>
        </p:nvCxnSpPr>
        <p:spPr>
          <a:xfrm>
            <a:off x="4419600" y="4495800"/>
            <a:ext cx="1460500" cy="0"/>
          </a:xfrm>
          <a:prstGeom prst="line">
            <a:avLst/>
          </a:prstGeom>
          <a:ln w="9525">
            <a:solidFill>
              <a:srgbClr val="266A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line_031">
            <a:extLst>
              <a:ext uri="{FF2B5EF4-FFF2-40B4-BE49-F238E27FC236}">
                <a16:creationId xmlns:a16="http://schemas.microsoft.com/office/drawing/2014/main" id="{6AB60988-48DE-337E-8AAE-0BC1163F4B22}"/>
              </a:ext>
            </a:extLst>
          </p:cNvPr>
          <p:cNvCxnSpPr/>
          <p:nvPr/>
        </p:nvCxnSpPr>
        <p:spPr>
          <a:xfrm>
            <a:off x="5880100" y="4495800"/>
            <a:ext cx="0" cy="3048000"/>
          </a:xfrm>
          <a:prstGeom prst="line">
            <a:avLst/>
          </a:prstGeom>
          <a:ln w="9525">
            <a:solidFill>
              <a:srgbClr val="266A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line_032">
            <a:extLst>
              <a:ext uri="{FF2B5EF4-FFF2-40B4-BE49-F238E27FC236}">
                <a16:creationId xmlns:a16="http://schemas.microsoft.com/office/drawing/2014/main" id="{6C673C79-809A-32F9-30C6-E2635EC81F51}"/>
              </a:ext>
            </a:extLst>
          </p:cNvPr>
          <p:cNvCxnSpPr/>
          <p:nvPr/>
        </p:nvCxnSpPr>
        <p:spPr>
          <a:xfrm flipH="1">
            <a:off x="5029200" y="7543800"/>
            <a:ext cx="850900" cy="0"/>
          </a:xfrm>
          <a:prstGeom prst="line">
            <a:avLst/>
          </a:prstGeom>
          <a:ln w="9525">
            <a:solidFill>
              <a:srgbClr val="266A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line_033">
            <a:extLst>
              <a:ext uri="{FF2B5EF4-FFF2-40B4-BE49-F238E27FC236}">
                <a16:creationId xmlns:a16="http://schemas.microsoft.com/office/drawing/2014/main" id="{708AF63D-08B2-41D3-A7A8-40D902357DE6}"/>
              </a:ext>
            </a:extLst>
          </p:cNvPr>
          <p:cNvCxnSpPr/>
          <p:nvPr/>
        </p:nvCxnSpPr>
        <p:spPr>
          <a:xfrm>
            <a:off x="5029200" y="7543800"/>
            <a:ext cx="0" cy="152400"/>
          </a:xfrm>
          <a:prstGeom prst="line">
            <a:avLst/>
          </a:prstGeom>
          <a:ln w="9525">
            <a:solidFill>
              <a:srgbClr val="266A7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_034">
            <a:extLst>
              <a:ext uri="{FF2B5EF4-FFF2-40B4-BE49-F238E27FC236}">
                <a16:creationId xmlns:a16="http://schemas.microsoft.com/office/drawing/2014/main" id="{1DDE7CA7-166A-02BD-9A62-DD196162A792}"/>
              </a:ext>
            </a:extLst>
          </p:cNvPr>
          <p:cNvSpPr/>
          <p:nvPr/>
        </p:nvSpPr>
        <p:spPr>
          <a:xfrm>
            <a:off x="838200" y="4800600"/>
            <a:ext cx="4584700" cy="2349500"/>
          </a:xfrm>
          <a:prstGeom prst="rect">
            <a:avLst/>
          </a:prstGeom>
          <a:solidFill>
            <a:srgbClr val="F7F9F9"/>
          </a:solidFill>
          <a:ln w="6350">
            <a:solidFill>
              <a:srgbClr val="B7BC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text_035">
            <a:extLst>
              <a:ext uri="{FF2B5EF4-FFF2-40B4-BE49-F238E27FC236}">
                <a16:creationId xmlns:a16="http://schemas.microsoft.com/office/drawing/2014/main" id="{E8093CCA-5527-1B34-6988-41FD2075D9DF}"/>
              </a:ext>
            </a:extLst>
          </p:cNvPr>
          <p:cNvSpPr txBox="1"/>
          <p:nvPr/>
        </p:nvSpPr>
        <p:spPr>
          <a:xfrm>
            <a:off x="1028700" y="4876799"/>
            <a:ext cx="42037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400" b="1">
                <a:solidFill>
                  <a:srgbClr val="266A71"/>
                </a:solidFill>
                <a:latin typeface="Arial" panose="020B0604020202020204" pitchFamily="34" charset="0"/>
              </a:rPr>
              <a:t>Qwen-Image-Edit-2509</a:t>
            </a:r>
            <a:endParaRPr lang="zh-CN" altLang="en-US" sz="1400" b="1">
              <a:solidFill>
                <a:srgbClr val="266A71"/>
              </a:solidFill>
              <a:latin typeface="Arial" panose="020B0604020202020204" pitchFamily="34" charset="0"/>
            </a:endParaRPr>
          </a:p>
        </p:txBody>
      </p:sp>
      <p:sp>
        <p:nvSpPr>
          <p:cNvPr id="38" name="text_036">
            <a:extLst>
              <a:ext uri="{FF2B5EF4-FFF2-40B4-BE49-F238E27FC236}">
                <a16:creationId xmlns:a16="http://schemas.microsoft.com/office/drawing/2014/main" id="{4600B8EC-86C9-7637-7A26-14ABAA098A46}"/>
              </a:ext>
            </a:extLst>
          </p:cNvPr>
          <p:cNvSpPr txBox="1"/>
          <p:nvPr/>
        </p:nvSpPr>
        <p:spPr>
          <a:xfrm>
            <a:off x="1028700" y="5232399"/>
            <a:ext cx="4203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400">
                <a:solidFill>
                  <a:srgbClr val="181818"/>
                </a:solidFill>
                <a:latin typeface="Times New Roman" panose="02020603050405020304" pitchFamily="18" charset="0"/>
              </a:rPr>
              <a:t>FP8 diffusion model</a:t>
            </a:r>
            <a:endParaRPr lang="zh-CN" altLang="en-US" sz="14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39" name="line_037">
            <a:extLst>
              <a:ext uri="{FF2B5EF4-FFF2-40B4-BE49-F238E27FC236}">
                <a16:creationId xmlns:a16="http://schemas.microsoft.com/office/drawing/2014/main" id="{BBC4E1DF-7722-B222-6198-AF11AAA0E684}"/>
              </a:ext>
            </a:extLst>
          </p:cNvPr>
          <p:cNvCxnSpPr/>
          <p:nvPr/>
        </p:nvCxnSpPr>
        <p:spPr>
          <a:xfrm>
            <a:off x="1028700" y="5638800"/>
            <a:ext cx="4203700" cy="0"/>
          </a:xfrm>
          <a:prstGeom prst="line">
            <a:avLst/>
          </a:prstGeom>
          <a:ln w="5715">
            <a:solidFill>
              <a:srgbClr val="B7BC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_038">
            <a:extLst>
              <a:ext uri="{FF2B5EF4-FFF2-40B4-BE49-F238E27FC236}">
                <a16:creationId xmlns:a16="http://schemas.microsoft.com/office/drawing/2014/main" id="{71D83A96-6A49-D65A-02B8-E6EBA6CC9E10}"/>
              </a:ext>
            </a:extLst>
          </p:cNvPr>
          <p:cNvSpPr txBox="1"/>
          <p:nvPr/>
        </p:nvSpPr>
        <p:spPr>
          <a:xfrm>
            <a:off x="1041400" y="5765799"/>
            <a:ext cx="17653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400" b="1">
                <a:solidFill>
                  <a:srgbClr val="181818"/>
                </a:solidFill>
                <a:latin typeface="Times New Roman" panose="02020603050405020304" pitchFamily="18" charset="0"/>
              </a:rPr>
              <a:t>Standard path</a:t>
            </a:r>
            <a:endParaRPr lang="zh-CN" altLang="en-US" sz="14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" name="text_039">
            <a:extLst>
              <a:ext uri="{FF2B5EF4-FFF2-40B4-BE49-F238E27FC236}">
                <a16:creationId xmlns:a16="http://schemas.microsoft.com/office/drawing/2014/main" id="{498AFABE-2EA2-7941-7A82-3E728164A199}"/>
              </a:ext>
            </a:extLst>
          </p:cNvPr>
          <p:cNvSpPr txBox="1"/>
          <p:nvPr/>
        </p:nvSpPr>
        <p:spPr>
          <a:xfrm>
            <a:off x="3124200" y="5765799"/>
            <a:ext cx="20828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400" b="1">
                <a:solidFill>
                  <a:srgbClr val="181818"/>
                </a:solidFill>
                <a:latin typeface="Times New Roman" panose="02020603050405020304" pitchFamily="18" charset="0"/>
              </a:rPr>
              <a:t>Lightning LoRA</a:t>
            </a:r>
            <a:endParaRPr lang="zh-CN" altLang="en-US" sz="14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" name="text_040">
            <a:extLst>
              <a:ext uri="{FF2B5EF4-FFF2-40B4-BE49-F238E27FC236}">
                <a16:creationId xmlns:a16="http://schemas.microsoft.com/office/drawing/2014/main" id="{7D99ECAF-EEB2-164B-D98C-F383D874DD75}"/>
              </a:ext>
            </a:extLst>
          </p:cNvPr>
          <p:cNvSpPr txBox="1"/>
          <p:nvPr/>
        </p:nvSpPr>
        <p:spPr>
          <a:xfrm>
            <a:off x="3124200" y="6095999"/>
            <a:ext cx="20828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 i="1">
                <a:solidFill>
                  <a:srgbClr val="181818"/>
                </a:solidFill>
                <a:latin typeface="Times New Roman" panose="02020603050405020304" pitchFamily="18" charset="0"/>
              </a:rPr>
              <a:t>Optional four-step path</a:t>
            </a:r>
            <a:endParaRPr lang="zh-CN" altLang="en-US" sz="1200" i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43" name="line_041">
            <a:extLst>
              <a:ext uri="{FF2B5EF4-FFF2-40B4-BE49-F238E27FC236}">
                <a16:creationId xmlns:a16="http://schemas.microsoft.com/office/drawing/2014/main" id="{5B859A28-8DB9-2517-7AFC-204AAB12A332}"/>
              </a:ext>
            </a:extLst>
          </p:cNvPr>
          <p:cNvCxnSpPr/>
          <p:nvPr/>
        </p:nvCxnSpPr>
        <p:spPr>
          <a:xfrm>
            <a:off x="2933700" y="5753100"/>
            <a:ext cx="0" cy="685800"/>
          </a:xfrm>
          <a:prstGeom prst="line">
            <a:avLst/>
          </a:prstGeom>
          <a:ln w="5715">
            <a:solidFill>
              <a:srgbClr val="B7BC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line_042">
            <a:extLst>
              <a:ext uri="{FF2B5EF4-FFF2-40B4-BE49-F238E27FC236}">
                <a16:creationId xmlns:a16="http://schemas.microsoft.com/office/drawing/2014/main" id="{EDD007AB-51AE-A66A-C2F1-22B1A02D2DF3}"/>
              </a:ext>
            </a:extLst>
          </p:cNvPr>
          <p:cNvCxnSpPr/>
          <p:nvPr/>
        </p:nvCxnSpPr>
        <p:spPr>
          <a:xfrm>
            <a:off x="1917700" y="6426200"/>
            <a:ext cx="0" cy="215900"/>
          </a:xfrm>
          <a:prstGeom prst="line">
            <a:avLst/>
          </a:prstGeom>
          <a:ln w="9525">
            <a:solidFill>
              <a:srgbClr val="18181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line_043">
            <a:extLst>
              <a:ext uri="{FF2B5EF4-FFF2-40B4-BE49-F238E27FC236}">
                <a16:creationId xmlns:a16="http://schemas.microsoft.com/office/drawing/2014/main" id="{A98EB31C-8FB5-405C-2EEA-EA548121669A}"/>
              </a:ext>
            </a:extLst>
          </p:cNvPr>
          <p:cNvCxnSpPr/>
          <p:nvPr/>
        </p:nvCxnSpPr>
        <p:spPr>
          <a:xfrm>
            <a:off x="4165600" y="6426200"/>
            <a:ext cx="0" cy="215900"/>
          </a:xfrm>
          <a:prstGeom prst="line">
            <a:avLst/>
          </a:prstGeom>
          <a:ln w="9525">
            <a:solidFill>
              <a:srgbClr val="18181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_044">
            <a:extLst>
              <a:ext uri="{FF2B5EF4-FFF2-40B4-BE49-F238E27FC236}">
                <a16:creationId xmlns:a16="http://schemas.microsoft.com/office/drawing/2014/main" id="{CEE8766F-20B0-CBEA-275E-1AC7385BB8E9}"/>
              </a:ext>
            </a:extLst>
          </p:cNvPr>
          <p:cNvSpPr/>
          <p:nvPr/>
        </p:nvSpPr>
        <p:spPr>
          <a:xfrm>
            <a:off x="1041400" y="6654800"/>
            <a:ext cx="4191000" cy="355600"/>
          </a:xfrm>
          <a:prstGeom prst="rect">
            <a:avLst/>
          </a:prstGeom>
          <a:solidFill>
            <a:srgbClr val="E3EE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text_045">
            <a:extLst>
              <a:ext uri="{FF2B5EF4-FFF2-40B4-BE49-F238E27FC236}">
                <a16:creationId xmlns:a16="http://schemas.microsoft.com/office/drawing/2014/main" id="{2EA3AC63-5CA9-EB95-4DAD-0EAE59FE520E}"/>
              </a:ext>
            </a:extLst>
          </p:cNvPr>
          <p:cNvSpPr txBox="1"/>
          <p:nvPr/>
        </p:nvSpPr>
        <p:spPr>
          <a:xfrm>
            <a:off x="1117600" y="6680199"/>
            <a:ext cx="40386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50">
                <a:solidFill>
                  <a:srgbClr val="181818"/>
                </a:solidFill>
                <a:latin typeface="Arial" panose="020B0604020202020204" pitchFamily="34" charset="0"/>
              </a:rPr>
              <a:t>Model preparation: AuraFlow / CFGNorm</a:t>
            </a:r>
            <a:endParaRPr lang="zh-CN" altLang="en-US" sz="1150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cxnSp>
        <p:nvCxnSpPr>
          <p:cNvPr id="48" name="line_046">
            <a:extLst>
              <a:ext uri="{FF2B5EF4-FFF2-40B4-BE49-F238E27FC236}">
                <a16:creationId xmlns:a16="http://schemas.microsoft.com/office/drawing/2014/main" id="{F5899418-36F9-BB08-CB8C-E6710A83D36B}"/>
              </a:ext>
            </a:extLst>
          </p:cNvPr>
          <p:cNvCxnSpPr/>
          <p:nvPr/>
        </p:nvCxnSpPr>
        <p:spPr>
          <a:xfrm>
            <a:off x="3136900" y="7150100"/>
            <a:ext cx="0" cy="546100"/>
          </a:xfrm>
          <a:prstGeom prst="line">
            <a:avLst/>
          </a:prstGeom>
          <a:ln w="9525">
            <a:solidFill>
              <a:srgbClr val="266A7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_047">
            <a:extLst>
              <a:ext uri="{FF2B5EF4-FFF2-40B4-BE49-F238E27FC236}">
                <a16:creationId xmlns:a16="http://schemas.microsoft.com/office/drawing/2014/main" id="{4B65F8AE-2023-4E18-9BF9-9ED82471A793}"/>
              </a:ext>
            </a:extLst>
          </p:cNvPr>
          <p:cNvSpPr/>
          <p:nvPr/>
        </p:nvSpPr>
        <p:spPr>
          <a:xfrm>
            <a:off x="711200" y="7696200"/>
            <a:ext cx="4711700" cy="596900"/>
          </a:xfrm>
          <a:prstGeom prst="rect">
            <a:avLst/>
          </a:prstGeom>
          <a:solidFill>
            <a:srgbClr val="FFFFFF"/>
          </a:solidFill>
          <a:ln w="11430">
            <a:solidFill>
              <a:srgbClr val="266A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text_048">
            <a:extLst>
              <a:ext uri="{FF2B5EF4-FFF2-40B4-BE49-F238E27FC236}">
                <a16:creationId xmlns:a16="http://schemas.microsoft.com/office/drawing/2014/main" id="{69328B9F-2CEA-F7D8-F216-9D39190E0D01}"/>
              </a:ext>
            </a:extLst>
          </p:cNvPr>
          <p:cNvSpPr txBox="1"/>
          <p:nvPr/>
        </p:nvSpPr>
        <p:spPr>
          <a:xfrm>
            <a:off x="863600" y="7785099"/>
            <a:ext cx="44069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300" b="1">
                <a:solidFill>
                  <a:srgbClr val="266A71"/>
                </a:solidFill>
                <a:latin typeface="Arial" panose="020B0604020202020204" pitchFamily="34" charset="0"/>
              </a:rPr>
              <a:t>Latent + conditioning + model</a:t>
            </a:r>
            <a:endParaRPr lang="zh-CN" altLang="en-US" sz="1300" b="1">
              <a:solidFill>
                <a:srgbClr val="266A71"/>
              </a:solidFill>
              <a:latin typeface="Arial" panose="020B0604020202020204" pitchFamily="34" charset="0"/>
            </a:endParaRPr>
          </a:p>
        </p:txBody>
      </p:sp>
      <p:cxnSp>
        <p:nvCxnSpPr>
          <p:cNvPr id="51" name="line_049">
            <a:extLst>
              <a:ext uri="{FF2B5EF4-FFF2-40B4-BE49-F238E27FC236}">
                <a16:creationId xmlns:a16="http://schemas.microsoft.com/office/drawing/2014/main" id="{8DAE1C81-B238-12F2-6820-006A636B9ADC}"/>
              </a:ext>
            </a:extLst>
          </p:cNvPr>
          <p:cNvCxnSpPr/>
          <p:nvPr/>
        </p:nvCxnSpPr>
        <p:spPr>
          <a:xfrm>
            <a:off x="5422900" y="8001000"/>
            <a:ext cx="850900" cy="0"/>
          </a:xfrm>
          <a:prstGeom prst="line">
            <a:avLst/>
          </a:prstGeom>
          <a:ln w="12700">
            <a:solidFill>
              <a:srgbClr val="266A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line_050">
            <a:extLst>
              <a:ext uri="{FF2B5EF4-FFF2-40B4-BE49-F238E27FC236}">
                <a16:creationId xmlns:a16="http://schemas.microsoft.com/office/drawing/2014/main" id="{986A5D02-CE1F-64B1-E294-F6185C2B5304}"/>
              </a:ext>
            </a:extLst>
          </p:cNvPr>
          <p:cNvCxnSpPr/>
          <p:nvPr/>
        </p:nvCxnSpPr>
        <p:spPr>
          <a:xfrm flipV="1">
            <a:off x="6273800" y="3429000"/>
            <a:ext cx="0" cy="4572000"/>
          </a:xfrm>
          <a:prstGeom prst="line">
            <a:avLst/>
          </a:prstGeom>
          <a:ln w="12700">
            <a:solidFill>
              <a:srgbClr val="266A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line_051">
            <a:extLst>
              <a:ext uri="{FF2B5EF4-FFF2-40B4-BE49-F238E27FC236}">
                <a16:creationId xmlns:a16="http://schemas.microsoft.com/office/drawing/2014/main" id="{7155ACC8-6126-DF30-CA2F-D88A853F3C07}"/>
              </a:ext>
            </a:extLst>
          </p:cNvPr>
          <p:cNvCxnSpPr/>
          <p:nvPr/>
        </p:nvCxnSpPr>
        <p:spPr>
          <a:xfrm>
            <a:off x="6273800" y="3429000"/>
            <a:ext cx="444500" cy="0"/>
          </a:xfrm>
          <a:prstGeom prst="line">
            <a:avLst/>
          </a:prstGeom>
          <a:ln w="12700">
            <a:solidFill>
              <a:srgbClr val="266A7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_052">
            <a:extLst>
              <a:ext uri="{FF2B5EF4-FFF2-40B4-BE49-F238E27FC236}">
                <a16:creationId xmlns:a16="http://schemas.microsoft.com/office/drawing/2014/main" id="{37978F95-7C4E-F17E-42DA-BC1D434FCB8C}"/>
              </a:ext>
            </a:extLst>
          </p:cNvPr>
          <p:cNvSpPr txBox="1"/>
          <p:nvPr/>
        </p:nvSpPr>
        <p:spPr>
          <a:xfrm>
            <a:off x="787400" y="8559799"/>
            <a:ext cx="45593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400" i="1">
                <a:solidFill>
                  <a:srgbClr val="181818"/>
                </a:solidFill>
                <a:latin typeface="Times New Roman" panose="02020603050405020304" pitchFamily="18" charset="0"/>
              </a:rPr>
              <a:t>Prepared inputs enter the denoising process.</a:t>
            </a:r>
            <a:endParaRPr lang="zh-CN" altLang="en-US" sz="1400" i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" name="rect_053">
            <a:extLst>
              <a:ext uri="{FF2B5EF4-FFF2-40B4-BE49-F238E27FC236}">
                <a16:creationId xmlns:a16="http://schemas.microsoft.com/office/drawing/2014/main" id="{D45F5B7E-9F95-4941-287A-CA430068298E}"/>
              </a:ext>
            </a:extLst>
          </p:cNvPr>
          <p:cNvSpPr/>
          <p:nvPr/>
        </p:nvSpPr>
        <p:spPr>
          <a:xfrm>
            <a:off x="7162800" y="1092200"/>
            <a:ext cx="139700" cy="139700"/>
          </a:xfrm>
          <a:prstGeom prst="rect">
            <a:avLst/>
          </a:prstGeom>
          <a:solidFill>
            <a:srgbClr val="DCE8E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rect_054">
            <a:extLst>
              <a:ext uri="{FF2B5EF4-FFF2-40B4-BE49-F238E27FC236}">
                <a16:creationId xmlns:a16="http://schemas.microsoft.com/office/drawing/2014/main" id="{3E59AD0B-5A73-B453-A8DD-19583CEC519B}"/>
              </a:ext>
            </a:extLst>
          </p:cNvPr>
          <p:cNvSpPr/>
          <p:nvPr/>
        </p:nvSpPr>
        <p:spPr>
          <a:xfrm>
            <a:off x="7315200" y="1092200"/>
            <a:ext cx="139700" cy="139700"/>
          </a:xfrm>
          <a:prstGeom prst="rect">
            <a:avLst/>
          </a:prstGeom>
          <a:solidFill>
            <a:srgbClr val="95B8B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rect_055">
            <a:extLst>
              <a:ext uri="{FF2B5EF4-FFF2-40B4-BE49-F238E27FC236}">
                <a16:creationId xmlns:a16="http://schemas.microsoft.com/office/drawing/2014/main" id="{80B30630-39D8-A8C1-7746-F2D82D506267}"/>
              </a:ext>
            </a:extLst>
          </p:cNvPr>
          <p:cNvSpPr/>
          <p:nvPr/>
        </p:nvSpPr>
        <p:spPr>
          <a:xfrm>
            <a:off x="7467600" y="1092200"/>
            <a:ext cx="139700" cy="139700"/>
          </a:xfrm>
          <a:prstGeom prst="rect">
            <a:avLst/>
          </a:prstGeom>
          <a:solidFill>
            <a:srgbClr val="BFD4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rect_056">
            <a:extLst>
              <a:ext uri="{FF2B5EF4-FFF2-40B4-BE49-F238E27FC236}">
                <a16:creationId xmlns:a16="http://schemas.microsoft.com/office/drawing/2014/main" id="{27EA3EDC-DAC0-5ED2-FE02-8CCFA82D6D11}"/>
              </a:ext>
            </a:extLst>
          </p:cNvPr>
          <p:cNvSpPr/>
          <p:nvPr/>
        </p:nvSpPr>
        <p:spPr>
          <a:xfrm>
            <a:off x="7620000" y="1092200"/>
            <a:ext cx="139700" cy="139700"/>
          </a:xfrm>
          <a:prstGeom prst="rect">
            <a:avLst/>
          </a:prstGeom>
          <a:solidFill>
            <a:srgbClr val="EDF3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rect_057">
            <a:extLst>
              <a:ext uri="{FF2B5EF4-FFF2-40B4-BE49-F238E27FC236}">
                <a16:creationId xmlns:a16="http://schemas.microsoft.com/office/drawing/2014/main" id="{1360C719-7432-9006-1C59-217A898BFC82}"/>
              </a:ext>
            </a:extLst>
          </p:cNvPr>
          <p:cNvSpPr/>
          <p:nvPr/>
        </p:nvSpPr>
        <p:spPr>
          <a:xfrm>
            <a:off x="7162800" y="1244600"/>
            <a:ext cx="139700" cy="139700"/>
          </a:xfrm>
          <a:prstGeom prst="rect">
            <a:avLst/>
          </a:prstGeom>
          <a:solidFill>
            <a:srgbClr val="EDF3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rect_058">
            <a:extLst>
              <a:ext uri="{FF2B5EF4-FFF2-40B4-BE49-F238E27FC236}">
                <a16:creationId xmlns:a16="http://schemas.microsoft.com/office/drawing/2014/main" id="{99489FF0-57A7-B1EF-8C98-A8EBC838AF05}"/>
              </a:ext>
            </a:extLst>
          </p:cNvPr>
          <p:cNvSpPr/>
          <p:nvPr/>
        </p:nvSpPr>
        <p:spPr>
          <a:xfrm>
            <a:off x="7315200" y="1244600"/>
            <a:ext cx="139700" cy="139700"/>
          </a:xfrm>
          <a:prstGeom prst="rect">
            <a:avLst/>
          </a:prstGeom>
          <a:solidFill>
            <a:srgbClr val="DCE8E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rect_059">
            <a:extLst>
              <a:ext uri="{FF2B5EF4-FFF2-40B4-BE49-F238E27FC236}">
                <a16:creationId xmlns:a16="http://schemas.microsoft.com/office/drawing/2014/main" id="{AE5E7D40-72F4-115E-9ECB-AEC03B6B7BA9}"/>
              </a:ext>
            </a:extLst>
          </p:cNvPr>
          <p:cNvSpPr/>
          <p:nvPr/>
        </p:nvSpPr>
        <p:spPr>
          <a:xfrm>
            <a:off x="7467600" y="1244600"/>
            <a:ext cx="139700" cy="139700"/>
          </a:xfrm>
          <a:prstGeom prst="rect">
            <a:avLst/>
          </a:prstGeom>
          <a:solidFill>
            <a:srgbClr val="95B8B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rect_060">
            <a:extLst>
              <a:ext uri="{FF2B5EF4-FFF2-40B4-BE49-F238E27FC236}">
                <a16:creationId xmlns:a16="http://schemas.microsoft.com/office/drawing/2014/main" id="{6EB7F8DA-6D1E-7786-AA86-39BFD52FC210}"/>
              </a:ext>
            </a:extLst>
          </p:cNvPr>
          <p:cNvSpPr/>
          <p:nvPr/>
        </p:nvSpPr>
        <p:spPr>
          <a:xfrm>
            <a:off x="7620000" y="1244600"/>
            <a:ext cx="139700" cy="139700"/>
          </a:xfrm>
          <a:prstGeom prst="rect">
            <a:avLst/>
          </a:prstGeom>
          <a:solidFill>
            <a:srgbClr val="BFD4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rect_061">
            <a:extLst>
              <a:ext uri="{FF2B5EF4-FFF2-40B4-BE49-F238E27FC236}">
                <a16:creationId xmlns:a16="http://schemas.microsoft.com/office/drawing/2014/main" id="{3C4E02B9-5448-C8F6-9982-DDDF764F562F}"/>
              </a:ext>
            </a:extLst>
          </p:cNvPr>
          <p:cNvSpPr/>
          <p:nvPr/>
        </p:nvSpPr>
        <p:spPr>
          <a:xfrm>
            <a:off x="7162800" y="1397000"/>
            <a:ext cx="139700" cy="139700"/>
          </a:xfrm>
          <a:prstGeom prst="rect">
            <a:avLst/>
          </a:prstGeom>
          <a:solidFill>
            <a:srgbClr val="BFD4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rect_062">
            <a:extLst>
              <a:ext uri="{FF2B5EF4-FFF2-40B4-BE49-F238E27FC236}">
                <a16:creationId xmlns:a16="http://schemas.microsoft.com/office/drawing/2014/main" id="{38E0CB37-AD0B-5966-6732-E7D781FC2A22}"/>
              </a:ext>
            </a:extLst>
          </p:cNvPr>
          <p:cNvSpPr/>
          <p:nvPr/>
        </p:nvSpPr>
        <p:spPr>
          <a:xfrm>
            <a:off x="7315200" y="1397000"/>
            <a:ext cx="139700" cy="139700"/>
          </a:xfrm>
          <a:prstGeom prst="rect">
            <a:avLst/>
          </a:prstGeom>
          <a:solidFill>
            <a:srgbClr val="EDF3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rect_063">
            <a:extLst>
              <a:ext uri="{FF2B5EF4-FFF2-40B4-BE49-F238E27FC236}">
                <a16:creationId xmlns:a16="http://schemas.microsoft.com/office/drawing/2014/main" id="{AB9840F0-A379-FB49-9EEF-53D0693F65E4}"/>
              </a:ext>
            </a:extLst>
          </p:cNvPr>
          <p:cNvSpPr/>
          <p:nvPr/>
        </p:nvSpPr>
        <p:spPr>
          <a:xfrm>
            <a:off x="7467600" y="1397000"/>
            <a:ext cx="139700" cy="139700"/>
          </a:xfrm>
          <a:prstGeom prst="rect">
            <a:avLst/>
          </a:prstGeom>
          <a:solidFill>
            <a:srgbClr val="DCE8E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rect_064">
            <a:extLst>
              <a:ext uri="{FF2B5EF4-FFF2-40B4-BE49-F238E27FC236}">
                <a16:creationId xmlns:a16="http://schemas.microsoft.com/office/drawing/2014/main" id="{8A7B0769-71D0-1898-A9CD-A146573A9266}"/>
              </a:ext>
            </a:extLst>
          </p:cNvPr>
          <p:cNvSpPr/>
          <p:nvPr/>
        </p:nvSpPr>
        <p:spPr>
          <a:xfrm>
            <a:off x="7620000" y="1397000"/>
            <a:ext cx="139700" cy="139700"/>
          </a:xfrm>
          <a:prstGeom prst="rect">
            <a:avLst/>
          </a:prstGeom>
          <a:solidFill>
            <a:srgbClr val="95B8B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rect_065">
            <a:extLst>
              <a:ext uri="{FF2B5EF4-FFF2-40B4-BE49-F238E27FC236}">
                <a16:creationId xmlns:a16="http://schemas.microsoft.com/office/drawing/2014/main" id="{9E0D4F4F-0040-FFF3-65C0-5C575DDE435E}"/>
              </a:ext>
            </a:extLst>
          </p:cNvPr>
          <p:cNvSpPr/>
          <p:nvPr/>
        </p:nvSpPr>
        <p:spPr>
          <a:xfrm>
            <a:off x="7162800" y="1549400"/>
            <a:ext cx="139700" cy="139700"/>
          </a:xfrm>
          <a:prstGeom prst="rect">
            <a:avLst/>
          </a:prstGeom>
          <a:solidFill>
            <a:srgbClr val="95B8B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rect_066">
            <a:extLst>
              <a:ext uri="{FF2B5EF4-FFF2-40B4-BE49-F238E27FC236}">
                <a16:creationId xmlns:a16="http://schemas.microsoft.com/office/drawing/2014/main" id="{E1D64D63-89A7-8A04-0346-D9AF87423B5A}"/>
              </a:ext>
            </a:extLst>
          </p:cNvPr>
          <p:cNvSpPr/>
          <p:nvPr/>
        </p:nvSpPr>
        <p:spPr>
          <a:xfrm>
            <a:off x="7315200" y="1549400"/>
            <a:ext cx="139700" cy="139700"/>
          </a:xfrm>
          <a:prstGeom prst="rect">
            <a:avLst/>
          </a:prstGeom>
          <a:solidFill>
            <a:srgbClr val="BFD4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rect_067">
            <a:extLst>
              <a:ext uri="{FF2B5EF4-FFF2-40B4-BE49-F238E27FC236}">
                <a16:creationId xmlns:a16="http://schemas.microsoft.com/office/drawing/2014/main" id="{3E7C0E41-7D53-F2FC-1E4E-8FB0D241DD43}"/>
              </a:ext>
            </a:extLst>
          </p:cNvPr>
          <p:cNvSpPr/>
          <p:nvPr/>
        </p:nvSpPr>
        <p:spPr>
          <a:xfrm>
            <a:off x="7467600" y="1549400"/>
            <a:ext cx="139700" cy="139700"/>
          </a:xfrm>
          <a:prstGeom prst="rect">
            <a:avLst/>
          </a:prstGeom>
          <a:solidFill>
            <a:srgbClr val="EDF3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rect_068">
            <a:extLst>
              <a:ext uri="{FF2B5EF4-FFF2-40B4-BE49-F238E27FC236}">
                <a16:creationId xmlns:a16="http://schemas.microsoft.com/office/drawing/2014/main" id="{1FDA78BA-DAD5-1F5F-E58B-BE1C4670C152}"/>
              </a:ext>
            </a:extLst>
          </p:cNvPr>
          <p:cNvSpPr/>
          <p:nvPr/>
        </p:nvSpPr>
        <p:spPr>
          <a:xfrm>
            <a:off x="7620000" y="1549400"/>
            <a:ext cx="139700" cy="139700"/>
          </a:xfrm>
          <a:prstGeom prst="rect">
            <a:avLst/>
          </a:prstGeom>
          <a:solidFill>
            <a:srgbClr val="DCE8E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text_069">
            <a:extLst>
              <a:ext uri="{FF2B5EF4-FFF2-40B4-BE49-F238E27FC236}">
                <a16:creationId xmlns:a16="http://schemas.microsoft.com/office/drawing/2014/main" id="{24C34AE9-0575-E8E5-1399-2471BD8D4AED}"/>
              </a:ext>
            </a:extLst>
          </p:cNvPr>
          <p:cNvSpPr txBox="1"/>
          <p:nvPr/>
        </p:nvSpPr>
        <p:spPr>
          <a:xfrm>
            <a:off x="8140700" y="1041399"/>
            <a:ext cx="30734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b="1">
                <a:solidFill>
                  <a:srgbClr val="181818"/>
                </a:solidFill>
                <a:latin typeface="Times New Roman" panose="02020603050405020304" pitchFamily="18" charset="0"/>
              </a:rPr>
              <a:t>Noise latent</a:t>
            </a:r>
            <a:endParaRPr lang="zh-CN" altLang="en-US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" name="text_070">
            <a:extLst>
              <a:ext uri="{FF2B5EF4-FFF2-40B4-BE49-F238E27FC236}">
                <a16:creationId xmlns:a16="http://schemas.microsoft.com/office/drawing/2014/main" id="{63B86AF7-0C3F-5274-607E-C09E1C495F6A}"/>
              </a:ext>
            </a:extLst>
          </p:cNvPr>
          <p:cNvSpPr txBox="1"/>
          <p:nvPr/>
        </p:nvSpPr>
        <p:spPr>
          <a:xfrm>
            <a:off x="8140700" y="1473199"/>
            <a:ext cx="30734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400">
                <a:solidFill>
                  <a:srgbClr val="181818"/>
                </a:solidFill>
                <a:latin typeface="Times New Roman" panose="02020603050405020304" pitchFamily="18" charset="0"/>
              </a:rPr>
              <a:t>Target size and random seed</a:t>
            </a:r>
            <a:endParaRPr lang="zh-CN" altLang="en-US" sz="14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73" name="line_071">
            <a:extLst>
              <a:ext uri="{FF2B5EF4-FFF2-40B4-BE49-F238E27FC236}">
                <a16:creationId xmlns:a16="http://schemas.microsoft.com/office/drawing/2014/main" id="{9673C059-9EF8-CB26-6E91-08F5E03346FF}"/>
              </a:ext>
            </a:extLst>
          </p:cNvPr>
          <p:cNvCxnSpPr/>
          <p:nvPr/>
        </p:nvCxnSpPr>
        <p:spPr>
          <a:xfrm>
            <a:off x="9067800" y="1917700"/>
            <a:ext cx="0" cy="584200"/>
          </a:xfrm>
          <a:prstGeom prst="line">
            <a:avLst/>
          </a:prstGeom>
          <a:ln w="9525">
            <a:solidFill>
              <a:srgbClr val="266A7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_072">
            <a:extLst>
              <a:ext uri="{FF2B5EF4-FFF2-40B4-BE49-F238E27FC236}">
                <a16:creationId xmlns:a16="http://schemas.microsoft.com/office/drawing/2014/main" id="{EC7E4550-7411-499F-4306-AF16B0090170}"/>
              </a:ext>
            </a:extLst>
          </p:cNvPr>
          <p:cNvSpPr/>
          <p:nvPr/>
        </p:nvSpPr>
        <p:spPr>
          <a:xfrm>
            <a:off x="6718300" y="2501900"/>
            <a:ext cx="4660900" cy="1955800"/>
          </a:xfrm>
          <a:prstGeom prst="rect">
            <a:avLst/>
          </a:prstGeom>
          <a:solidFill>
            <a:srgbClr val="EAF3F3"/>
          </a:solidFill>
          <a:ln w="12700">
            <a:solidFill>
              <a:srgbClr val="266A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text_073">
            <a:extLst>
              <a:ext uri="{FF2B5EF4-FFF2-40B4-BE49-F238E27FC236}">
                <a16:creationId xmlns:a16="http://schemas.microsoft.com/office/drawing/2014/main" id="{16BB44F6-164B-CC99-AF7B-F2B991CCFE50}"/>
              </a:ext>
            </a:extLst>
          </p:cNvPr>
          <p:cNvSpPr txBox="1"/>
          <p:nvPr/>
        </p:nvSpPr>
        <p:spPr>
          <a:xfrm>
            <a:off x="6934200" y="2628899"/>
            <a:ext cx="42291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500" b="1">
                <a:solidFill>
                  <a:srgbClr val="266A71"/>
                </a:solidFill>
                <a:latin typeface="Arial" panose="020B0604020202020204" pitchFamily="34" charset="0"/>
              </a:rPr>
              <a:t>Denoising / KSampler</a:t>
            </a:r>
            <a:endParaRPr lang="zh-CN" altLang="en-US" sz="1500" b="1">
              <a:solidFill>
                <a:srgbClr val="266A71"/>
              </a:solidFill>
              <a:latin typeface="Arial" panose="020B0604020202020204" pitchFamily="34" charset="0"/>
            </a:endParaRPr>
          </a:p>
        </p:txBody>
      </p:sp>
      <p:sp>
        <p:nvSpPr>
          <p:cNvPr id="76" name="text_074">
            <a:extLst>
              <a:ext uri="{FF2B5EF4-FFF2-40B4-BE49-F238E27FC236}">
                <a16:creationId xmlns:a16="http://schemas.microsoft.com/office/drawing/2014/main" id="{65D82E1E-F794-D5F1-52DF-5DBD11AABD92}"/>
              </a:ext>
            </a:extLst>
          </p:cNvPr>
          <p:cNvSpPr txBox="1"/>
          <p:nvPr/>
        </p:nvSpPr>
        <p:spPr>
          <a:xfrm>
            <a:off x="6934200" y="3086099"/>
            <a:ext cx="42291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500">
                <a:solidFill>
                  <a:srgbClr val="181818"/>
                </a:solidFill>
                <a:latin typeface="Times New Roman" panose="02020603050405020304" pitchFamily="18" charset="0"/>
              </a:rPr>
              <a:t>Conditioned iterative sampling</a:t>
            </a:r>
            <a:endParaRPr lang="zh-CN" altLang="en-US" sz="15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77" name="rect_075">
            <a:extLst>
              <a:ext uri="{FF2B5EF4-FFF2-40B4-BE49-F238E27FC236}">
                <a16:creationId xmlns:a16="http://schemas.microsoft.com/office/drawing/2014/main" id="{C1027936-693F-42E8-B80B-43C98C11EF5B}"/>
              </a:ext>
            </a:extLst>
          </p:cNvPr>
          <p:cNvSpPr/>
          <p:nvPr/>
        </p:nvSpPr>
        <p:spPr>
          <a:xfrm>
            <a:off x="7086600" y="3632200"/>
            <a:ext cx="635000" cy="495300"/>
          </a:xfrm>
          <a:prstGeom prst="rect">
            <a:avLst/>
          </a:prstGeom>
          <a:solidFill>
            <a:srgbClr val="FFFFFF"/>
          </a:solidFill>
          <a:ln w="7620">
            <a:solidFill>
              <a:srgbClr val="266A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text_076">
            <a:extLst>
              <a:ext uri="{FF2B5EF4-FFF2-40B4-BE49-F238E27FC236}">
                <a16:creationId xmlns:a16="http://schemas.microsoft.com/office/drawing/2014/main" id="{78437D82-B1B9-AAD3-D4AC-050A1D861875}"/>
              </a:ext>
            </a:extLst>
          </p:cNvPr>
          <p:cNvSpPr txBox="1"/>
          <p:nvPr/>
        </p:nvSpPr>
        <p:spPr>
          <a:xfrm>
            <a:off x="7239000" y="3670299"/>
            <a:ext cx="279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2300" i="1">
                <a:solidFill>
                  <a:srgbClr val="181818"/>
                </a:solidFill>
                <a:latin typeface="Times New Roman" panose="02020603050405020304" pitchFamily="18" charset="0"/>
              </a:rPr>
              <a:t>z</a:t>
            </a:r>
            <a:endParaRPr lang="zh-CN" altLang="en-US" sz="2300" i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79" name="text_077">
            <a:extLst>
              <a:ext uri="{FF2B5EF4-FFF2-40B4-BE49-F238E27FC236}">
                <a16:creationId xmlns:a16="http://schemas.microsoft.com/office/drawing/2014/main" id="{413BDC42-C649-23AA-2E02-933DCE04BCF9}"/>
              </a:ext>
            </a:extLst>
          </p:cNvPr>
          <p:cNvSpPr txBox="1"/>
          <p:nvPr/>
        </p:nvSpPr>
        <p:spPr>
          <a:xfrm>
            <a:off x="7442200" y="3848100"/>
            <a:ext cx="228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 i="1">
                <a:solidFill>
                  <a:srgbClr val="181818"/>
                </a:solidFill>
                <a:latin typeface="Times New Roman" panose="02020603050405020304" pitchFamily="18" charset="0"/>
              </a:rPr>
              <a:t>T</a:t>
            </a:r>
            <a:endParaRPr lang="zh-CN" altLang="en-US" sz="1200" i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" name="rect_078">
            <a:extLst>
              <a:ext uri="{FF2B5EF4-FFF2-40B4-BE49-F238E27FC236}">
                <a16:creationId xmlns:a16="http://schemas.microsoft.com/office/drawing/2014/main" id="{D3434FDA-57AC-0FBE-1389-6A29B8A70D15}"/>
              </a:ext>
            </a:extLst>
          </p:cNvPr>
          <p:cNvSpPr/>
          <p:nvPr/>
        </p:nvSpPr>
        <p:spPr>
          <a:xfrm>
            <a:off x="8699500" y="3632200"/>
            <a:ext cx="635000" cy="495300"/>
          </a:xfrm>
          <a:prstGeom prst="rect">
            <a:avLst/>
          </a:prstGeom>
          <a:solidFill>
            <a:srgbClr val="FFFFFF"/>
          </a:solidFill>
          <a:ln w="7620">
            <a:solidFill>
              <a:srgbClr val="266A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text_079">
            <a:extLst>
              <a:ext uri="{FF2B5EF4-FFF2-40B4-BE49-F238E27FC236}">
                <a16:creationId xmlns:a16="http://schemas.microsoft.com/office/drawing/2014/main" id="{BC13156C-55C9-5B58-F2F6-F8BAF9D270DB}"/>
              </a:ext>
            </a:extLst>
          </p:cNvPr>
          <p:cNvSpPr txBox="1"/>
          <p:nvPr/>
        </p:nvSpPr>
        <p:spPr>
          <a:xfrm>
            <a:off x="8851900" y="3670299"/>
            <a:ext cx="279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2300" i="1">
                <a:solidFill>
                  <a:srgbClr val="181818"/>
                </a:solidFill>
                <a:latin typeface="Times New Roman" panose="02020603050405020304" pitchFamily="18" charset="0"/>
              </a:rPr>
              <a:t>z</a:t>
            </a:r>
            <a:endParaRPr lang="zh-CN" altLang="en-US" sz="2300" i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" name="text_080">
            <a:extLst>
              <a:ext uri="{FF2B5EF4-FFF2-40B4-BE49-F238E27FC236}">
                <a16:creationId xmlns:a16="http://schemas.microsoft.com/office/drawing/2014/main" id="{70EA5D4A-C7D4-CC5A-9FAC-5CF35D784D3C}"/>
              </a:ext>
            </a:extLst>
          </p:cNvPr>
          <p:cNvSpPr txBox="1"/>
          <p:nvPr/>
        </p:nvSpPr>
        <p:spPr>
          <a:xfrm>
            <a:off x="9055100" y="3848100"/>
            <a:ext cx="228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 i="1">
                <a:solidFill>
                  <a:srgbClr val="181818"/>
                </a:solidFill>
                <a:latin typeface="Times New Roman" panose="02020603050405020304" pitchFamily="18" charset="0"/>
              </a:rPr>
              <a:t>t</a:t>
            </a:r>
            <a:endParaRPr lang="zh-CN" altLang="en-US" sz="1200" i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83" name="rect_081">
            <a:extLst>
              <a:ext uri="{FF2B5EF4-FFF2-40B4-BE49-F238E27FC236}">
                <a16:creationId xmlns:a16="http://schemas.microsoft.com/office/drawing/2014/main" id="{624A4537-7246-205C-EA58-F4E7CB9F8E7C}"/>
              </a:ext>
            </a:extLst>
          </p:cNvPr>
          <p:cNvSpPr/>
          <p:nvPr/>
        </p:nvSpPr>
        <p:spPr>
          <a:xfrm>
            <a:off x="10401300" y="3632200"/>
            <a:ext cx="635000" cy="495300"/>
          </a:xfrm>
          <a:prstGeom prst="rect">
            <a:avLst/>
          </a:prstGeom>
          <a:solidFill>
            <a:srgbClr val="FFFFFF"/>
          </a:solidFill>
          <a:ln w="7620">
            <a:solidFill>
              <a:srgbClr val="266A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text_082">
            <a:extLst>
              <a:ext uri="{FF2B5EF4-FFF2-40B4-BE49-F238E27FC236}">
                <a16:creationId xmlns:a16="http://schemas.microsoft.com/office/drawing/2014/main" id="{D82083CE-2230-CA4C-DE4D-81E485085B3F}"/>
              </a:ext>
            </a:extLst>
          </p:cNvPr>
          <p:cNvSpPr txBox="1"/>
          <p:nvPr/>
        </p:nvSpPr>
        <p:spPr>
          <a:xfrm>
            <a:off x="10553700" y="3670299"/>
            <a:ext cx="279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2300" i="1">
                <a:solidFill>
                  <a:srgbClr val="181818"/>
                </a:solidFill>
                <a:latin typeface="Times New Roman" panose="02020603050405020304" pitchFamily="18" charset="0"/>
              </a:rPr>
              <a:t>z</a:t>
            </a:r>
            <a:endParaRPr lang="zh-CN" altLang="en-US" sz="2300" i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85" name="text_083">
            <a:extLst>
              <a:ext uri="{FF2B5EF4-FFF2-40B4-BE49-F238E27FC236}">
                <a16:creationId xmlns:a16="http://schemas.microsoft.com/office/drawing/2014/main" id="{FBA9B1CE-49AB-E551-C78A-4F8C6BC80077}"/>
              </a:ext>
            </a:extLst>
          </p:cNvPr>
          <p:cNvSpPr txBox="1"/>
          <p:nvPr/>
        </p:nvSpPr>
        <p:spPr>
          <a:xfrm>
            <a:off x="10756900" y="3848100"/>
            <a:ext cx="228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 i="1">
                <a:solidFill>
                  <a:srgbClr val="181818"/>
                </a:solidFill>
                <a:latin typeface="Times New Roman" panose="02020603050405020304" pitchFamily="18" charset="0"/>
              </a:rPr>
              <a:t>0</a:t>
            </a:r>
            <a:endParaRPr lang="zh-CN" altLang="en-US" sz="1200" i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86" name="line_084">
            <a:extLst>
              <a:ext uri="{FF2B5EF4-FFF2-40B4-BE49-F238E27FC236}">
                <a16:creationId xmlns:a16="http://schemas.microsoft.com/office/drawing/2014/main" id="{C14EA416-56E9-0AEB-4A5F-C35909EC6211}"/>
              </a:ext>
            </a:extLst>
          </p:cNvPr>
          <p:cNvCxnSpPr/>
          <p:nvPr/>
        </p:nvCxnSpPr>
        <p:spPr>
          <a:xfrm>
            <a:off x="7721600" y="3886200"/>
            <a:ext cx="977900" cy="0"/>
          </a:xfrm>
          <a:prstGeom prst="line">
            <a:avLst/>
          </a:prstGeom>
          <a:ln w="9525">
            <a:solidFill>
              <a:srgbClr val="266A7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line_085">
            <a:extLst>
              <a:ext uri="{FF2B5EF4-FFF2-40B4-BE49-F238E27FC236}">
                <a16:creationId xmlns:a16="http://schemas.microsoft.com/office/drawing/2014/main" id="{BB071954-2350-814C-9585-B88BE6AFA11E}"/>
              </a:ext>
            </a:extLst>
          </p:cNvPr>
          <p:cNvCxnSpPr/>
          <p:nvPr/>
        </p:nvCxnSpPr>
        <p:spPr>
          <a:xfrm>
            <a:off x="9334500" y="3886200"/>
            <a:ext cx="1066800" cy="0"/>
          </a:xfrm>
          <a:prstGeom prst="line">
            <a:avLst/>
          </a:prstGeom>
          <a:ln w="9525">
            <a:solidFill>
              <a:srgbClr val="266A7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line_086">
            <a:extLst>
              <a:ext uri="{FF2B5EF4-FFF2-40B4-BE49-F238E27FC236}">
                <a16:creationId xmlns:a16="http://schemas.microsoft.com/office/drawing/2014/main" id="{4597612A-1800-8AEE-A5BA-784AF1B1635B}"/>
              </a:ext>
            </a:extLst>
          </p:cNvPr>
          <p:cNvCxnSpPr/>
          <p:nvPr/>
        </p:nvCxnSpPr>
        <p:spPr>
          <a:xfrm>
            <a:off x="9067800" y="4457700"/>
            <a:ext cx="0" cy="406400"/>
          </a:xfrm>
          <a:prstGeom prst="line">
            <a:avLst/>
          </a:prstGeom>
          <a:ln w="9525">
            <a:solidFill>
              <a:srgbClr val="266A7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_087">
            <a:extLst>
              <a:ext uri="{FF2B5EF4-FFF2-40B4-BE49-F238E27FC236}">
                <a16:creationId xmlns:a16="http://schemas.microsoft.com/office/drawing/2014/main" id="{2F6B8FCF-D169-45ED-89A5-AC250BA91C70}"/>
              </a:ext>
            </a:extLst>
          </p:cNvPr>
          <p:cNvSpPr/>
          <p:nvPr/>
        </p:nvSpPr>
        <p:spPr>
          <a:xfrm>
            <a:off x="7086600" y="4864100"/>
            <a:ext cx="3937000" cy="838200"/>
          </a:xfrm>
          <a:prstGeom prst="rect">
            <a:avLst/>
          </a:prstGeom>
          <a:solidFill>
            <a:srgbClr val="FFFFFF"/>
          </a:solidFill>
          <a:ln w="8255">
            <a:solidFill>
              <a:srgbClr val="266A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text_088">
            <a:extLst>
              <a:ext uri="{FF2B5EF4-FFF2-40B4-BE49-F238E27FC236}">
                <a16:creationId xmlns:a16="http://schemas.microsoft.com/office/drawing/2014/main" id="{D6FB3651-3E9C-CE91-ED5D-6E43C0DC89C1}"/>
              </a:ext>
            </a:extLst>
          </p:cNvPr>
          <p:cNvSpPr txBox="1"/>
          <p:nvPr/>
        </p:nvSpPr>
        <p:spPr>
          <a:xfrm>
            <a:off x="7239000" y="4952999"/>
            <a:ext cx="36322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 b="1">
                <a:solidFill>
                  <a:srgbClr val="266A71"/>
                </a:solidFill>
                <a:latin typeface="Arial" panose="020B0604020202020204" pitchFamily="34" charset="0"/>
              </a:rPr>
              <a:t>VAE decode</a:t>
            </a:r>
            <a:endParaRPr lang="zh-CN" altLang="en-US" sz="1200" b="1">
              <a:solidFill>
                <a:srgbClr val="266A71"/>
              </a:solidFill>
              <a:latin typeface="Arial" panose="020B0604020202020204" pitchFamily="34" charset="0"/>
            </a:endParaRPr>
          </a:p>
        </p:txBody>
      </p:sp>
      <p:sp>
        <p:nvSpPr>
          <p:cNvPr id="91" name="text_089">
            <a:extLst>
              <a:ext uri="{FF2B5EF4-FFF2-40B4-BE49-F238E27FC236}">
                <a16:creationId xmlns:a16="http://schemas.microsoft.com/office/drawing/2014/main" id="{23802949-2BE1-F745-EC21-79D831F9C40D}"/>
              </a:ext>
            </a:extLst>
          </p:cNvPr>
          <p:cNvSpPr txBox="1"/>
          <p:nvPr/>
        </p:nvSpPr>
        <p:spPr>
          <a:xfrm>
            <a:off x="7239000" y="5308599"/>
            <a:ext cx="36322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400">
                <a:solidFill>
                  <a:srgbClr val="181818"/>
                </a:solidFill>
                <a:latin typeface="Times New Roman" panose="02020603050405020304" pitchFamily="18" charset="0"/>
              </a:rPr>
              <a:t>Qwen image VAE</a:t>
            </a:r>
            <a:endParaRPr lang="zh-CN" altLang="en-US" sz="14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92" name="line_090">
            <a:extLst>
              <a:ext uri="{FF2B5EF4-FFF2-40B4-BE49-F238E27FC236}">
                <a16:creationId xmlns:a16="http://schemas.microsoft.com/office/drawing/2014/main" id="{FDF8A416-1048-F853-48B6-A9F753B82BF9}"/>
              </a:ext>
            </a:extLst>
          </p:cNvPr>
          <p:cNvCxnSpPr/>
          <p:nvPr/>
        </p:nvCxnSpPr>
        <p:spPr>
          <a:xfrm>
            <a:off x="9067800" y="5702300"/>
            <a:ext cx="0" cy="368300"/>
          </a:xfrm>
          <a:prstGeom prst="line">
            <a:avLst/>
          </a:prstGeom>
          <a:ln w="9525">
            <a:solidFill>
              <a:srgbClr val="266A7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4" name="picture_091">
            <a:extLst>
              <a:ext uri="{FF2B5EF4-FFF2-40B4-BE49-F238E27FC236}">
                <a16:creationId xmlns:a16="http://schemas.microsoft.com/office/drawing/2014/main" id="{D970E81A-D18D-C172-7F6A-79F25E1CF1F8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0" y="6110845"/>
            <a:ext cx="2044700" cy="1519709"/>
          </a:xfrm>
          <a:prstGeom prst="rect">
            <a:avLst/>
          </a:prstGeom>
        </p:spPr>
      </p:pic>
      <p:sp>
        <p:nvSpPr>
          <p:cNvPr id="95" name="rect_092">
            <a:extLst>
              <a:ext uri="{FF2B5EF4-FFF2-40B4-BE49-F238E27FC236}">
                <a16:creationId xmlns:a16="http://schemas.microsoft.com/office/drawing/2014/main" id="{CB58A385-473B-104E-3E86-273C7638D1CD}"/>
              </a:ext>
            </a:extLst>
          </p:cNvPr>
          <p:cNvSpPr/>
          <p:nvPr/>
        </p:nvSpPr>
        <p:spPr>
          <a:xfrm>
            <a:off x="6985000" y="6110845"/>
            <a:ext cx="2044700" cy="1519709"/>
          </a:xfrm>
          <a:prstGeom prst="rect">
            <a:avLst/>
          </a:prstGeom>
          <a:noFill/>
          <a:ln w="4445" cap="flat" cmpd="sng" algn="ctr">
            <a:solidFill>
              <a:srgbClr val="BDBDB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text_093">
            <a:extLst>
              <a:ext uri="{FF2B5EF4-FFF2-40B4-BE49-F238E27FC236}">
                <a16:creationId xmlns:a16="http://schemas.microsoft.com/office/drawing/2014/main" id="{8C79B852-7733-8D30-3E45-C9B1EC41A895}"/>
              </a:ext>
            </a:extLst>
          </p:cNvPr>
          <p:cNvSpPr txBox="1"/>
          <p:nvPr/>
        </p:nvSpPr>
        <p:spPr>
          <a:xfrm>
            <a:off x="9398000" y="6210299"/>
            <a:ext cx="19177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700" b="1">
                <a:solidFill>
                  <a:srgbClr val="181818"/>
                </a:solidFill>
                <a:latin typeface="Times New Roman" panose="02020603050405020304" pitchFamily="18" charset="0"/>
              </a:rPr>
              <a:t>Generated edit</a:t>
            </a:r>
            <a:endParaRPr lang="zh-CN" altLang="en-US" sz="17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97" name="text_094">
            <a:extLst>
              <a:ext uri="{FF2B5EF4-FFF2-40B4-BE49-F238E27FC236}">
                <a16:creationId xmlns:a16="http://schemas.microsoft.com/office/drawing/2014/main" id="{3BFD836D-B8FE-E219-8165-56B4436B0CF6}"/>
              </a:ext>
            </a:extLst>
          </p:cNvPr>
          <p:cNvSpPr txBox="1"/>
          <p:nvPr/>
        </p:nvSpPr>
        <p:spPr>
          <a:xfrm>
            <a:off x="9398000" y="6718299"/>
            <a:ext cx="19177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400">
                <a:solidFill>
                  <a:srgbClr val="181818"/>
                </a:solidFill>
                <a:latin typeface="Times New Roman" panose="02020603050405020304" pitchFamily="18" charset="0"/>
              </a:rPr>
              <a:t>Scene content
Safety state
Image quality</a:t>
            </a:r>
            <a:endParaRPr lang="zh-CN" altLang="en-US" sz="14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98" name="line_095">
            <a:extLst>
              <a:ext uri="{FF2B5EF4-FFF2-40B4-BE49-F238E27FC236}">
                <a16:creationId xmlns:a16="http://schemas.microsoft.com/office/drawing/2014/main" id="{21DBED29-8176-B9D4-A9F4-E0F0211CCA11}"/>
              </a:ext>
            </a:extLst>
          </p:cNvPr>
          <p:cNvCxnSpPr/>
          <p:nvPr/>
        </p:nvCxnSpPr>
        <p:spPr>
          <a:xfrm>
            <a:off x="9067800" y="7658100"/>
            <a:ext cx="0" cy="317500"/>
          </a:xfrm>
          <a:prstGeom prst="line">
            <a:avLst/>
          </a:prstGeom>
          <a:ln w="9525">
            <a:solidFill>
              <a:srgbClr val="266A7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_096">
            <a:extLst>
              <a:ext uri="{FF2B5EF4-FFF2-40B4-BE49-F238E27FC236}">
                <a16:creationId xmlns:a16="http://schemas.microsoft.com/office/drawing/2014/main" id="{39B2C5A1-9688-1679-F7C3-5AFEA03D59D4}"/>
              </a:ext>
            </a:extLst>
          </p:cNvPr>
          <p:cNvSpPr txBox="1"/>
          <p:nvPr/>
        </p:nvSpPr>
        <p:spPr>
          <a:xfrm>
            <a:off x="6946900" y="7975599"/>
            <a:ext cx="42672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50" b="1">
                <a:solidFill>
                  <a:srgbClr val="181818"/>
                </a:solidFill>
                <a:latin typeface="Arial" panose="020B0604020202020204" pitchFamily="34" charset="0"/>
              </a:rPr>
              <a:t>Human review and YOLO annotation</a:t>
            </a:r>
            <a:endParaRPr lang="zh-CN" altLang="en-US" sz="1250" b="1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cxnSp>
        <p:nvCxnSpPr>
          <p:cNvPr id="100" name="line_097">
            <a:extLst>
              <a:ext uri="{FF2B5EF4-FFF2-40B4-BE49-F238E27FC236}">
                <a16:creationId xmlns:a16="http://schemas.microsoft.com/office/drawing/2014/main" id="{CDB7E9B2-DCC2-BBCD-F30F-954E6FD3349C}"/>
              </a:ext>
            </a:extLst>
          </p:cNvPr>
          <p:cNvCxnSpPr/>
          <p:nvPr/>
        </p:nvCxnSpPr>
        <p:spPr>
          <a:xfrm>
            <a:off x="9067800" y="8407400"/>
            <a:ext cx="0" cy="241300"/>
          </a:xfrm>
          <a:prstGeom prst="line">
            <a:avLst/>
          </a:prstGeom>
          <a:ln w="9525">
            <a:solidFill>
              <a:srgbClr val="266A7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_098">
            <a:extLst>
              <a:ext uri="{FF2B5EF4-FFF2-40B4-BE49-F238E27FC236}">
                <a16:creationId xmlns:a16="http://schemas.microsoft.com/office/drawing/2014/main" id="{A888212A-57D6-EBBD-C730-47934DCE080A}"/>
              </a:ext>
            </a:extLst>
          </p:cNvPr>
          <p:cNvSpPr txBox="1"/>
          <p:nvPr/>
        </p:nvSpPr>
        <p:spPr>
          <a:xfrm>
            <a:off x="6959600" y="8661399"/>
            <a:ext cx="4368800" cy="393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2000" b="1">
                <a:solidFill>
                  <a:srgbClr val="266A71"/>
                </a:solidFill>
                <a:latin typeface="Times New Roman" panose="02020603050405020304" pitchFamily="18" charset="0"/>
              </a:rPr>
              <a:t>Arm C: 1,085 retained images</a:t>
            </a:r>
            <a:endParaRPr lang="zh-CN" altLang="en-US" sz="2000" b="1">
              <a:solidFill>
                <a:srgbClr val="266A7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102" name="line_099">
            <a:extLst>
              <a:ext uri="{FF2B5EF4-FFF2-40B4-BE49-F238E27FC236}">
                <a16:creationId xmlns:a16="http://schemas.microsoft.com/office/drawing/2014/main" id="{3025A245-AF55-BF15-E659-F85261ABEA5F}"/>
              </a:ext>
            </a:extLst>
          </p:cNvPr>
          <p:cNvCxnSpPr/>
          <p:nvPr/>
        </p:nvCxnSpPr>
        <p:spPr>
          <a:xfrm>
            <a:off x="6959600" y="9105900"/>
            <a:ext cx="4356100" cy="0"/>
          </a:xfrm>
          <a:prstGeom prst="line">
            <a:avLst/>
          </a:prstGeom>
          <a:ln w="12700">
            <a:solidFill>
              <a:srgbClr val="266A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_100">
            <a:extLst>
              <a:ext uri="{FF2B5EF4-FFF2-40B4-BE49-F238E27FC236}">
                <a16:creationId xmlns:a16="http://schemas.microsoft.com/office/drawing/2014/main" id="{80E266E2-A03B-7553-38A5-DE4BA3125DE7}"/>
              </a:ext>
            </a:extLst>
          </p:cNvPr>
          <p:cNvSpPr txBox="1"/>
          <p:nvPr/>
        </p:nvSpPr>
        <p:spPr>
          <a:xfrm>
            <a:off x="304800" y="9258300"/>
            <a:ext cx="110744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100" i="1">
                <a:solidFill>
                  <a:srgbClr val="181818"/>
                </a:solidFill>
                <a:latin typeface="Times New Roman" panose="02020603050405020304" pitchFamily="18" charset="0"/>
              </a:rPr>
              <a:t>Reference and retained example are unpaired; four-step acceleration is optional.</a:t>
            </a:r>
            <a:endParaRPr lang="zh-CN" altLang="en-US" sz="1100" i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62335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GURENUMBER" val="2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</Words>
  <Application>Microsoft Office PowerPoint</Application>
  <PresentationFormat>自定义</PresentationFormat>
  <Paragraphs>38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zhangyizhou@connect.hku.hk</dc:creator>
  <cp:lastModifiedBy>zhangyizhou@connect.hku.hk</cp:lastModifiedBy>
  <cp:revision>1</cp:revision>
  <dcterms:created xsi:type="dcterms:W3CDTF">2026-10-06T10:13:05Z</dcterms:created>
  <dcterms:modified xsi:type="dcterms:W3CDTF">2026-10-06T10:13:05Z</dcterms:modified>
</cp:coreProperties>
</file>