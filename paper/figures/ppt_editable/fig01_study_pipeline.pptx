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891000" cy="5181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6D287-619B-4054-A463-9836BE59B5D7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600200" y="1143000"/>
            <a:ext cx="10058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5F14B-71A3-4E02-8F59-42B6F6CAE0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75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Source: EXPERIMENTS.md, PROGRESS.md, docs/v5_prompts/full_generation_20261004.md. A=93; B/C=1085; D=1308 candidates generated, screening and reviewed annotations pending, target 1085. dev61 is development data, excluded from detector training. D is a later extension of the completed v4 A/B/C study.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5F14B-71A3-4E02-8F59-42B6F6CAE0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013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9E3D1-8522-D7DF-4AF9-611D32B87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1375" y="848008"/>
            <a:ext cx="12668250" cy="1803964"/>
          </a:xfrm>
        </p:spPr>
        <p:txBody>
          <a:bodyPr anchor="b"/>
          <a:lstStyle>
            <a:lvl1pPr algn="ctr">
              <a:defRPr sz="453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27906F-C7D2-044C-8404-7C86964E8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1375" y="2721540"/>
            <a:ext cx="12668250" cy="1251020"/>
          </a:xfrm>
        </p:spPr>
        <p:txBody>
          <a:bodyPr/>
          <a:lstStyle>
            <a:lvl1pPr marL="0" indent="0" algn="ctr">
              <a:buNone/>
              <a:defRPr sz="1813"/>
            </a:lvl1pPr>
            <a:lvl2pPr marL="345460" indent="0" algn="ctr">
              <a:buNone/>
              <a:defRPr sz="1511"/>
            </a:lvl2pPr>
            <a:lvl3pPr marL="690921" indent="0" algn="ctr">
              <a:buNone/>
              <a:defRPr sz="1360"/>
            </a:lvl3pPr>
            <a:lvl4pPr marL="1036381" indent="0" algn="ctr">
              <a:buNone/>
              <a:defRPr sz="1209"/>
            </a:lvl4pPr>
            <a:lvl5pPr marL="1381841" indent="0" algn="ctr">
              <a:buNone/>
              <a:defRPr sz="1209"/>
            </a:lvl5pPr>
            <a:lvl6pPr marL="1727302" indent="0" algn="ctr">
              <a:buNone/>
              <a:defRPr sz="1209"/>
            </a:lvl6pPr>
            <a:lvl7pPr marL="2072762" indent="0" algn="ctr">
              <a:buNone/>
              <a:defRPr sz="1209"/>
            </a:lvl7pPr>
            <a:lvl8pPr marL="2418222" indent="0" algn="ctr">
              <a:buNone/>
              <a:defRPr sz="1209"/>
            </a:lvl8pPr>
            <a:lvl9pPr marL="2763683" indent="0" algn="ctr">
              <a:buNone/>
              <a:defRPr sz="1209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70361A-3A04-1563-438F-24646BC3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7A3BB-F97F-D809-BBE2-AAF4CD55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210AA3-344B-FF4E-3A8D-010AAF42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89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D0E87-8D24-F561-FAD4-05223801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A882CE-B55B-BB72-12B3-8734C6F0C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B3F01-91D5-631B-999D-F971D34E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5281FC-3B3B-3A1F-9FC4-2B998B73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AAEBE-30C5-9ADD-3B8F-37BB7DDA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8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DD40A-E4FF-2BE6-11F9-E796A158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459" y="1291803"/>
            <a:ext cx="14568488" cy="2155401"/>
          </a:xfrm>
        </p:spPr>
        <p:txBody>
          <a:bodyPr anchor="b"/>
          <a:lstStyle>
            <a:lvl1pPr>
              <a:defRPr sz="453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75DF95-9FE6-E4DA-5FA0-097B7B339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2459" y="3467595"/>
            <a:ext cx="14568488" cy="1133475"/>
          </a:xfrm>
        </p:spPr>
        <p:txBody>
          <a:bodyPr/>
          <a:lstStyle>
            <a:lvl1pPr marL="0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1pPr>
            <a:lvl2pPr marL="345460" indent="0">
              <a:buNone/>
              <a:defRPr sz="1511">
                <a:solidFill>
                  <a:schemeClr val="tx1">
                    <a:tint val="82000"/>
                  </a:schemeClr>
                </a:solidFill>
              </a:defRPr>
            </a:lvl2pPr>
            <a:lvl3pPr marL="690921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3pPr>
            <a:lvl4pPr marL="1036381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4pPr>
            <a:lvl5pPr marL="1381841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5pPr>
            <a:lvl6pPr marL="1727302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6pPr>
            <a:lvl7pPr marL="2072762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7pPr>
            <a:lvl8pPr marL="2418222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8pPr>
            <a:lvl9pPr marL="2763683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03298-90AF-0727-0EC4-1DE932D6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18E8F2-4174-3BBB-8986-CE270EC9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F6A78-E275-88A0-2C84-DE7F170B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833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1AF4C-F680-CDDE-8B5F-BF49A518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0C853B-1FFB-5E6F-9878-9AFA360DF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1257" y="1379361"/>
            <a:ext cx="7178675" cy="32876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218F8E-91E5-7C30-245F-2DC2FC522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51070" y="1379361"/>
            <a:ext cx="7178675" cy="32876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BF375B-267E-D5B0-F69E-09CF75B8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719263-4618-A0F9-044E-16CD45C1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8DDFCE-5A63-BBDF-8F0B-53E38D09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8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4DA5B-245B-E4C6-CDB1-65391556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56" y="275874"/>
            <a:ext cx="14568488" cy="10015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043491-D621-70A3-0804-0AFC9E34B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3457" y="1270212"/>
            <a:ext cx="7145684" cy="622511"/>
          </a:xfrm>
        </p:spPr>
        <p:txBody>
          <a:bodyPr anchor="b"/>
          <a:lstStyle>
            <a:lvl1pPr marL="0" indent="0">
              <a:buNone/>
              <a:defRPr sz="1813" b="1"/>
            </a:lvl1pPr>
            <a:lvl2pPr marL="345460" indent="0">
              <a:buNone/>
              <a:defRPr sz="1511" b="1"/>
            </a:lvl2pPr>
            <a:lvl3pPr marL="690921" indent="0">
              <a:buNone/>
              <a:defRPr sz="1360" b="1"/>
            </a:lvl3pPr>
            <a:lvl4pPr marL="1036381" indent="0">
              <a:buNone/>
              <a:defRPr sz="1209" b="1"/>
            </a:lvl4pPr>
            <a:lvl5pPr marL="1381841" indent="0">
              <a:buNone/>
              <a:defRPr sz="1209" b="1"/>
            </a:lvl5pPr>
            <a:lvl6pPr marL="1727302" indent="0">
              <a:buNone/>
              <a:defRPr sz="1209" b="1"/>
            </a:lvl6pPr>
            <a:lvl7pPr marL="2072762" indent="0">
              <a:buNone/>
              <a:defRPr sz="1209" b="1"/>
            </a:lvl7pPr>
            <a:lvl8pPr marL="2418222" indent="0">
              <a:buNone/>
              <a:defRPr sz="1209" b="1"/>
            </a:lvl8pPr>
            <a:lvl9pPr marL="2763683" indent="0">
              <a:buNone/>
              <a:defRPr sz="12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6440DA-9F8C-7915-47AD-A85A39D78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3457" y="1892723"/>
            <a:ext cx="7145684" cy="27839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05127A-5B30-8A07-7DDD-2AF98813B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551070" y="1270212"/>
            <a:ext cx="7180875" cy="622511"/>
          </a:xfrm>
        </p:spPr>
        <p:txBody>
          <a:bodyPr anchor="b"/>
          <a:lstStyle>
            <a:lvl1pPr marL="0" indent="0">
              <a:buNone/>
              <a:defRPr sz="1813" b="1"/>
            </a:lvl1pPr>
            <a:lvl2pPr marL="345460" indent="0">
              <a:buNone/>
              <a:defRPr sz="1511" b="1"/>
            </a:lvl2pPr>
            <a:lvl3pPr marL="690921" indent="0">
              <a:buNone/>
              <a:defRPr sz="1360" b="1"/>
            </a:lvl3pPr>
            <a:lvl4pPr marL="1036381" indent="0">
              <a:buNone/>
              <a:defRPr sz="1209" b="1"/>
            </a:lvl4pPr>
            <a:lvl5pPr marL="1381841" indent="0">
              <a:buNone/>
              <a:defRPr sz="1209" b="1"/>
            </a:lvl5pPr>
            <a:lvl6pPr marL="1727302" indent="0">
              <a:buNone/>
              <a:defRPr sz="1209" b="1"/>
            </a:lvl6pPr>
            <a:lvl7pPr marL="2072762" indent="0">
              <a:buNone/>
              <a:defRPr sz="1209" b="1"/>
            </a:lvl7pPr>
            <a:lvl8pPr marL="2418222" indent="0">
              <a:buNone/>
              <a:defRPr sz="1209" b="1"/>
            </a:lvl8pPr>
            <a:lvl9pPr marL="2763683" indent="0">
              <a:buNone/>
              <a:defRPr sz="12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1D41F7-5870-44FC-914B-AA6684758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51070" y="1892723"/>
            <a:ext cx="7180875" cy="27839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74D5FA-9623-A4F7-B690-770795AB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BC4509-6EB7-A8B7-DE03-7E191DAB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A2E20B-09A8-183D-F980-8896CE30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27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D9CB0-89A4-BEF1-AADB-01B54DBD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75BB0B-C280-6DA3-FE92-9E6FABF4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3AD1D1-440E-E3E2-13CA-5FCB5FE4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2AA581-5A06-1EBF-BAC0-D5FC3A01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09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8B2C86-8955-BDB0-CBF8-8DE242A8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E51800-7317-E806-A13A-95A750DA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4834F9-15A2-7B18-DA8D-7E714DFD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45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8F271-63C4-46D9-0473-A3695F36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58" y="345440"/>
            <a:ext cx="5447787" cy="1209040"/>
          </a:xfrm>
        </p:spPr>
        <p:txBody>
          <a:bodyPr anchor="b"/>
          <a:lstStyle>
            <a:lvl1pPr>
              <a:defRPr sz="241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158E9F-3DC5-00E7-55B4-51CD99088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0876" y="746056"/>
            <a:ext cx="8551069" cy="3682294"/>
          </a:xfrm>
        </p:spPr>
        <p:txBody>
          <a:bodyPr/>
          <a:lstStyle>
            <a:lvl1pPr>
              <a:defRPr sz="2418"/>
            </a:lvl1pPr>
            <a:lvl2pPr>
              <a:defRPr sz="2116"/>
            </a:lvl2pPr>
            <a:lvl3pPr>
              <a:defRPr sz="1813"/>
            </a:lvl3pPr>
            <a:lvl4pPr>
              <a:defRPr sz="1511"/>
            </a:lvl4pPr>
            <a:lvl5pPr>
              <a:defRPr sz="1511"/>
            </a:lvl5pPr>
            <a:lvl6pPr>
              <a:defRPr sz="1511"/>
            </a:lvl6pPr>
            <a:lvl7pPr>
              <a:defRPr sz="1511"/>
            </a:lvl7pPr>
            <a:lvl8pPr>
              <a:defRPr sz="1511"/>
            </a:lvl8pPr>
            <a:lvl9pPr>
              <a:defRPr sz="151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F2C3A7-72D8-12A3-C335-95C4396AD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3458" y="1554480"/>
            <a:ext cx="5447787" cy="2879866"/>
          </a:xfrm>
        </p:spPr>
        <p:txBody>
          <a:bodyPr/>
          <a:lstStyle>
            <a:lvl1pPr marL="0" indent="0">
              <a:buNone/>
              <a:defRPr sz="1209"/>
            </a:lvl1pPr>
            <a:lvl2pPr marL="345460" indent="0">
              <a:buNone/>
              <a:defRPr sz="1058"/>
            </a:lvl2pPr>
            <a:lvl3pPr marL="690921" indent="0">
              <a:buNone/>
              <a:defRPr sz="907"/>
            </a:lvl3pPr>
            <a:lvl4pPr marL="1036381" indent="0">
              <a:buNone/>
              <a:defRPr sz="756"/>
            </a:lvl4pPr>
            <a:lvl5pPr marL="1381841" indent="0">
              <a:buNone/>
              <a:defRPr sz="756"/>
            </a:lvl5pPr>
            <a:lvl6pPr marL="1727302" indent="0">
              <a:buNone/>
              <a:defRPr sz="756"/>
            </a:lvl6pPr>
            <a:lvl7pPr marL="2072762" indent="0">
              <a:buNone/>
              <a:defRPr sz="756"/>
            </a:lvl7pPr>
            <a:lvl8pPr marL="2418222" indent="0">
              <a:buNone/>
              <a:defRPr sz="756"/>
            </a:lvl8pPr>
            <a:lvl9pPr marL="2763683" indent="0">
              <a:buNone/>
              <a:defRPr sz="7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AD70DD-675E-A3E6-D986-73CFD091C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BED747-8801-16CD-4F03-5EC2A56A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D48F0E-2BAB-3561-9AB8-82B8A84D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13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E8F9C-3425-AB06-0C5D-028976D8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58" y="345440"/>
            <a:ext cx="5447787" cy="1209040"/>
          </a:xfrm>
        </p:spPr>
        <p:txBody>
          <a:bodyPr anchor="b"/>
          <a:lstStyle>
            <a:lvl1pPr>
              <a:defRPr sz="241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063F9D-4251-8550-D134-F8ED8A1988D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180876" y="746056"/>
            <a:ext cx="8551069" cy="3682294"/>
          </a:xfrm>
        </p:spPr>
        <p:txBody>
          <a:bodyPr/>
          <a:lstStyle>
            <a:lvl1pPr marL="0" indent="0">
              <a:buNone/>
              <a:defRPr sz="2418"/>
            </a:lvl1pPr>
            <a:lvl2pPr marL="345460" indent="0">
              <a:buNone/>
              <a:defRPr sz="2116"/>
            </a:lvl2pPr>
            <a:lvl3pPr marL="690921" indent="0">
              <a:buNone/>
              <a:defRPr sz="1813"/>
            </a:lvl3pPr>
            <a:lvl4pPr marL="1036381" indent="0">
              <a:buNone/>
              <a:defRPr sz="1511"/>
            </a:lvl4pPr>
            <a:lvl5pPr marL="1381841" indent="0">
              <a:buNone/>
              <a:defRPr sz="1511"/>
            </a:lvl5pPr>
            <a:lvl6pPr marL="1727302" indent="0">
              <a:buNone/>
              <a:defRPr sz="1511"/>
            </a:lvl6pPr>
            <a:lvl7pPr marL="2072762" indent="0">
              <a:buNone/>
              <a:defRPr sz="1511"/>
            </a:lvl7pPr>
            <a:lvl8pPr marL="2418222" indent="0">
              <a:buNone/>
              <a:defRPr sz="1511"/>
            </a:lvl8pPr>
            <a:lvl9pPr marL="2763683" indent="0">
              <a:buNone/>
              <a:defRPr sz="1511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9C00D2-B539-C136-62E2-5C8EB5120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3458" y="1554480"/>
            <a:ext cx="5447787" cy="2879866"/>
          </a:xfrm>
        </p:spPr>
        <p:txBody>
          <a:bodyPr/>
          <a:lstStyle>
            <a:lvl1pPr marL="0" indent="0">
              <a:buNone/>
              <a:defRPr sz="1209"/>
            </a:lvl1pPr>
            <a:lvl2pPr marL="345460" indent="0">
              <a:buNone/>
              <a:defRPr sz="1058"/>
            </a:lvl2pPr>
            <a:lvl3pPr marL="690921" indent="0">
              <a:buNone/>
              <a:defRPr sz="907"/>
            </a:lvl3pPr>
            <a:lvl4pPr marL="1036381" indent="0">
              <a:buNone/>
              <a:defRPr sz="756"/>
            </a:lvl4pPr>
            <a:lvl5pPr marL="1381841" indent="0">
              <a:buNone/>
              <a:defRPr sz="756"/>
            </a:lvl5pPr>
            <a:lvl6pPr marL="1727302" indent="0">
              <a:buNone/>
              <a:defRPr sz="756"/>
            </a:lvl6pPr>
            <a:lvl7pPr marL="2072762" indent="0">
              <a:buNone/>
              <a:defRPr sz="756"/>
            </a:lvl7pPr>
            <a:lvl8pPr marL="2418222" indent="0">
              <a:buNone/>
              <a:defRPr sz="756"/>
            </a:lvl8pPr>
            <a:lvl9pPr marL="2763683" indent="0">
              <a:buNone/>
              <a:defRPr sz="7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CE49A2-89E4-F1D3-41DF-84570A88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016614-7FD1-A2AA-310D-5C24393D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641CDA-17CD-D7F8-65C3-3026878E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13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D9E06-EA99-C91A-E4AF-9CE23466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915444-BF12-302F-A523-981387B5B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1540F-5513-AFA4-B422-F2FD92B9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57BD0D-85ED-C52A-4405-BA7A6A51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457B3B-2B42-7B4B-50B4-F81E2D18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0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8776D7-2650-3FBF-5DAF-622C91ED8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087622" y="275872"/>
            <a:ext cx="3642122" cy="43911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928782-3A18-BE6C-5287-2ECEC4CF1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61256" y="275872"/>
            <a:ext cx="10715228" cy="43911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02D962-450B-E841-45F5-F9DC88240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3DD5EF-9AB6-42CC-90B5-602D8F0C8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A95E67-455B-BDDD-9200-694740A47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87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F13B7D-A42C-AF82-BC13-333C24583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256" y="275874"/>
            <a:ext cx="14568488" cy="100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1BBA73-E6AE-548B-DC8D-4A169E5CB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1256" y="1379361"/>
            <a:ext cx="14568488" cy="3287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499AE-EB7B-2588-0648-6B7EB26C2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61257" y="4802577"/>
            <a:ext cx="3800475" cy="275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6A8C5-BEBC-4396-9C46-53F9ABCE55B8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7947F-1B0F-EC9F-B348-8C46F6966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95145" y="4802577"/>
            <a:ext cx="5700713" cy="275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EDCD5E-1115-E240-2191-2050E9E9D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929270" y="4802577"/>
            <a:ext cx="3800475" cy="275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8FF03-DF9B-4651-9A1B-2A382C0E37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90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90921" rtl="0" eaLnBrk="1" latinLnBrk="0" hangingPunct="1">
        <a:lnSpc>
          <a:spcPct val="90000"/>
        </a:lnSpc>
        <a:spcBef>
          <a:spcPct val="0"/>
        </a:spcBef>
        <a:buNone/>
        <a:defRPr sz="33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2730" indent="-172730" algn="l" defTabSz="6909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1pPr>
      <a:lvl2pPr marL="518190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813" kern="1200">
          <a:solidFill>
            <a:schemeClr val="tx1"/>
          </a:solidFill>
          <a:latin typeface="+mn-lt"/>
          <a:ea typeface="+mn-ea"/>
          <a:cs typeface="+mn-cs"/>
        </a:defRPr>
      </a:lvl2pPr>
      <a:lvl3pPr marL="863651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511" kern="1200">
          <a:solidFill>
            <a:schemeClr val="tx1"/>
          </a:solidFill>
          <a:latin typeface="+mn-lt"/>
          <a:ea typeface="+mn-ea"/>
          <a:cs typeface="+mn-cs"/>
        </a:defRPr>
      </a:lvl3pPr>
      <a:lvl4pPr marL="1209111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4pPr>
      <a:lvl5pPr marL="1554571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5pPr>
      <a:lvl6pPr marL="1900032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6pPr>
      <a:lvl7pPr marL="2245492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7pPr>
      <a:lvl8pPr marL="2590952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8pPr>
      <a:lvl9pPr marL="2936413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1pPr>
      <a:lvl2pPr marL="345460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2pPr>
      <a:lvl3pPr marL="690921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36381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4pPr>
      <a:lvl5pPr marL="1381841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5pPr>
      <a:lvl6pPr marL="1727302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6pPr>
      <a:lvl7pPr marL="2072762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7pPr>
      <a:lvl8pPr marL="2418222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8pPr>
      <a:lvl9pPr marL="2763683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3060E2F3-C812-6BF7-FA3C-F60998F5D748}"/>
              </a:ext>
            </a:extLst>
          </p:cNvPr>
          <p:cNvSpPr txBox="1"/>
          <p:nvPr/>
        </p:nvSpPr>
        <p:spPr>
          <a:xfrm>
            <a:off x="304800" y="190499"/>
            <a:ext cx="698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(a) Data construction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line_002">
            <a:extLst>
              <a:ext uri="{FF2B5EF4-FFF2-40B4-BE49-F238E27FC236}">
                <a16:creationId xmlns:a16="http://schemas.microsoft.com/office/drawing/2014/main" id="{7665A3F1-D316-D6ED-31F3-91580DEBADDC}"/>
              </a:ext>
            </a:extLst>
          </p:cNvPr>
          <p:cNvCxnSpPr/>
          <p:nvPr/>
        </p:nvCxnSpPr>
        <p:spPr>
          <a:xfrm>
            <a:off x="304800" y="660400"/>
            <a:ext cx="6985000" cy="0"/>
          </a:xfrm>
          <a:prstGeom prst="line">
            <a:avLst/>
          </a:prstGeom>
          <a:ln w="1016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_003">
            <a:extLst>
              <a:ext uri="{FF2B5EF4-FFF2-40B4-BE49-F238E27FC236}">
                <a16:creationId xmlns:a16="http://schemas.microsoft.com/office/drawing/2014/main" id="{71685DD0-AB09-DEF6-8891-7FB05764A98C}"/>
              </a:ext>
            </a:extLst>
          </p:cNvPr>
          <p:cNvSpPr txBox="1"/>
          <p:nvPr/>
        </p:nvSpPr>
        <p:spPr>
          <a:xfrm>
            <a:off x="8051800" y="190499"/>
            <a:ext cx="3225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(b) Controlled training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" name="line_004">
            <a:extLst>
              <a:ext uri="{FF2B5EF4-FFF2-40B4-BE49-F238E27FC236}">
                <a16:creationId xmlns:a16="http://schemas.microsoft.com/office/drawing/2014/main" id="{740CC9EA-BB63-BD9B-690E-7680DAB7D6FD}"/>
              </a:ext>
            </a:extLst>
          </p:cNvPr>
          <p:cNvCxnSpPr/>
          <p:nvPr/>
        </p:nvCxnSpPr>
        <p:spPr>
          <a:xfrm>
            <a:off x="8051800" y="660400"/>
            <a:ext cx="3225800" cy="0"/>
          </a:xfrm>
          <a:prstGeom prst="line">
            <a:avLst/>
          </a:prstGeom>
          <a:ln w="1016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005">
            <a:extLst>
              <a:ext uri="{FF2B5EF4-FFF2-40B4-BE49-F238E27FC236}">
                <a16:creationId xmlns:a16="http://schemas.microsoft.com/office/drawing/2014/main" id="{4D8D72D1-27E9-09F0-7D21-9C5DA79DA8A8}"/>
              </a:ext>
            </a:extLst>
          </p:cNvPr>
          <p:cNvSpPr txBox="1"/>
          <p:nvPr/>
        </p:nvSpPr>
        <p:spPr>
          <a:xfrm>
            <a:off x="12065000" y="190499"/>
            <a:ext cx="4521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(c) Development evaluation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" name="line_006">
            <a:extLst>
              <a:ext uri="{FF2B5EF4-FFF2-40B4-BE49-F238E27FC236}">
                <a16:creationId xmlns:a16="http://schemas.microsoft.com/office/drawing/2014/main" id="{3854FA0B-B1FD-7569-D8EB-8DFA6B0E5F7D}"/>
              </a:ext>
            </a:extLst>
          </p:cNvPr>
          <p:cNvCxnSpPr/>
          <p:nvPr/>
        </p:nvCxnSpPr>
        <p:spPr>
          <a:xfrm>
            <a:off x="12065000" y="660400"/>
            <a:ext cx="4521200" cy="0"/>
          </a:xfrm>
          <a:prstGeom prst="line">
            <a:avLst/>
          </a:prstGeom>
          <a:ln w="1016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_007">
            <a:extLst>
              <a:ext uri="{FF2B5EF4-FFF2-40B4-BE49-F238E27FC236}">
                <a16:creationId xmlns:a16="http://schemas.microsoft.com/office/drawing/2014/main" id="{05E11950-A0F2-0ACA-926D-FF13079674DE}"/>
              </a:ext>
            </a:extLst>
          </p:cNvPr>
          <p:cNvSpPr txBox="1"/>
          <p:nvPr/>
        </p:nvSpPr>
        <p:spPr>
          <a:xfrm>
            <a:off x="355600" y="1612899"/>
            <a:ext cx="18415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200" b="1">
                <a:solidFill>
                  <a:srgbClr val="181818"/>
                </a:solidFill>
                <a:latin typeface="Times New Roman" panose="02020603050405020304" pitchFamily="18" charset="0"/>
              </a:rPr>
              <a:t>real93</a:t>
            </a:r>
            <a:endParaRPr lang="zh-CN" altLang="en-US" sz="22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" name="picture_008">
            <a:extLst>
              <a:ext uri="{FF2B5EF4-FFF2-40B4-BE49-F238E27FC236}">
                <a16:creationId xmlns:a16="http://schemas.microsoft.com/office/drawing/2014/main" id="{7FA732B2-868C-6754-F88F-34662245CF6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17" y="2108200"/>
            <a:ext cx="1659467" cy="1244600"/>
          </a:xfrm>
          <a:prstGeom prst="rect">
            <a:avLst/>
          </a:prstGeom>
        </p:spPr>
      </p:pic>
      <p:sp>
        <p:nvSpPr>
          <p:cNvPr id="11" name="rect_009">
            <a:extLst>
              <a:ext uri="{FF2B5EF4-FFF2-40B4-BE49-F238E27FC236}">
                <a16:creationId xmlns:a16="http://schemas.microsoft.com/office/drawing/2014/main" id="{3A4D968C-6AA9-0FA7-5D60-7A99ECE0403C}"/>
              </a:ext>
            </a:extLst>
          </p:cNvPr>
          <p:cNvSpPr/>
          <p:nvPr/>
        </p:nvSpPr>
        <p:spPr>
          <a:xfrm>
            <a:off x="446617" y="2108200"/>
            <a:ext cx="1659466" cy="12446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_010">
            <a:extLst>
              <a:ext uri="{FF2B5EF4-FFF2-40B4-BE49-F238E27FC236}">
                <a16:creationId xmlns:a16="http://schemas.microsoft.com/office/drawing/2014/main" id="{04C54326-6751-7941-FE96-45908251FFA2}"/>
              </a:ext>
            </a:extLst>
          </p:cNvPr>
          <p:cNvSpPr txBox="1"/>
          <p:nvPr/>
        </p:nvSpPr>
        <p:spPr>
          <a:xfrm>
            <a:off x="304800" y="3530599"/>
            <a:ext cx="1993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93 real photographs
On-site and web sources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3" name="line_011">
            <a:extLst>
              <a:ext uri="{FF2B5EF4-FFF2-40B4-BE49-F238E27FC236}">
                <a16:creationId xmlns:a16="http://schemas.microsoft.com/office/drawing/2014/main" id="{7E3F97A0-A3E2-A75A-AB53-E706808F7FCD}"/>
              </a:ext>
            </a:extLst>
          </p:cNvPr>
          <p:cNvCxnSpPr/>
          <p:nvPr/>
        </p:nvCxnSpPr>
        <p:spPr>
          <a:xfrm>
            <a:off x="2298700" y="2730500"/>
            <a:ext cx="254000" cy="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ne_012">
            <a:extLst>
              <a:ext uri="{FF2B5EF4-FFF2-40B4-BE49-F238E27FC236}">
                <a16:creationId xmlns:a16="http://schemas.microsoft.com/office/drawing/2014/main" id="{178452D9-8F2E-015C-C709-960EF9F24D7B}"/>
              </a:ext>
            </a:extLst>
          </p:cNvPr>
          <p:cNvCxnSpPr/>
          <p:nvPr/>
        </p:nvCxnSpPr>
        <p:spPr>
          <a:xfrm>
            <a:off x="2552700" y="1409700"/>
            <a:ext cx="0" cy="285750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_013">
            <a:extLst>
              <a:ext uri="{FF2B5EF4-FFF2-40B4-BE49-F238E27FC236}">
                <a16:creationId xmlns:a16="http://schemas.microsoft.com/office/drawing/2014/main" id="{8301504F-BB81-EE02-6962-C1437395D388}"/>
              </a:ext>
            </a:extLst>
          </p:cNvPr>
          <p:cNvCxnSpPr/>
          <p:nvPr/>
        </p:nvCxnSpPr>
        <p:spPr>
          <a:xfrm>
            <a:off x="2552700" y="1409700"/>
            <a:ext cx="355600" cy="0"/>
          </a:xfrm>
          <a:prstGeom prst="line">
            <a:avLst/>
          </a:prstGeom>
          <a:ln w="9525">
            <a:solidFill>
              <a:srgbClr val="4A66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_014">
            <a:extLst>
              <a:ext uri="{FF2B5EF4-FFF2-40B4-BE49-F238E27FC236}">
                <a16:creationId xmlns:a16="http://schemas.microsoft.com/office/drawing/2014/main" id="{6E59017E-3C2F-D89C-ECC2-8D8EBBB5A337}"/>
              </a:ext>
            </a:extLst>
          </p:cNvPr>
          <p:cNvSpPr/>
          <p:nvPr/>
        </p:nvSpPr>
        <p:spPr>
          <a:xfrm>
            <a:off x="2959100" y="1054100"/>
            <a:ext cx="342900" cy="342900"/>
          </a:xfrm>
          <a:prstGeom prst="rect">
            <a:avLst/>
          </a:prstGeom>
          <a:solidFill>
            <a:srgbClr val="4A66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_015">
            <a:extLst>
              <a:ext uri="{FF2B5EF4-FFF2-40B4-BE49-F238E27FC236}">
                <a16:creationId xmlns:a16="http://schemas.microsoft.com/office/drawing/2014/main" id="{DB42AE84-047A-35A3-3D2B-0A2E31204C64}"/>
              </a:ext>
            </a:extLst>
          </p:cNvPr>
          <p:cNvSpPr txBox="1"/>
          <p:nvPr/>
        </p:nvSpPr>
        <p:spPr>
          <a:xfrm>
            <a:off x="2959100" y="1066799"/>
            <a:ext cx="342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_016">
            <a:extLst>
              <a:ext uri="{FF2B5EF4-FFF2-40B4-BE49-F238E27FC236}">
                <a16:creationId xmlns:a16="http://schemas.microsoft.com/office/drawing/2014/main" id="{6BA5FDEF-0D74-1B6E-6B6F-A7454F7D401D}"/>
              </a:ext>
            </a:extLst>
          </p:cNvPr>
          <p:cNvSpPr txBox="1"/>
          <p:nvPr/>
        </p:nvSpPr>
        <p:spPr>
          <a:xfrm>
            <a:off x="3429000" y="990599"/>
            <a:ext cx="3022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Times New Roman" panose="02020603050405020304" pitchFamily="18" charset="0"/>
              </a:rPr>
              <a:t>Real-only baseline</a:t>
            </a:r>
            <a:endParaRPr lang="zh-CN" altLang="en-US" sz="16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_017">
            <a:extLst>
              <a:ext uri="{FF2B5EF4-FFF2-40B4-BE49-F238E27FC236}">
                <a16:creationId xmlns:a16="http://schemas.microsoft.com/office/drawing/2014/main" id="{1D9E9985-6075-A885-DF4C-FBAFE1981FA7}"/>
              </a:ext>
            </a:extLst>
          </p:cNvPr>
          <p:cNvSpPr txBox="1"/>
          <p:nvPr/>
        </p:nvSpPr>
        <p:spPr>
          <a:xfrm>
            <a:off x="3429000" y="1384299"/>
            <a:ext cx="3213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Reviewed labels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_018">
            <a:extLst>
              <a:ext uri="{FF2B5EF4-FFF2-40B4-BE49-F238E27FC236}">
                <a16:creationId xmlns:a16="http://schemas.microsoft.com/office/drawing/2014/main" id="{1A532624-0E66-250F-D3AB-E9327E8D64D5}"/>
              </a:ext>
            </a:extLst>
          </p:cNvPr>
          <p:cNvSpPr txBox="1"/>
          <p:nvPr/>
        </p:nvSpPr>
        <p:spPr>
          <a:xfrm>
            <a:off x="6502400" y="1015999"/>
            <a:ext cx="86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900">
                <a:solidFill>
                  <a:srgbClr val="4A667D"/>
                </a:solidFill>
                <a:latin typeface="Times New Roman" panose="02020603050405020304" pitchFamily="18" charset="0"/>
              </a:rPr>
              <a:t>93</a:t>
            </a:r>
            <a:endParaRPr lang="zh-CN" altLang="en-US" sz="1900">
              <a:solidFill>
                <a:srgbClr val="4A667D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1" name="line_019">
            <a:extLst>
              <a:ext uri="{FF2B5EF4-FFF2-40B4-BE49-F238E27FC236}">
                <a16:creationId xmlns:a16="http://schemas.microsoft.com/office/drawing/2014/main" id="{F5112F2E-B470-37F2-E61F-89342D574FFF}"/>
              </a:ext>
            </a:extLst>
          </p:cNvPr>
          <p:cNvCxnSpPr/>
          <p:nvPr/>
        </p:nvCxnSpPr>
        <p:spPr>
          <a:xfrm>
            <a:off x="3429000" y="1765300"/>
            <a:ext cx="3937000" cy="0"/>
          </a:xfrm>
          <a:prstGeom prst="line">
            <a:avLst/>
          </a:prstGeom>
          <a:ln w="5715">
            <a:solidFill>
              <a:srgbClr val="B7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e_020">
            <a:extLst>
              <a:ext uri="{FF2B5EF4-FFF2-40B4-BE49-F238E27FC236}">
                <a16:creationId xmlns:a16="http://schemas.microsoft.com/office/drawing/2014/main" id="{00E587D9-DDC3-0A96-59C6-C51F2CE64108}"/>
              </a:ext>
            </a:extLst>
          </p:cNvPr>
          <p:cNvCxnSpPr/>
          <p:nvPr/>
        </p:nvCxnSpPr>
        <p:spPr>
          <a:xfrm>
            <a:off x="7391400" y="1409700"/>
            <a:ext cx="304800" cy="0"/>
          </a:xfrm>
          <a:prstGeom prst="line">
            <a:avLst/>
          </a:prstGeom>
          <a:ln w="9525">
            <a:solidFill>
              <a:srgbClr val="4A6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e_021">
            <a:extLst>
              <a:ext uri="{FF2B5EF4-FFF2-40B4-BE49-F238E27FC236}">
                <a16:creationId xmlns:a16="http://schemas.microsoft.com/office/drawing/2014/main" id="{26A5E6FE-5715-887D-4321-05FFBBBF14F4}"/>
              </a:ext>
            </a:extLst>
          </p:cNvPr>
          <p:cNvCxnSpPr/>
          <p:nvPr/>
        </p:nvCxnSpPr>
        <p:spPr>
          <a:xfrm>
            <a:off x="2552700" y="2362200"/>
            <a:ext cx="355600" cy="0"/>
          </a:xfrm>
          <a:prstGeom prst="line">
            <a:avLst/>
          </a:prstGeom>
          <a:ln w="9525">
            <a:solidFill>
              <a:srgbClr val="AD81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_022">
            <a:extLst>
              <a:ext uri="{FF2B5EF4-FFF2-40B4-BE49-F238E27FC236}">
                <a16:creationId xmlns:a16="http://schemas.microsoft.com/office/drawing/2014/main" id="{202E50A0-3E2C-31CA-7A76-9FE3B82B1D84}"/>
              </a:ext>
            </a:extLst>
          </p:cNvPr>
          <p:cNvSpPr/>
          <p:nvPr/>
        </p:nvSpPr>
        <p:spPr>
          <a:xfrm>
            <a:off x="2959100" y="2006600"/>
            <a:ext cx="342900" cy="342900"/>
          </a:xfrm>
          <a:prstGeom prst="rect">
            <a:avLst/>
          </a:prstGeom>
          <a:solidFill>
            <a:srgbClr val="AD81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_023">
            <a:extLst>
              <a:ext uri="{FF2B5EF4-FFF2-40B4-BE49-F238E27FC236}">
                <a16:creationId xmlns:a16="http://schemas.microsoft.com/office/drawing/2014/main" id="{68E5E36F-B8F6-36A0-DEC7-2FA285D763C8}"/>
              </a:ext>
            </a:extLst>
          </p:cNvPr>
          <p:cNvSpPr txBox="1"/>
          <p:nvPr/>
        </p:nvSpPr>
        <p:spPr>
          <a:xfrm>
            <a:off x="2959100" y="2019299"/>
            <a:ext cx="342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_024">
            <a:extLst>
              <a:ext uri="{FF2B5EF4-FFF2-40B4-BE49-F238E27FC236}">
                <a16:creationId xmlns:a16="http://schemas.microsoft.com/office/drawing/2014/main" id="{EAA4ECCD-7D8D-8DDF-2DA7-50C47B83A324}"/>
              </a:ext>
            </a:extLst>
          </p:cNvPr>
          <p:cNvSpPr txBox="1"/>
          <p:nvPr/>
        </p:nvSpPr>
        <p:spPr>
          <a:xfrm>
            <a:off x="3429000" y="1943099"/>
            <a:ext cx="3022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Times New Roman" panose="02020603050405020304" pitchFamily="18" charset="0"/>
              </a:rPr>
              <a:t>Classical augmentation</a:t>
            </a:r>
            <a:endParaRPr lang="zh-CN" altLang="en-US" sz="16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_025">
            <a:extLst>
              <a:ext uri="{FF2B5EF4-FFF2-40B4-BE49-F238E27FC236}">
                <a16:creationId xmlns:a16="http://schemas.microsoft.com/office/drawing/2014/main" id="{1580BC20-10AA-49E5-B272-746A24C39636}"/>
              </a:ext>
            </a:extLst>
          </p:cNvPr>
          <p:cNvSpPr txBox="1"/>
          <p:nvPr/>
        </p:nvSpPr>
        <p:spPr>
          <a:xfrm>
            <a:off x="3429000" y="2336799"/>
            <a:ext cx="3213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Offline transformations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_026">
            <a:extLst>
              <a:ext uri="{FF2B5EF4-FFF2-40B4-BE49-F238E27FC236}">
                <a16:creationId xmlns:a16="http://schemas.microsoft.com/office/drawing/2014/main" id="{67051E19-3600-98A9-31FC-83B5EB3E9C24}"/>
              </a:ext>
            </a:extLst>
          </p:cNvPr>
          <p:cNvSpPr txBox="1"/>
          <p:nvPr/>
        </p:nvSpPr>
        <p:spPr>
          <a:xfrm>
            <a:off x="6502400" y="1968499"/>
            <a:ext cx="86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900">
                <a:solidFill>
                  <a:srgbClr val="AD8146"/>
                </a:solidFill>
                <a:latin typeface="Times New Roman" panose="02020603050405020304" pitchFamily="18" charset="0"/>
              </a:rPr>
              <a:t>1,085</a:t>
            </a:r>
            <a:endParaRPr lang="zh-CN" altLang="en-US" sz="1900">
              <a:solidFill>
                <a:srgbClr val="AD8146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9" name="line_027">
            <a:extLst>
              <a:ext uri="{FF2B5EF4-FFF2-40B4-BE49-F238E27FC236}">
                <a16:creationId xmlns:a16="http://schemas.microsoft.com/office/drawing/2014/main" id="{676E3E79-6140-BBA2-8072-C3C7D4BB00E4}"/>
              </a:ext>
            </a:extLst>
          </p:cNvPr>
          <p:cNvCxnSpPr/>
          <p:nvPr/>
        </p:nvCxnSpPr>
        <p:spPr>
          <a:xfrm>
            <a:off x="3429000" y="2717800"/>
            <a:ext cx="3937000" cy="0"/>
          </a:xfrm>
          <a:prstGeom prst="line">
            <a:avLst/>
          </a:prstGeom>
          <a:ln w="5715">
            <a:solidFill>
              <a:srgbClr val="B7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_028">
            <a:extLst>
              <a:ext uri="{FF2B5EF4-FFF2-40B4-BE49-F238E27FC236}">
                <a16:creationId xmlns:a16="http://schemas.microsoft.com/office/drawing/2014/main" id="{79700F75-F429-C6B5-69A3-DA357D6E8F53}"/>
              </a:ext>
            </a:extLst>
          </p:cNvPr>
          <p:cNvCxnSpPr/>
          <p:nvPr/>
        </p:nvCxnSpPr>
        <p:spPr>
          <a:xfrm>
            <a:off x="7391400" y="2362200"/>
            <a:ext cx="304800" cy="0"/>
          </a:xfrm>
          <a:prstGeom prst="line">
            <a:avLst/>
          </a:prstGeom>
          <a:ln w="9525">
            <a:solidFill>
              <a:srgbClr val="AD8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_029">
            <a:extLst>
              <a:ext uri="{FF2B5EF4-FFF2-40B4-BE49-F238E27FC236}">
                <a16:creationId xmlns:a16="http://schemas.microsoft.com/office/drawing/2014/main" id="{C7A1821F-8952-E3FF-090E-D7C7B21F7AB7}"/>
              </a:ext>
            </a:extLst>
          </p:cNvPr>
          <p:cNvCxnSpPr/>
          <p:nvPr/>
        </p:nvCxnSpPr>
        <p:spPr>
          <a:xfrm>
            <a:off x="2552700" y="3314700"/>
            <a:ext cx="355600" cy="0"/>
          </a:xfrm>
          <a:prstGeom prst="line">
            <a:avLst/>
          </a:prstGeom>
          <a:ln w="9525">
            <a:solidFill>
              <a:srgbClr val="377D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_030">
            <a:extLst>
              <a:ext uri="{FF2B5EF4-FFF2-40B4-BE49-F238E27FC236}">
                <a16:creationId xmlns:a16="http://schemas.microsoft.com/office/drawing/2014/main" id="{D398DD73-7FE7-137C-16AC-56CC798B6DC7}"/>
              </a:ext>
            </a:extLst>
          </p:cNvPr>
          <p:cNvSpPr/>
          <p:nvPr/>
        </p:nvSpPr>
        <p:spPr>
          <a:xfrm>
            <a:off x="2959100" y="2959100"/>
            <a:ext cx="342900" cy="342900"/>
          </a:xfrm>
          <a:prstGeom prst="rect">
            <a:avLst/>
          </a:prstGeom>
          <a:solidFill>
            <a:srgbClr val="377D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_031">
            <a:extLst>
              <a:ext uri="{FF2B5EF4-FFF2-40B4-BE49-F238E27FC236}">
                <a16:creationId xmlns:a16="http://schemas.microsoft.com/office/drawing/2014/main" id="{EF6023F2-418D-B989-604B-D2FA5C86B372}"/>
              </a:ext>
            </a:extLst>
          </p:cNvPr>
          <p:cNvSpPr txBox="1"/>
          <p:nvPr/>
        </p:nvSpPr>
        <p:spPr>
          <a:xfrm>
            <a:off x="2959100" y="2971799"/>
            <a:ext cx="342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C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_032">
            <a:extLst>
              <a:ext uri="{FF2B5EF4-FFF2-40B4-BE49-F238E27FC236}">
                <a16:creationId xmlns:a16="http://schemas.microsoft.com/office/drawing/2014/main" id="{E4450BEA-1908-67FF-D418-A6A3BE303A2E}"/>
              </a:ext>
            </a:extLst>
          </p:cNvPr>
          <p:cNvSpPr txBox="1"/>
          <p:nvPr/>
        </p:nvSpPr>
        <p:spPr>
          <a:xfrm>
            <a:off x="3429000" y="2895599"/>
            <a:ext cx="3022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Times New Roman" panose="02020603050405020304" pitchFamily="18" charset="0"/>
              </a:rPr>
              <a:t>Image editing</a:t>
            </a:r>
            <a:endParaRPr lang="zh-CN" altLang="en-US" sz="16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_033">
            <a:extLst>
              <a:ext uri="{FF2B5EF4-FFF2-40B4-BE49-F238E27FC236}">
                <a16:creationId xmlns:a16="http://schemas.microsoft.com/office/drawing/2014/main" id="{D779E0A1-8156-99E1-B33D-41D64A5AD850}"/>
              </a:ext>
            </a:extLst>
          </p:cNvPr>
          <p:cNvSpPr txBox="1"/>
          <p:nvPr/>
        </p:nvSpPr>
        <p:spPr>
          <a:xfrm>
            <a:off x="3429000" y="3289299"/>
            <a:ext cx="3213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Reviewed synthetic images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_034">
            <a:extLst>
              <a:ext uri="{FF2B5EF4-FFF2-40B4-BE49-F238E27FC236}">
                <a16:creationId xmlns:a16="http://schemas.microsoft.com/office/drawing/2014/main" id="{31D57267-7035-E3ED-62D3-0B581FE0C45B}"/>
              </a:ext>
            </a:extLst>
          </p:cNvPr>
          <p:cNvSpPr txBox="1"/>
          <p:nvPr/>
        </p:nvSpPr>
        <p:spPr>
          <a:xfrm>
            <a:off x="6502400" y="2920999"/>
            <a:ext cx="86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900">
                <a:solidFill>
                  <a:srgbClr val="377D78"/>
                </a:solidFill>
                <a:latin typeface="Times New Roman" panose="02020603050405020304" pitchFamily="18" charset="0"/>
              </a:rPr>
              <a:t>1,085</a:t>
            </a:r>
            <a:endParaRPr lang="zh-CN" altLang="en-US" sz="1900">
              <a:solidFill>
                <a:srgbClr val="377D7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7" name="line_035">
            <a:extLst>
              <a:ext uri="{FF2B5EF4-FFF2-40B4-BE49-F238E27FC236}">
                <a16:creationId xmlns:a16="http://schemas.microsoft.com/office/drawing/2014/main" id="{DEBC886D-E4EF-FC61-E0F5-1319CE8C8B85}"/>
              </a:ext>
            </a:extLst>
          </p:cNvPr>
          <p:cNvCxnSpPr/>
          <p:nvPr/>
        </p:nvCxnSpPr>
        <p:spPr>
          <a:xfrm>
            <a:off x="3429000" y="3670300"/>
            <a:ext cx="3937000" cy="0"/>
          </a:xfrm>
          <a:prstGeom prst="line">
            <a:avLst/>
          </a:prstGeom>
          <a:ln w="5715">
            <a:solidFill>
              <a:srgbClr val="B7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ine_036">
            <a:extLst>
              <a:ext uri="{FF2B5EF4-FFF2-40B4-BE49-F238E27FC236}">
                <a16:creationId xmlns:a16="http://schemas.microsoft.com/office/drawing/2014/main" id="{81AFAE1A-46B9-35A8-67B7-833DF97F0F89}"/>
              </a:ext>
            </a:extLst>
          </p:cNvPr>
          <p:cNvCxnSpPr/>
          <p:nvPr/>
        </p:nvCxnSpPr>
        <p:spPr>
          <a:xfrm>
            <a:off x="7391400" y="3314700"/>
            <a:ext cx="304800" cy="0"/>
          </a:xfrm>
          <a:prstGeom prst="line">
            <a:avLst/>
          </a:prstGeom>
          <a:ln w="9525">
            <a:solidFill>
              <a:srgbClr val="37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ine_037">
            <a:extLst>
              <a:ext uri="{FF2B5EF4-FFF2-40B4-BE49-F238E27FC236}">
                <a16:creationId xmlns:a16="http://schemas.microsoft.com/office/drawing/2014/main" id="{0D0BED12-2212-46BB-E400-FACDB3FE17F8}"/>
              </a:ext>
            </a:extLst>
          </p:cNvPr>
          <p:cNvCxnSpPr/>
          <p:nvPr/>
        </p:nvCxnSpPr>
        <p:spPr>
          <a:xfrm>
            <a:off x="2552700" y="4267200"/>
            <a:ext cx="355600" cy="0"/>
          </a:xfrm>
          <a:prstGeom prst="line">
            <a:avLst/>
          </a:prstGeom>
          <a:ln w="9525">
            <a:solidFill>
              <a:srgbClr val="806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_038">
            <a:extLst>
              <a:ext uri="{FF2B5EF4-FFF2-40B4-BE49-F238E27FC236}">
                <a16:creationId xmlns:a16="http://schemas.microsoft.com/office/drawing/2014/main" id="{0D597EED-C634-4619-43C7-9FD5CF3A9FDD}"/>
              </a:ext>
            </a:extLst>
          </p:cNvPr>
          <p:cNvSpPr/>
          <p:nvPr/>
        </p:nvSpPr>
        <p:spPr>
          <a:xfrm>
            <a:off x="2959100" y="3911600"/>
            <a:ext cx="342900" cy="342900"/>
          </a:xfrm>
          <a:prstGeom prst="rect">
            <a:avLst/>
          </a:prstGeom>
          <a:solidFill>
            <a:srgbClr val="806B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_039">
            <a:extLst>
              <a:ext uri="{FF2B5EF4-FFF2-40B4-BE49-F238E27FC236}">
                <a16:creationId xmlns:a16="http://schemas.microsoft.com/office/drawing/2014/main" id="{BB24FE18-4200-5125-8B5D-3DAD41F3488C}"/>
              </a:ext>
            </a:extLst>
          </p:cNvPr>
          <p:cNvSpPr txBox="1"/>
          <p:nvPr/>
        </p:nvSpPr>
        <p:spPr>
          <a:xfrm>
            <a:off x="2959100" y="3924299"/>
            <a:ext cx="342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D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_040">
            <a:extLst>
              <a:ext uri="{FF2B5EF4-FFF2-40B4-BE49-F238E27FC236}">
                <a16:creationId xmlns:a16="http://schemas.microsoft.com/office/drawing/2014/main" id="{27217D57-3963-0EBF-F67C-742F180F86CB}"/>
              </a:ext>
            </a:extLst>
          </p:cNvPr>
          <p:cNvSpPr txBox="1"/>
          <p:nvPr/>
        </p:nvSpPr>
        <p:spPr>
          <a:xfrm>
            <a:off x="3429000" y="3848099"/>
            <a:ext cx="3022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Times New Roman" panose="02020603050405020304" pitchFamily="18" charset="0"/>
              </a:rPr>
              <a:t>LoRA text-to-image</a:t>
            </a:r>
            <a:endParaRPr lang="zh-CN" altLang="en-US" sz="16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_041">
            <a:extLst>
              <a:ext uri="{FF2B5EF4-FFF2-40B4-BE49-F238E27FC236}">
                <a16:creationId xmlns:a16="http://schemas.microsoft.com/office/drawing/2014/main" id="{C5C51CAC-5E10-7FA9-7B4B-1745B7688E45}"/>
              </a:ext>
            </a:extLst>
          </p:cNvPr>
          <p:cNvSpPr txBox="1"/>
          <p:nvPr/>
        </p:nvSpPr>
        <p:spPr>
          <a:xfrm>
            <a:off x="3429000" y="4241799"/>
            <a:ext cx="3213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1,308 candidates; screening pending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_042">
            <a:extLst>
              <a:ext uri="{FF2B5EF4-FFF2-40B4-BE49-F238E27FC236}">
                <a16:creationId xmlns:a16="http://schemas.microsoft.com/office/drawing/2014/main" id="{CAD7B7AF-EFF2-67AC-7B51-9E3C89F8E6DE}"/>
              </a:ext>
            </a:extLst>
          </p:cNvPr>
          <p:cNvSpPr txBox="1"/>
          <p:nvPr/>
        </p:nvSpPr>
        <p:spPr>
          <a:xfrm>
            <a:off x="6502400" y="3873499"/>
            <a:ext cx="86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900">
                <a:solidFill>
                  <a:srgbClr val="806B91"/>
                </a:solidFill>
                <a:latin typeface="Times New Roman" panose="02020603050405020304" pitchFamily="18" charset="0"/>
              </a:rPr>
              <a:t>1,085*</a:t>
            </a:r>
            <a:endParaRPr lang="zh-CN" altLang="en-US" sz="1900">
              <a:solidFill>
                <a:srgbClr val="806B9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5" name="line_043">
            <a:extLst>
              <a:ext uri="{FF2B5EF4-FFF2-40B4-BE49-F238E27FC236}">
                <a16:creationId xmlns:a16="http://schemas.microsoft.com/office/drawing/2014/main" id="{C6FAE766-0141-10D2-728E-ECBD032D69DD}"/>
              </a:ext>
            </a:extLst>
          </p:cNvPr>
          <p:cNvCxnSpPr/>
          <p:nvPr/>
        </p:nvCxnSpPr>
        <p:spPr>
          <a:xfrm>
            <a:off x="3429000" y="4622800"/>
            <a:ext cx="3937000" cy="0"/>
          </a:xfrm>
          <a:prstGeom prst="line">
            <a:avLst/>
          </a:prstGeom>
          <a:ln w="5715">
            <a:solidFill>
              <a:srgbClr val="B7BC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e_044">
            <a:extLst>
              <a:ext uri="{FF2B5EF4-FFF2-40B4-BE49-F238E27FC236}">
                <a16:creationId xmlns:a16="http://schemas.microsoft.com/office/drawing/2014/main" id="{6A0C4A51-1588-FB1B-FBA1-30068B12F0F6}"/>
              </a:ext>
            </a:extLst>
          </p:cNvPr>
          <p:cNvCxnSpPr/>
          <p:nvPr/>
        </p:nvCxnSpPr>
        <p:spPr>
          <a:xfrm>
            <a:off x="7391400" y="4267200"/>
            <a:ext cx="304800" cy="0"/>
          </a:xfrm>
          <a:prstGeom prst="line">
            <a:avLst/>
          </a:prstGeom>
          <a:ln w="9525">
            <a:solidFill>
              <a:srgbClr val="806B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e_045">
            <a:extLst>
              <a:ext uri="{FF2B5EF4-FFF2-40B4-BE49-F238E27FC236}">
                <a16:creationId xmlns:a16="http://schemas.microsoft.com/office/drawing/2014/main" id="{46B7A795-C1E2-0BC2-C46E-B1B2AA4C0B53}"/>
              </a:ext>
            </a:extLst>
          </p:cNvPr>
          <p:cNvCxnSpPr/>
          <p:nvPr/>
        </p:nvCxnSpPr>
        <p:spPr>
          <a:xfrm>
            <a:off x="7696200" y="1409700"/>
            <a:ext cx="0" cy="285750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ne_046">
            <a:extLst>
              <a:ext uri="{FF2B5EF4-FFF2-40B4-BE49-F238E27FC236}">
                <a16:creationId xmlns:a16="http://schemas.microsoft.com/office/drawing/2014/main" id="{DA179E17-D45B-6181-AD89-07DA61305BE1}"/>
              </a:ext>
            </a:extLst>
          </p:cNvPr>
          <p:cNvCxnSpPr/>
          <p:nvPr/>
        </p:nvCxnSpPr>
        <p:spPr>
          <a:xfrm>
            <a:off x="7696200" y="2667000"/>
            <a:ext cx="330200" cy="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_047">
            <a:extLst>
              <a:ext uri="{FF2B5EF4-FFF2-40B4-BE49-F238E27FC236}">
                <a16:creationId xmlns:a16="http://schemas.microsoft.com/office/drawing/2014/main" id="{A22CE1B8-1E4A-67F4-3245-2A9F56369C48}"/>
              </a:ext>
            </a:extLst>
          </p:cNvPr>
          <p:cNvSpPr txBox="1"/>
          <p:nvPr/>
        </p:nvSpPr>
        <p:spPr>
          <a:xfrm>
            <a:off x="8089900" y="939799"/>
            <a:ext cx="3111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181818"/>
                </a:solidFill>
                <a:latin typeface="Arial" panose="020B0604020202020204" pitchFamily="34" charset="0"/>
              </a:rPr>
              <a:t>Six detectors per arm</a:t>
            </a:r>
            <a:endParaRPr lang="zh-CN" altLang="en-US" sz="13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0" name="text_048">
            <a:extLst>
              <a:ext uri="{FF2B5EF4-FFF2-40B4-BE49-F238E27FC236}">
                <a16:creationId xmlns:a16="http://schemas.microsoft.com/office/drawing/2014/main" id="{0285D15B-F783-FC66-2F76-F4C9565B8F57}"/>
              </a:ext>
            </a:extLst>
          </p:cNvPr>
          <p:cNvSpPr txBox="1"/>
          <p:nvPr/>
        </p:nvSpPr>
        <p:spPr>
          <a:xfrm>
            <a:off x="8255000" y="1409699"/>
            <a:ext cx="1600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181818"/>
                </a:solidFill>
                <a:latin typeface="Arial" panose="020B0604020202020204" pitchFamily="34" charset="0"/>
              </a:rPr>
              <a:t>Model family</a:t>
            </a:r>
            <a:endParaRPr lang="zh-CN" altLang="en-US" sz="11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1" name="text_049">
            <a:extLst>
              <a:ext uri="{FF2B5EF4-FFF2-40B4-BE49-F238E27FC236}">
                <a16:creationId xmlns:a16="http://schemas.microsoft.com/office/drawing/2014/main" id="{E97C18B3-4E21-3EA4-6251-EDE669EB3039}"/>
              </a:ext>
            </a:extLst>
          </p:cNvPr>
          <p:cNvSpPr txBox="1"/>
          <p:nvPr/>
        </p:nvSpPr>
        <p:spPr>
          <a:xfrm>
            <a:off x="10083800" y="1409699"/>
            <a:ext cx="406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181818"/>
                </a:solidFill>
                <a:latin typeface="Arial" panose="020B0604020202020204" pitchFamily="34" charset="0"/>
              </a:rPr>
              <a:t>s</a:t>
            </a:r>
            <a:endParaRPr lang="zh-CN" altLang="en-US" sz="13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_050">
            <a:extLst>
              <a:ext uri="{FF2B5EF4-FFF2-40B4-BE49-F238E27FC236}">
                <a16:creationId xmlns:a16="http://schemas.microsoft.com/office/drawing/2014/main" id="{74EA2091-D863-E872-0DE8-0A325A2D8EE4}"/>
              </a:ext>
            </a:extLst>
          </p:cNvPr>
          <p:cNvSpPr txBox="1"/>
          <p:nvPr/>
        </p:nvSpPr>
        <p:spPr>
          <a:xfrm>
            <a:off x="10795000" y="1409699"/>
            <a:ext cx="406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181818"/>
                </a:solidFill>
                <a:latin typeface="Arial" panose="020B0604020202020204" pitchFamily="34" charset="0"/>
              </a:rPr>
              <a:t>m</a:t>
            </a:r>
            <a:endParaRPr lang="zh-CN" altLang="en-US" sz="13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53" name="line_051">
            <a:extLst>
              <a:ext uri="{FF2B5EF4-FFF2-40B4-BE49-F238E27FC236}">
                <a16:creationId xmlns:a16="http://schemas.microsoft.com/office/drawing/2014/main" id="{E8E0F6A9-B9E1-9E88-FC0F-491E22593963}"/>
              </a:ext>
            </a:extLst>
          </p:cNvPr>
          <p:cNvCxnSpPr/>
          <p:nvPr/>
        </p:nvCxnSpPr>
        <p:spPr>
          <a:xfrm>
            <a:off x="8216900" y="1765300"/>
            <a:ext cx="3022600" cy="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_052">
            <a:extLst>
              <a:ext uri="{FF2B5EF4-FFF2-40B4-BE49-F238E27FC236}">
                <a16:creationId xmlns:a16="http://schemas.microsoft.com/office/drawing/2014/main" id="{E515F5A9-8ABD-AF7F-C064-047CA7A60617}"/>
              </a:ext>
            </a:extLst>
          </p:cNvPr>
          <p:cNvSpPr txBox="1"/>
          <p:nvPr/>
        </p:nvSpPr>
        <p:spPr>
          <a:xfrm>
            <a:off x="8255000" y="1879599"/>
            <a:ext cx="17526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>
                <a:solidFill>
                  <a:srgbClr val="181818"/>
                </a:solidFill>
                <a:latin typeface="Times New Roman" panose="02020603050405020304" pitchFamily="18" charset="0"/>
              </a:rPr>
              <a:t>YOLOv8</a:t>
            </a:r>
            <a:endParaRPr lang="zh-CN" altLang="en-US" sz="16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ellipse_053">
            <a:extLst>
              <a:ext uri="{FF2B5EF4-FFF2-40B4-BE49-F238E27FC236}">
                <a16:creationId xmlns:a16="http://schemas.microsoft.com/office/drawing/2014/main" id="{FB3E9F7C-AAFC-87D2-BD73-86A515847B67}"/>
              </a:ext>
            </a:extLst>
          </p:cNvPr>
          <p:cNvSpPr/>
          <p:nvPr/>
        </p:nvSpPr>
        <p:spPr>
          <a:xfrm>
            <a:off x="10223500" y="1993900"/>
            <a:ext cx="101600" cy="101600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ellipse_054">
            <a:extLst>
              <a:ext uri="{FF2B5EF4-FFF2-40B4-BE49-F238E27FC236}">
                <a16:creationId xmlns:a16="http://schemas.microsoft.com/office/drawing/2014/main" id="{2BC6D885-4A0D-8161-A4FA-82EF1C133F26}"/>
              </a:ext>
            </a:extLst>
          </p:cNvPr>
          <p:cNvSpPr/>
          <p:nvPr/>
        </p:nvSpPr>
        <p:spPr>
          <a:xfrm>
            <a:off x="10934700" y="1993900"/>
            <a:ext cx="101600" cy="101600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line_055">
            <a:extLst>
              <a:ext uri="{FF2B5EF4-FFF2-40B4-BE49-F238E27FC236}">
                <a16:creationId xmlns:a16="http://schemas.microsoft.com/office/drawing/2014/main" id="{8650B7EA-C6E4-EC66-8675-E052E2A2ED99}"/>
              </a:ext>
            </a:extLst>
          </p:cNvPr>
          <p:cNvCxnSpPr/>
          <p:nvPr/>
        </p:nvCxnSpPr>
        <p:spPr>
          <a:xfrm>
            <a:off x="8216900" y="2286000"/>
            <a:ext cx="3022600" cy="0"/>
          </a:xfrm>
          <a:prstGeom prst="line">
            <a:avLst/>
          </a:prstGeom>
          <a:ln w="5080">
            <a:solidFill>
              <a:srgbClr val="B7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_056">
            <a:extLst>
              <a:ext uri="{FF2B5EF4-FFF2-40B4-BE49-F238E27FC236}">
                <a16:creationId xmlns:a16="http://schemas.microsoft.com/office/drawing/2014/main" id="{713E6D65-59B8-A2B1-CA11-EB5C89103188}"/>
              </a:ext>
            </a:extLst>
          </p:cNvPr>
          <p:cNvSpPr txBox="1"/>
          <p:nvPr/>
        </p:nvSpPr>
        <p:spPr>
          <a:xfrm>
            <a:off x="8255000" y="2362199"/>
            <a:ext cx="17526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>
                <a:solidFill>
                  <a:srgbClr val="181818"/>
                </a:solidFill>
                <a:latin typeface="Times New Roman" panose="02020603050405020304" pitchFamily="18" charset="0"/>
              </a:rPr>
              <a:t>YOLO11</a:t>
            </a:r>
            <a:endParaRPr lang="zh-CN" altLang="en-US" sz="16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ellipse_057">
            <a:extLst>
              <a:ext uri="{FF2B5EF4-FFF2-40B4-BE49-F238E27FC236}">
                <a16:creationId xmlns:a16="http://schemas.microsoft.com/office/drawing/2014/main" id="{118C9290-9BB4-C984-D394-401497D0DA23}"/>
              </a:ext>
            </a:extLst>
          </p:cNvPr>
          <p:cNvSpPr/>
          <p:nvPr/>
        </p:nvSpPr>
        <p:spPr>
          <a:xfrm>
            <a:off x="10223500" y="2476500"/>
            <a:ext cx="101600" cy="101600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ellipse_058">
            <a:extLst>
              <a:ext uri="{FF2B5EF4-FFF2-40B4-BE49-F238E27FC236}">
                <a16:creationId xmlns:a16="http://schemas.microsoft.com/office/drawing/2014/main" id="{C9BC6A68-C2AA-DE98-146D-09734B53FE92}"/>
              </a:ext>
            </a:extLst>
          </p:cNvPr>
          <p:cNvSpPr/>
          <p:nvPr/>
        </p:nvSpPr>
        <p:spPr>
          <a:xfrm>
            <a:off x="10934700" y="2476500"/>
            <a:ext cx="101600" cy="101600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line_059">
            <a:extLst>
              <a:ext uri="{FF2B5EF4-FFF2-40B4-BE49-F238E27FC236}">
                <a16:creationId xmlns:a16="http://schemas.microsoft.com/office/drawing/2014/main" id="{639EDA71-3AEF-EABE-5713-E43CBD2AD2D9}"/>
              </a:ext>
            </a:extLst>
          </p:cNvPr>
          <p:cNvCxnSpPr/>
          <p:nvPr/>
        </p:nvCxnSpPr>
        <p:spPr>
          <a:xfrm>
            <a:off x="8216900" y="2768600"/>
            <a:ext cx="3022600" cy="0"/>
          </a:xfrm>
          <a:prstGeom prst="line">
            <a:avLst/>
          </a:prstGeom>
          <a:ln w="5080">
            <a:solidFill>
              <a:srgbClr val="B7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_060">
            <a:extLst>
              <a:ext uri="{FF2B5EF4-FFF2-40B4-BE49-F238E27FC236}">
                <a16:creationId xmlns:a16="http://schemas.microsoft.com/office/drawing/2014/main" id="{DE9DD6D0-8D31-820A-9473-3D0C1400822F}"/>
              </a:ext>
            </a:extLst>
          </p:cNvPr>
          <p:cNvSpPr txBox="1"/>
          <p:nvPr/>
        </p:nvSpPr>
        <p:spPr>
          <a:xfrm>
            <a:off x="8255000" y="2844799"/>
            <a:ext cx="17526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>
                <a:solidFill>
                  <a:srgbClr val="181818"/>
                </a:solidFill>
                <a:latin typeface="Times New Roman" panose="02020603050405020304" pitchFamily="18" charset="0"/>
              </a:rPr>
              <a:t>YOLO26</a:t>
            </a:r>
            <a:endParaRPr lang="zh-CN" altLang="en-US" sz="16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ellipse_061">
            <a:extLst>
              <a:ext uri="{FF2B5EF4-FFF2-40B4-BE49-F238E27FC236}">
                <a16:creationId xmlns:a16="http://schemas.microsoft.com/office/drawing/2014/main" id="{E91F8F6D-58EE-62CB-FF72-307C292F283C}"/>
              </a:ext>
            </a:extLst>
          </p:cNvPr>
          <p:cNvSpPr/>
          <p:nvPr/>
        </p:nvSpPr>
        <p:spPr>
          <a:xfrm>
            <a:off x="10223500" y="2959100"/>
            <a:ext cx="101600" cy="101600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ellipse_062">
            <a:extLst>
              <a:ext uri="{FF2B5EF4-FFF2-40B4-BE49-F238E27FC236}">
                <a16:creationId xmlns:a16="http://schemas.microsoft.com/office/drawing/2014/main" id="{508A6707-9120-9756-DB1C-2103CB313A0A}"/>
              </a:ext>
            </a:extLst>
          </p:cNvPr>
          <p:cNvSpPr/>
          <p:nvPr/>
        </p:nvSpPr>
        <p:spPr>
          <a:xfrm>
            <a:off x="10934700" y="2959100"/>
            <a:ext cx="101600" cy="101600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line_063">
            <a:extLst>
              <a:ext uri="{FF2B5EF4-FFF2-40B4-BE49-F238E27FC236}">
                <a16:creationId xmlns:a16="http://schemas.microsoft.com/office/drawing/2014/main" id="{31327293-E752-FCF6-0DCE-394EC65D3F15}"/>
              </a:ext>
            </a:extLst>
          </p:cNvPr>
          <p:cNvCxnSpPr/>
          <p:nvPr/>
        </p:nvCxnSpPr>
        <p:spPr>
          <a:xfrm>
            <a:off x="8216900" y="3251200"/>
            <a:ext cx="3022600" cy="0"/>
          </a:xfrm>
          <a:prstGeom prst="line">
            <a:avLst/>
          </a:prstGeom>
          <a:ln w="5080">
            <a:solidFill>
              <a:srgbClr val="B7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ine_064">
            <a:extLst>
              <a:ext uri="{FF2B5EF4-FFF2-40B4-BE49-F238E27FC236}">
                <a16:creationId xmlns:a16="http://schemas.microsoft.com/office/drawing/2014/main" id="{D3673A8A-836A-0655-1809-6DEC0AD330AB}"/>
              </a:ext>
            </a:extLst>
          </p:cNvPr>
          <p:cNvCxnSpPr/>
          <p:nvPr/>
        </p:nvCxnSpPr>
        <p:spPr>
          <a:xfrm>
            <a:off x="9715500" y="3289300"/>
            <a:ext cx="0" cy="25400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_065">
            <a:extLst>
              <a:ext uri="{FF2B5EF4-FFF2-40B4-BE49-F238E27FC236}">
                <a16:creationId xmlns:a16="http://schemas.microsoft.com/office/drawing/2014/main" id="{23A6836D-F27B-4FF8-CC10-228627D21948}"/>
              </a:ext>
            </a:extLst>
          </p:cNvPr>
          <p:cNvSpPr txBox="1"/>
          <p:nvPr/>
        </p:nvSpPr>
        <p:spPr>
          <a:xfrm>
            <a:off x="8255000" y="3632199"/>
            <a:ext cx="2997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300 epochs per run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text_066">
            <a:extLst>
              <a:ext uri="{FF2B5EF4-FFF2-40B4-BE49-F238E27FC236}">
                <a16:creationId xmlns:a16="http://schemas.microsoft.com/office/drawing/2014/main" id="{7E33017B-2A9A-BC34-6BB4-AA048852657D}"/>
              </a:ext>
            </a:extLst>
          </p:cNvPr>
          <p:cNvSpPr txBox="1"/>
          <p:nvPr/>
        </p:nvSpPr>
        <p:spPr>
          <a:xfrm>
            <a:off x="8204200" y="4063999"/>
            <a:ext cx="31115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Checkpoints every 10 epochs
and final last.pt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9" name="line_067">
            <a:extLst>
              <a:ext uri="{FF2B5EF4-FFF2-40B4-BE49-F238E27FC236}">
                <a16:creationId xmlns:a16="http://schemas.microsoft.com/office/drawing/2014/main" id="{BF175476-FFFD-254A-4593-90246CD6AF34}"/>
              </a:ext>
            </a:extLst>
          </p:cNvPr>
          <p:cNvCxnSpPr/>
          <p:nvPr/>
        </p:nvCxnSpPr>
        <p:spPr>
          <a:xfrm>
            <a:off x="11303000" y="4229100"/>
            <a:ext cx="381000" cy="0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ne_068">
            <a:extLst>
              <a:ext uri="{FF2B5EF4-FFF2-40B4-BE49-F238E27FC236}">
                <a16:creationId xmlns:a16="http://schemas.microsoft.com/office/drawing/2014/main" id="{DB0E00C7-8BBA-D1DB-A95E-792F47CA9225}"/>
              </a:ext>
            </a:extLst>
          </p:cNvPr>
          <p:cNvCxnSpPr/>
          <p:nvPr/>
        </p:nvCxnSpPr>
        <p:spPr>
          <a:xfrm flipV="1">
            <a:off x="11684000" y="1841500"/>
            <a:ext cx="0" cy="2387600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ne_069">
            <a:extLst>
              <a:ext uri="{FF2B5EF4-FFF2-40B4-BE49-F238E27FC236}">
                <a16:creationId xmlns:a16="http://schemas.microsoft.com/office/drawing/2014/main" id="{C88C1E45-7599-36BE-0D3A-76768343B7C1}"/>
              </a:ext>
            </a:extLst>
          </p:cNvPr>
          <p:cNvCxnSpPr/>
          <p:nvPr/>
        </p:nvCxnSpPr>
        <p:spPr>
          <a:xfrm>
            <a:off x="11684000" y="1841500"/>
            <a:ext cx="596900" cy="0"/>
          </a:xfrm>
          <a:prstGeom prst="line">
            <a:avLst/>
          </a:prstGeom>
          <a:ln w="889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_070">
            <a:extLst>
              <a:ext uri="{FF2B5EF4-FFF2-40B4-BE49-F238E27FC236}">
                <a16:creationId xmlns:a16="http://schemas.microsoft.com/office/drawing/2014/main" id="{90259EA5-CA6C-A7C0-A9FE-24B4E7802D23}"/>
              </a:ext>
            </a:extLst>
          </p:cNvPr>
          <p:cNvSpPr/>
          <p:nvPr/>
        </p:nvSpPr>
        <p:spPr>
          <a:xfrm>
            <a:off x="12065000" y="965200"/>
            <a:ext cx="4521200" cy="609600"/>
          </a:xfrm>
          <a:prstGeom prst="rect">
            <a:avLst/>
          </a:prstGeom>
          <a:solidFill>
            <a:srgbClr val="F3F3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text_071">
            <a:extLst>
              <a:ext uri="{FF2B5EF4-FFF2-40B4-BE49-F238E27FC236}">
                <a16:creationId xmlns:a16="http://schemas.microsoft.com/office/drawing/2014/main" id="{DF154E2B-623C-F476-D7C9-7FFA3D3FC0A2}"/>
              </a:ext>
            </a:extLst>
          </p:cNvPr>
          <p:cNvSpPr txBox="1"/>
          <p:nvPr/>
        </p:nvSpPr>
        <p:spPr>
          <a:xfrm>
            <a:off x="12204700" y="1041399"/>
            <a:ext cx="9017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dev61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text_072">
            <a:extLst>
              <a:ext uri="{FF2B5EF4-FFF2-40B4-BE49-F238E27FC236}">
                <a16:creationId xmlns:a16="http://schemas.microsoft.com/office/drawing/2014/main" id="{F7B9CC05-1450-9693-DD82-8DDDFE71644E}"/>
              </a:ext>
            </a:extLst>
          </p:cNvPr>
          <p:cNvSpPr txBox="1"/>
          <p:nvPr/>
        </p:nvSpPr>
        <p:spPr>
          <a:xfrm>
            <a:off x="13208000" y="1015999"/>
            <a:ext cx="3238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61 development images
Excluded from detector training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5" name="line_073">
            <a:extLst>
              <a:ext uri="{FF2B5EF4-FFF2-40B4-BE49-F238E27FC236}">
                <a16:creationId xmlns:a16="http://schemas.microsoft.com/office/drawing/2014/main" id="{23F01FDD-6F98-93BB-DB0A-ECACED6A9B8C}"/>
              </a:ext>
            </a:extLst>
          </p:cNvPr>
          <p:cNvCxnSpPr/>
          <p:nvPr/>
        </p:nvCxnSpPr>
        <p:spPr>
          <a:xfrm>
            <a:off x="14325600" y="1574800"/>
            <a:ext cx="0" cy="26670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ine_074">
            <a:extLst>
              <a:ext uri="{FF2B5EF4-FFF2-40B4-BE49-F238E27FC236}">
                <a16:creationId xmlns:a16="http://schemas.microsoft.com/office/drawing/2014/main" id="{C25B48E7-8843-2F7F-D5D5-9E10FBA871A9}"/>
              </a:ext>
            </a:extLst>
          </p:cNvPr>
          <p:cNvCxnSpPr/>
          <p:nvPr/>
        </p:nvCxnSpPr>
        <p:spPr>
          <a:xfrm flipH="1">
            <a:off x="12280900" y="1841500"/>
            <a:ext cx="2044700" cy="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line_075">
            <a:extLst>
              <a:ext uri="{FF2B5EF4-FFF2-40B4-BE49-F238E27FC236}">
                <a16:creationId xmlns:a16="http://schemas.microsoft.com/office/drawing/2014/main" id="{FD7C1740-3064-74A3-33C7-4EA676D79A89}"/>
              </a:ext>
            </a:extLst>
          </p:cNvPr>
          <p:cNvCxnSpPr/>
          <p:nvPr/>
        </p:nvCxnSpPr>
        <p:spPr>
          <a:xfrm>
            <a:off x="12280900" y="1841500"/>
            <a:ext cx="0" cy="241300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line_076">
            <a:extLst>
              <a:ext uri="{FF2B5EF4-FFF2-40B4-BE49-F238E27FC236}">
                <a16:creationId xmlns:a16="http://schemas.microsoft.com/office/drawing/2014/main" id="{EFF3EA05-CFD2-8160-53C5-259C0A25DFEA}"/>
              </a:ext>
            </a:extLst>
          </p:cNvPr>
          <p:cNvCxnSpPr/>
          <p:nvPr/>
        </p:nvCxnSpPr>
        <p:spPr>
          <a:xfrm>
            <a:off x="12280900" y="2298700"/>
            <a:ext cx="317500" cy="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_077">
            <a:extLst>
              <a:ext uri="{FF2B5EF4-FFF2-40B4-BE49-F238E27FC236}">
                <a16:creationId xmlns:a16="http://schemas.microsoft.com/office/drawing/2014/main" id="{EB832995-9888-AFD5-FBF5-E6F81864EF03}"/>
              </a:ext>
            </a:extLst>
          </p:cNvPr>
          <p:cNvSpPr txBox="1"/>
          <p:nvPr/>
        </p:nvSpPr>
        <p:spPr>
          <a:xfrm>
            <a:off x="12712700" y="2095499"/>
            <a:ext cx="3873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Fixed endpoint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text_078">
            <a:extLst>
              <a:ext uri="{FF2B5EF4-FFF2-40B4-BE49-F238E27FC236}">
                <a16:creationId xmlns:a16="http://schemas.microsoft.com/office/drawing/2014/main" id="{05C41255-67DC-D3B2-49B3-9A867BCAFE5C}"/>
              </a:ext>
            </a:extLst>
          </p:cNvPr>
          <p:cNvSpPr txBox="1"/>
          <p:nvPr/>
        </p:nvSpPr>
        <p:spPr>
          <a:xfrm>
            <a:off x="12712700" y="2476499"/>
            <a:ext cx="3873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last.pt evaluated on dev61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1" name="line_079">
            <a:extLst>
              <a:ext uri="{FF2B5EF4-FFF2-40B4-BE49-F238E27FC236}">
                <a16:creationId xmlns:a16="http://schemas.microsoft.com/office/drawing/2014/main" id="{A24320AD-437C-0BBC-CF3E-2BA8CBDFF363}"/>
              </a:ext>
            </a:extLst>
          </p:cNvPr>
          <p:cNvCxnSpPr/>
          <p:nvPr/>
        </p:nvCxnSpPr>
        <p:spPr>
          <a:xfrm>
            <a:off x="12280900" y="3225800"/>
            <a:ext cx="317500" cy="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_080">
            <a:extLst>
              <a:ext uri="{FF2B5EF4-FFF2-40B4-BE49-F238E27FC236}">
                <a16:creationId xmlns:a16="http://schemas.microsoft.com/office/drawing/2014/main" id="{E3855AD2-9ADB-9A16-5C31-3E6CBD846A53}"/>
              </a:ext>
            </a:extLst>
          </p:cNvPr>
          <p:cNvSpPr txBox="1"/>
          <p:nvPr/>
        </p:nvSpPr>
        <p:spPr>
          <a:xfrm>
            <a:off x="12712700" y="3022599"/>
            <a:ext cx="3873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Five-fold cross-fitting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text_081">
            <a:extLst>
              <a:ext uri="{FF2B5EF4-FFF2-40B4-BE49-F238E27FC236}">
                <a16:creationId xmlns:a16="http://schemas.microsoft.com/office/drawing/2014/main" id="{8718F36D-481E-647B-1166-EDEAAC1A141B}"/>
              </a:ext>
            </a:extLst>
          </p:cNvPr>
          <p:cNvSpPr txBox="1"/>
          <p:nvPr/>
        </p:nvSpPr>
        <p:spPr>
          <a:xfrm>
            <a:off x="12712700" y="3403599"/>
            <a:ext cx="3873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Joint model + checkpoint; pooled OOF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" name="text_082">
            <a:extLst>
              <a:ext uri="{FF2B5EF4-FFF2-40B4-BE49-F238E27FC236}">
                <a16:creationId xmlns:a16="http://schemas.microsoft.com/office/drawing/2014/main" id="{D8F346FE-5D5E-2129-B581-4159FDB4E2D4}"/>
              </a:ext>
            </a:extLst>
          </p:cNvPr>
          <p:cNvSpPr txBox="1"/>
          <p:nvPr/>
        </p:nvSpPr>
        <p:spPr>
          <a:xfrm>
            <a:off x="12712700" y="3670299"/>
            <a:ext cx="3873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Paired bootstrap: 10,000 resamples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5" name="line_083">
            <a:extLst>
              <a:ext uri="{FF2B5EF4-FFF2-40B4-BE49-F238E27FC236}">
                <a16:creationId xmlns:a16="http://schemas.microsoft.com/office/drawing/2014/main" id="{4D00803B-95FC-EF56-6FDF-479D3C25733D}"/>
              </a:ext>
            </a:extLst>
          </p:cNvPr>
          <p:cNvCxnSpPr/>
          <p:nvPr/>
        </p:nvCxnSpPr>
        <p:spPr>
          <a:xfrm>
            <a:off x="12280900" y="4254500"/>
            <a:ext cx="317500" cy="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_084">
            <a:extLst>
              <a:ext uri="{FF2B5EF4-FFF2-40B4-BE49-F238E27FC236}">
                <a16:creationId xmlns:a16="http://schemas.microsoft.com/office/drawing/2014/main" id="{E6004B8B-2912-B177-1CBF-60B7EFEC7CE3}"/>
              </a:ext>
            </a:extLst>
          </p:cNvPr>
          <p:cNvSpPr txBox="1"/>
          <p:nvPr/>
        </p:nvSpPr>
        <p:spPr>
          <a:xfrm>
            <a:off x="12712700" y="4051299"/>
            <a:ext cx="3873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Deployment selection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" name="text_085">
            <a:extLst>
              <a:ext uri="{FF2B5EF4-FFF2-40B4-BE49-F238E27FC236}">
                <a16:creationId xmlns:a16="http://schemas.microsoft.com/office/drawing/2014/main" id="{A1D8A61F-0CDE-1902-870B-A714FB25769A}"/>
              </a:ext>
            </a:extLst>
          </p:cNvPr>
          <p:cNvSpPr txBox="1"/>
          <p:nvPr/>
        </p:nvSpPr>
        <p:spPr>
          <a:xfrm>
            <a:off x="12712700" y="4432299"/>
            <a:ext cx="3873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All dev61; development score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" name="text_086">
            <a:extLst>
              <a:ext uri="{FF2B5EF4-FFF2-40B4-BE49-F238E27FC236}">
                <a16:creationId xmlns:a16="http://schemas.microsoft.com/office/drawing/2014/main" id="{9280F8BE-46AB-46B2-B5BA-BF9416360A62}"/>
              </a:ext>
            </a:extLst>
          </p:cNvPr>
          <p:cNvSpPr txBox="1"/>
          <p:nvPr/>
        </p:nvSpPr>
        <p:spPr>
          <a:xfrm>
            <a:off x="304800" y="4813300"/>
            <a:ext cx="16281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i="1">
                <a:solidFill>
                  <a:srgbClr val="181818"/>
                </a:solidFill>
                <a:latin typeface="Times New Roman" panose="02020603050405020304" pitchFamily="18" charset="0"/>
              </a:rPr>
              <a:t>* D target: 1,085 images after screening and reviewed annotation; detector results remain pending.</a:t>
            </a:r>
            <a:endParaRPr lang="zh-CN" altLang="en-US" sz="11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97920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NUMBER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自定义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2026-10-06T10:11:44Z</dcterms:created>
  <dcterms:modified xsi:type="dcterms:W3CDTF">2026-10-06T10:11:44Z</dcterms:modified>
</cp:coreProperties>
</file>