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812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E8946-EE35-40A8-8B07-9E4C1FB36037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AC49A5-4133-41A9-B3E7-7284F7F69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442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000">
                <a:latin typeface="Arial" panose="020B0604020202020204" pitchFamily="34" charset="0"/>
              </a:rPr>
              <a:t>Sources: experiments/v4_protocol/bootstrap_paired_L3.json target=joint, bootstrap_paired.json for real93 context. 493 is a subset of1085, same image-edit recipe and300-epoch protocol. Only493 and1085 form the synthesis size comparison. Real93 open marker is context and is not joined to the C scale line. Pooled held-out joint detector/checkpoint OOF, paired95% image-cluster bootstrap10000 resamples. No D size experiment has been performed.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C49A5-4133-41A9-B3E7-7284F7F6974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72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FEF09D-238A-6E09-7547-0DCE9568E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0208"/>
            <a:ext cx="9144000" cy="282974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91DA41-4CAA-4CA9-8774-99940C72D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9082"/>
            <a:ext cx="9144000" cy="196238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42B1EC-8EEE-D0A6-8F0E-787E6B90E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2C424-D2F2-4305-BD15-958E301BC1A6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61E0D1-FC7E-39AE-F357-82B3FD4E9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4F4EA6-E6EC-532A-3531-E2554ABED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C482-F442-456A-A7F9-4E1770814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998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CE43E9-654D-D4C3-B358-D91D62831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E33A2C-69CE-15E8-9212-29311294E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FDF834-5C3B-8CE7-0D1A-41031A94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2C424-D2F2-4305-BD15-958E301BC1A6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0E6DB9-17D4-40CB-28DC-A85D3936A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5E6B32-E80E-04DA-2C6A-99AA81F18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C482-F442-456A-A7F9-4E1770814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913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F38DF-9CC8-8E94-8781-91DED930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26357"/>
            <a:ext cx="10515600" cy="338102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A4DD93-BA39-1013-A56D-826B4864E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439364"/>
            <a:ext cx="10515600" cy="1777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57CC48-6988-7A7E-D667-13A913881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2C424-D2F2-4305-BD15-958E301BC1A6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AB0C0D-0739-C044-2D9A-79D3ED1E0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0BECF5-AF33-CAAD-FCE8-1F223BB17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C482-F442-456A-A7F9-4E1770814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6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F9AF8-322D-A982-7D8E-86D583D58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2FE751-0684-6199-8B05-C57FB3A4A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63704"/>
            <a:ext cx="5181600" cy="51571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AF0728-0F9F-3D03-D682-CEA0EB4D8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63704"/>
            <a:ext cx="5181600" cy="51571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15EF14-C4A3-B033-82F1-1417DCFE5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2C424-D2F2-4305-BD15-958E301BC1A6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61E425-4C84-E39C-70B5-D5BF96EF7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A74371-7D0F-A078-589E-F639B29E2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C482-F442-456A-A7F9-4E1770814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401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058EB5-AEF6-7004-1111-4A11F3CDD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32741"/>
            <a:ext cx="10515600" cy="15710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A7DDF6-97F3-8370-2B43-89AFC7F55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992490"/>
            <a:ext cx="5157787" cy="9764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0EAD51-1455-309D-0A93-5B897447D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968978"/>
            <a:ext cx="5157787" cy="4366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AEE2ACD-5549-2657-3EAE-33507F976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92490"/>
            <a:ext cx="5183188" cy="9764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32572E-9A9D-C74A-0F7A-1B0E4CF9F0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8978"/>
            <a:ext cx="5183188" cy="4366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2F78668-4C90-0646-768F-A2D43063E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2C424-D2F2-4305-BD15-958E301BC1A6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7FCBB73-B593-93B4-A304-9421D0EC7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16C069-B7DE-55FB-2422-79EBF2975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C482-F442-456A-A7F9-4E1770814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039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A30CA5-8643-E815-EBC0-7888D3C6D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43DCA0-92AB-529E-BEA6-5E67B8ECE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2C424-D2F2-4305-BD15-958E301BC1A6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9F140D-E84E-9DF3-6738-BA7BB89F4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D3ED32-32FA-96FA-4CE6-0631DEFC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C482-F442-456A-A7F9-4E1770814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645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8359BCF-1AFA-7C2D-CA4B-1C350BD9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2C424-D2F2-4305-BD15-958E301BC1A6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055819E-6941-4726-9835-170436291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26DDE9-759E-8647-2E53-240BF81B2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C482-F442-456A-A7F9-4E1770814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905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41A933-B462-83A6-BE15-3C61CC69A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541867"/>
            <a:ext cx="3932237" cy="18965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D1B935-F7ED-0E42-3AEF-2B49FC56B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170282"/>
            <a:ext cx="6172200" cy="577614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909EC9-1CFE-1022-EFC4-6BBC0FCCC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438400"/>
            <a:ext cx="3932237" cy="45174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413619-DCEF-B355-5E2E-3BB3EC30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2C424-D2F2-4305-BD15-958E301BC1A6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3FCAAC-863B-5B69-F642-F65399095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BB4790-24E2-5239-EC2A-3B7AEA44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C482-F442-456A-A7F9-4E1770814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785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780E6C-511B-20B4-EECA-4351D7B2F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541867"/>
            <a:ext cx="3932237" cy="18965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3E25E4-88FB-3A84-407B-DCD329BF7EB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170282"/>
            <a:ext cx="6172200" cy="577614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64D54F-CB04-61EA-2250-49E54D104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438400"/>
            <a:ext cx="3932237" cy="45174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6048E6-45DB-B80B-5A83-C512491E2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2C424-D2F2-4305-BD15-958E301BC1A6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6E21BF-3306-1182-5966-793C8DDCE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6B9C8E-684E-434A-6D1B-6105F2023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C482-F442-456A-A7F9-4E1770814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313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73D123-0F7E-DD86-9807-8EACF13A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F70F4C-EA6E-DEA3-D8A3-33E0E6E09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26E03D-0665-B285-6354-FF7D9712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2C424-D2F2-4305-BD15-958E301BC1A6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8C3BC7-3BBE-DA45-9149-CA3902FFE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E577CB-286F-F9C2-0377-360A6967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C482-F442-456A-A7F9-4E1770814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173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2EBB5D-15B3-55CA-21CB-8D2BD3FC80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32741"/>
            <a:ext cx="2628900" cy="688810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CB0CC-04EB-7490-5A48-CD36627D3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32741"/>
            <a:ext cx="7734300" cy="688810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D9DEE9-3001-48A5-A83E-EA2F89AFA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2C424-D2F2-4305-BD15-958E301BC1A6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8FFA95-20E1-43C9-1071-80E49314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07F5C5-5022-7092-894A-8B0A95961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C482-F442-456A-A7F9-4E1770814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639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081323-8332-43D4-0E51-A367C4F2A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741"/>
            <a:ext cx="10515600" cy="1571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738851-4D01-89DA-6E91-D76059BA8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63704"/>
            <a:ext cx="10515600" cy="5157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198D34-79CE-66B6-7F91-38F6B685F6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7533452"/>
            <a:ext cx="27432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2C424-D2F2-4305-BD15-958E301BC1A6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749860-E8AD-C0B6-3770-514F0B7E4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7533452"/>
            <a:ext cx="41148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592AB5-183D-D2E0-4F6E-CC158D913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7533452"/>
            <a:ext cx="27432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8C482-F442-456A-A7F9-4E1770814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479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1">
            <a:extLst>
              <a:ext uri="{FF2B5EF4-FFF2-40B4-BE49-F238E27FC236}">
                <a16:creationId xmlns:a16="http://schemas.microsoft.com/office/drawing/2014/main" id="{820E2434-8E0B-00F9-A998-EBF1BFF2A4D5}"/>
              </a:ext>
            </a:extLst>
          </p:cNvPr>
          <p:cNvSpPr txBox="1"/>
          <p:nvPr/>
        </p:nvSpPr>
        <p:spPr>
          <a:xfrm>
            <a:off x="355600" y="228599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200">
                <a:solidFill>
                  <a:srgbClr val="202020"/>
                </a:solidFill>
                <a:latin typeface="Times New Roman" panose="02020603050405020304" pitchFamily="18" charset="0"/>
              </a:rPr>
              <a:t>Effect of the image-edit training-set size</a:t>
            </a:r>
            <a:endParaRPr lang="zh-CN" altLang="en-US" sz="2200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ellipse_002">
            <a:extLst>
              <a:ext uri="{FF2B5EF4-FFF2-40B4-BE49-F238E27FC236}">
                <a16:creationId xmlns:a16="http://schemas.microsoft.com/office/drawing/2014/main" id="{4418E626-BBA1-6F7A-E555-B68F8CC40E5B}"/>
              </a:ext>
            </a:extLst>
          </p:cNvPr>
          <p:cNvSpPr/>
          <p:nvPr/>
        </p:nvSpPr>
        <p:spPr>
          <a:xfrm>
            <a:off x="1193800" y="1587500"/>
            <a:ext cx="101600" cy="1016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4A66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_003">
            <a:extLst>
              <a:ext uri="{FF2B5EF4-FFF2-40B4-BE49-F238E27FC236}">
                <a16:creationId xmlns:a16="http://schemas.microsoft.com/office/drawing/2014/main" id="{2595EA13-F680-84EC-3672-48922A01820B}"/>
              </a:ext>
            </a:extLst>
          </p:cNvPr>
          <p:cNvSpPr txBox="1"/>
          <p:nvPr/>
        </p:nvSpPr>
        <p:spPr>
          <a:xfrm>
            <a:off x="1397000" y="1460499"/>
            <a:ext cx="27051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50">
                <a:solidFill>
                  <a:srgbClr val="202020"/>
                </a:solidFill>
                <a:latin typeface="Arial" panose="020B0604020202020204" pitchFamily="34" charset="0"/>
              </a:rPr>
              <a:t>Real93 context (arm A)</a:t>
            </a:r>
            <a:endParaRPr lang="zh-CN" altLang="en-US" sz="11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5" name="line_004">
            <a:extLst>
              <a:ext uri="{FF2B5EF4-FFF2-40B4-BE49-F238E27FC236}">
                <a16:creationId xmlns:a16="http://schemas.microsoft.com/office/drawing/2014/main" id="{B4FCD996-D1FC-D817-1B76-B342616BA32D}"/>
              </a:ext>
            </a:extLst>
          </p:cNvPr>
          <p:cNvCxnSpPr/>
          <p:nvPr/>
        </p:nvCxnSpPr>
        <p:spPr>
          <a:xfrm>
            <a:off x="4318000" y="1638300"/>
            <a:ext cx="393700" cy="0"/>
          </a:xfrm>
          <a:prstGeom prst="line">
            <a:avLst/>
          </a:prstGeom>
          <a:ln w="13970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_005">
            <a:extLst>
              <a:ext uri="{FF2B5EF4-FFF2-40B4-BE49-F238E27FC236}">
                <a16:creationId xmlns:a16="http://schemas.microsoft.com/office/drawing/2014/main" id="{5DEFE890-188A-BA1F-9469-8CD42EB05B56}"/>
              </a:ext>
            </a:extLst>
          </p:cNvPr>
          <p:cNvSpPr/>
          <p:nvPr/>
        </p:nvSpPr>
        <p:spPr>
          <a:xfrm>
            <a:off x="4470400" y="1587500"/>
            <a:ext cx="101600" cy="101600"/>
          </a:xfrm>
          <a:prstGeom prst="ellipse">
            <a:avLst/>
          </a:prstGeom>
          <a:solidFill>
            <a:srgbClr val="377D78"/>
          </a:solidFill>
          <a:ln w="10160">
            <a:solidFill>
              <a:srgbClr val="377D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_006">
            <a:extLst>
              <a:ext uri="{FF2B5EF4-FFF2-40B4-BE49-F238E27FC236}">
                <a16:creationId xmlns:a16="http://schemas.microsoft.com/office/drawing/2014/main" id="{7CF7CFFF-5273-F00B-2C6F-3D91BC918DAC}"/>
              </a:ext>
            </a:extLst>
          </p:cNvPr>
          <p:cNvSpPr txBox="1"/>
          <p:nvPr/>
        </p:nvSpPr>
        <p:spPr>
          <a:xfrm>
            <a:off x="4826000" y="1460499"/>
            <a:ext cx="38227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50">
                <a:solidFill>
                  <a:srgbClr val="202020"/>
                </a:solidFill>
                <a:latin typeface="Arial" panose="020B0604020202020204" pitchFamily="34" charset="0"/>
              </a:rPr>
              <a:t>Image-edit size comparison (arm C)</a:t>
            </a:r>
            <a:endParaRPr lang="zh-CN" altLang="en-US" sz="11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_007">
            <a:extLst>
              <a:ext uri="{FF2B5EF4-FFF2-40B4-BE49-F238E27FC236}">
                <a16:creationId xmlns:a16="http://schemas.microsoft.com/office/drawing/2014/main" id="{A3FF715A-8ABA-2EF6-2BA6-CD4E0214B1BE}"/>
              </a:ext>
            </a:extLst>
          </p:cNvPr>
          <p:cNvSpPr txBox="1"/>
          <p:nvPr/>
        </p:nvSpPr>
        <p:spPr>
          <a:xfrm>
            <a:off x="368300" y="952499"/>
            <a:ext cx="5334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00">
                <a:solidFill>
                  <a:srgbClr val="202020"/>
                </a:solidFill>
                <a:latin typeface="Times New Roman" panose="02020603050405020304" pitchFamily="18" charset="0"/>
              </a:rPr>
              <a:t>(a)  mAP50–95</a:t>
            </a:r>
            <a:endParaRPr lang="zh-CN" altLang="en-US" sz="1700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9" name="line_008">
            <a:extLst>
              <a:ext uri="{FF2B5EF4-FFF2-40B4-BE49-F238E27FC236}">
                <a16:creationId xmlns:a16="http://schemas.microsoft.com/office/drawing/2014/main" id="{3532F241-B413-EF34-8CF6-6790C10743B0}"/>
              </a:ext>
            </a:extLst>
          </p:cNvPr>
          <p:cNvCxnSpPr/>
          <p:nvPr/>
        </p:nvCxnSpPr>
        <p:spPr>
          <a:xfrm>
            <a:off x="1168400" y="2298700"/>
            <a:ext cx="0" cy="3937000"/>
          </a:xfrm>
          <a:prstGeom prst="line">
            <a:avLst/>
          </a:prstGeom>
          <a:ln w="825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ine_009">
            <a:extLst>
              <a:ext uri="{FF2B5EF4-FFF2-40B4-BE49-F238E27FC236}">
                <a16:creationId xmlns:a16="http://schemas.microsoft.com/office/drawing/2014/main" id="{BB31FF48-7B58-189B-3B79-D281850BD8BA}"/>
              </a:ext>
            </a:extLst>
          </p:cNvPr>
          <p:cNvCxnSpPr/>
          <p:nvPr/>
        </p:nvCxnSpPr>
        <p:spPr>
          <a:xfrm>
            <a:off x="1168400" y="6235700"/>
            <a:ext cx="4356100" cy="0"/>
          </a:xfrm>
          <a:prstGeom prst="line">
            <a:avLst/>
          </a:prstGeom>
          <a:ln w="825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ine_010">
            <a:extLst>
              <a:ext uri="{FF2B5EF4-FFF2-40B4-BE49-F238E27FC236}">
                <a16:creationId xmlns:a16="http://schemas.microsoft.com/office/drawing/2014/main" id="{1170F0A4-E609-D56F-9826-C9D26A9E2F8B}"/>
              </a:ext>
            </a:extLst>
          </p:cNvPr>
          <p:cNvCxnSpPr/>
          <p:nvPr/>
        </p:nvCxnSpPr>
        <p:spPr>
          <a:xfrm>
            <a:off x="1117600" y="623570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_011">
            <a:extLst>
              <a:ext uri="{FF2B5EF4-FFF2-40B4-BE49-F238E27FC236}">
                <a16:creationId xmlns:a16="http://schemas.microsoft.com/office/drawing/2014/main" id="{0272B7ED-85AC-B22E-4401-01A4C0843F3E}"/>
              </a:ext>
            </a:extLst>
          </p:cNvPr>
          <p:cNvSpPr txBox="1"/>
          <p:nvPr/>
        </p:nvSpPr>
        <p:spPr>
          <a:xfrm>
            <a:off x="546100" y="6121400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line_012">
            <a:extLst>
              <a:ext uri="{FF2B5EF4-FFF2-40B4-BE49-F238E27FC236}">
                <a16:creationId xmlns:a16="http://schemas.microsoft.com/office/drawing/2014/main" id="{1094237D-95E1-DAC4-4211-C5E0DE5B3844}"/>
              </a:ext>
            </a:extLst>
          </p:cNvPr>
          <p:cNvCxnSpPr/>
          <p:nvPr/>
        </p:nvCxnSpPr>
        <p:spPr>
          <a:xfrm>
            <a:off x="1117600" y="544830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_013">
            <a:extLst>
              <a:ext uri="{FF2B5EF4-FFF2-40B4-BE49-F238E27FC236}">
                <a16:creationId xmlns:a16="http://schemas.microsoft.com/office/drawing/2014/main" id="{07C7E491-C170-BA5C-29D9-89556C2DA979}"/>
              </a:ext>
            </a:extLst>
          </p:cNvPr>
          <p:cNvSpPr txBox="1"/>
          <p:nvPr/>
        </p:nvSpPr>
        <p:spPr>
          <a:xfrm>
            <a:off x="546100" y="5334000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0.2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15" name="line_014">
            <a:extLst>
              <a:ext uri="{FF2B5EF4-FFF2-40B4-BE49-F238E27FC236}">
                <a16:creationId xmlns:a16="http://schemas.microsoft.com/office/drawing/2014/main" id="{B31A278E-B6E0-656E-D9C0-B1FE71499AE3}"/>
              </a:ext>
            </a:extLst>
          </p:cNvPr>
          <p:cNvCxnSpPr/>
          <p:nvPr/>
        </p:nvCxnSpPr>
        <p:spPr>
          <a:xfrm>
            <a:off x="1168400" y="5448300"/>
            <a:ext cx="43561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ine_015">
            <a:extLst>
              <a:ext uri="{FF2B5EF4-FFF2-40B4-BE49-F238E27FC236}">
                <a16:creationId xmlns:a16="http://schemas.microsoft.com/office/drawing/2014/main" id="{4A13DDF5-963C-9B12-241C-783765641942}"/>
              </a:ext>
            </a:extLst>
          </p:cNvPr>
          <p:cNvCxnSpPr/>
          <p:nvPr/>
        </p:nvCxnSpPr>
        <p:spPr>
          <a:xfrm>
            <a:off x="1117600" y="466090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_016">
            <a:extLst>
              <a:ext uri="{FF2B5EF4-FFF2-40B4-BE49-F238E27FC236}">
                <a16:creationId xmlns:a16="http://schemas.microsoft.com/office/drawing/2014/main" id="{4C1E22BF-C873-9BD6-655D-0D7CE168B550}"/>
              </a:ext>
            </a:extLst>
          </p:cNvPr>
          <p:cNvSpPr txBox="1"/>
          <p:nvPr/>
        </p:nvSpPr>
        <p:spPr>
          <a:xfrm>
            <a:off x="546100" y="4546600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0.4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18" name="line_017">
            <a:extLst>
              <a:ext uri="{FF2B5EF4-FFF2-40B4-BE49-F238E27FC236}">
                <a16:creationId xmlns:a16="http://schemas.microsoft.com/office/drawing/2014/main" id="{80D4A7C3-55BE-6D79-3D06-BF091C8B8E1D}"/>
              </a:ext>
            </a:extLst>
          </p:cNvPr>
          <p:cNvCxnSpPr/>
          <p:nvPr/>
        </p:nvCxnSpPr>
        <p:spPr>
          <a:xfrm>
            <a:off x="1168400" y="4660900"/>
            <a:ext cx="43561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ine_018">
            <a:extLst>
              <a:ext uri="{FF2B5EF4-FFF2-40B4-BE49-F238E27FC236}">
                <a16:creationId xmlns:a16="http://schemas.microsoft.com/office/drawing/2014/main" id="{54FD873E-0C73-115B-D4A0-9A3F7A1E6F9B}"/>
              </a:ext>
            </a:extLst>
          </p:cNvPr>
          <p:cNvCxnSpPr/>
          <p:nvPr/>
        </p:nvCxnSpPr>
        <p:spPr>
          <a:xfrm>
            <a:off x="1117600" y="387350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_019">
            <a:extLst>
              <a:ext uri="{FF2B5EF4-FFF2-40B4-BE49-F238E27FC236}">
                <a16:creationId xmlns:a16="http://schemas.microsoft.com/office/drawing/2014/main" id="{99FB9B5D-ED51-C1D8-C0B8-1F66B948EEB6}"/>
              </a:ext>
            </a:extLst>
          </p:cNvPr>
          <p:cNvSpPr txBox="1"/>
          <p:nvPr/>
        </p:nvSpPr>
        <p:spPr>
          <a:xfrm>
            <a:off x="546100" y="3759200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0.6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21" name="line_020">
            <a:extLst>
              <a:ext uri="{FF2B5EF4-FFF2-40B4-BE49-F238E27FC236}">
                <a16:creationId xmlns:a16="http://schemas.microsoft.com/office/drawing/2014/main" id="{4B563299-8DC0-3A86-C47F-12ECE0EC1441}"/>
              </a:ext>
            </a:extLst>
          </p:cNvPr>
          <p:cNvCxnSpPr/>
          <p:nvPr/>
        </p:nvCxnSpPr>
        <p:spPr>
          <a:xfrm>
            <a:off x="1168400" y="3873500"/>
            <a:ext cx="43561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line_021">
            <a:extLst>
              <a:ext uri="{FF2B5EF4-FFF2-40B4-BE49-F238E27FC236}">
                <a16:creationId xmlns:a16="http://schemas.microsoft.com/office/drawing/2014/main" id="{E74ACB76-0780-973C-45D6-AABDB49C9EC5}"/>
              </a:ext>
            </a:extLst>
          </p:cNvPr>
          <p:cNvCxnSpPr/>
          <p:nvPr/>
        </p:nvCxnSpPr>
        <p:spPr>
          <a:xfrm>
            <a:off x="1117600" y="308610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_022">
            <a:extLst>
              <a:ext uri="{FF2B5EF4-FFF2-40B4-BE49-F238E27FC236}">
                <a16:creationId xmlns:a16="http://schemas.microsoft.com/office/drawing/2014/main" id="{3F2870C7-0853-0349-BB98-117D9548375F}"/>
              </a:ext>
            </a:extLst>
          </p:cNvPr>
          <p:cNvSpPr txBox="1"/>
          <p:nvPr/>
        </p:nvSpPr>
        <p:spPr>
          <a:xfrm>
            <a:off x="546100" y="2971800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0.8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24" name="line_023">
            <a:extLst>
              <a:ext uri="{FF2B5EF4-FFF2-40B4-BE49-F238E27FC236}">
                <a16:creationId xmlns:a16="http://schemas.microsoft.com/office/drawing/2014/main" id="{B4E0BB71-5325-12AD-E025-8873DD9BAB8E}"/>
              </a:ext>
            </a:extLst>
          </p:cNvPr>
          <p:cNvCxnSpPr/>
          <p:nvPr/>
        </p:nvCxnSpPr>
        <p:spPr>
          <a:xfrm>
            <a:off x="1168400" y="3086100"/>
            <a:ext cx="43561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ine_024">
            <a:extLst>
              <a:ext uri="{FF2B5EF4-FFF2-40B4-BE49-F238E27FC236}">
                <a16:creationId xmlns:a16="http://schemas.microsoft.com/office/drawing/2014/main" id="{B00556EE-16C8-C9DB-82C6-8BAFD94BECF2}"/>
              </a:ext>
            </a:extLst>
          </p:cNvPr>
          <p:cNvCxnSpPr/>
          <p:nvPr/>
        </p:nvCxnSpPr>
        <p:spPr>
          <a:xfrm>
            <a:off x="1117600" y="229870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_025">
            <a:extLst>
              <a:ext uri="{FF2B5EF4-FFF2-40B4-BE49-F238E27FC236}">
                <a16:creationId xmlns:a16="http://schemas.microsoft.com/office/drawing/2014/main" id="{875E16A2-8A08-0A80-1279-9CFFD3037DD8}"/>
              </a:ext>
            </a:extLst>
          </p:cNvPr>
          <p:cNvSpPr txBox="1"/>
          <p:nvPr/>
        </p:nvSpPr>
        <p:spPr>
          <a:xfrm>
            <a:off x="546100" y="2184400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1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27" name="line_026">
            <a:extLst>
              <a:ext uri="{FF2B5EF4-FFF2-40B4-BE49-F238E27FC236}">
                <a16:creationId xmlns:a16="http://schemas.microsoft.com/office/drawing/2014/main" id="{8E8FA6F2-85DA-6E8D-1DA1-31736ADCFCA2}"/>
              </a:ext>
            </a:extLst>
          </p:cNvPr>
          <p:cNvCxnSpPr/>
          <p:nvPr/>
        </p:nvCxnSpPr>
        <p:spPr>
          <a:xfrm>
            <a:off x="1168400" y="2298700"/>
            <a:ext cx="43561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_027">
            <a:extLst>
              <a:ext uri="{FF2B5EF4-FFF2-40B4-BE49-F238E27FC236}">
                <a16:creationId xmlns:a16="http://schemas.microsoft.com/office/drawing/2014/main" id="{6F4FE0B7-0538-011E-0E71-43E6A4C968F4}"/>
              </a:ext>
            </a:extLst>
          </p:cNvPr>
          <p:cNvSpPr txBox="1"/>
          <p:nvPr/>
        </p:nvSpPr>
        <p:spPr>
          <a:xfrm>
            <a:off x="279400" y="3187699"/>
            <a:ext cx="292100" cy="2159000"/>
          </a:xfrm>
          <a:prstGeom prst="rect">
            <a:avLst/>
          </a:prstGeom>
          <a:noFill/>
        </p:spPr>
        <p:txBody>
          <a:bodyPr vert="vert" wrap="square" lIns="0" tIns="0" rIns="0" bIns="0" rtlCol="0" anchor="ctr">
            <a:noAutofit/>
          </a:bodyPr>
          <a:lstStyle/>
          <a:p>
            <a:pPr algn="ctr"/>
            <a:r>
              <a:rPr lang="en-US" altLang="zh-CN" sz="1100">
                <a:solidFill>
                  <a:srgbClr val="202020"/>
                </a:solidFill>
                <a:latin typeface="Arial" panose="020B0604020202020204" pitchFamily="34" charset="0"/>
              </a:rPr>
              <a:t>Pooled OOF AP</a:t>
            </a:r>
            <a:endParaRPr lang="zh-CN" altLang="en-US" sz="11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29" name="line_028">
            <a:extLst>
              <a:ext uri="{FF2B5EF4-FFF2-40B4-BE49-F238E27FC236}">
                <a16:creationId xmlns:a16="http://schemas.microsoft.com/office/drawing/2014/main" id="{6DAA74C5-52F2-21E2-755B-89177D77C1CC}"/>
              </a:ext>
            </a:extLst>
          </p:cNvPr>
          <p:cNvCxnSpPr/>
          <p:nvPr/>
        </p:nvCxnSpPr>
        <p:spPr>
          <a:xfrm flipV="1">
            <a:off x="2958031" y="3704615"/>
            <a:ext cx="2149010" cy="555175"/>
          </a:xfrm>
          <a:prstGeom prst="line">
            <a:avLst/>
          </a:prstGeom>
          <a:ln w="13970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lipse_029">
            <a:extLst>
              <a:ext uri="{FF2B5EF4-FFF2-40B4-BE49-F238E27FC236}">
                <a16:creationId xmlns:a16="http://schemas.microsoft.com/office/drawing/2014/main" id="{47EDF720-747B-BA76-F553-0BFF7B3CB605}"/>
              </a:ext>
            </a:extLst>
          </p:cNvPr>
          <p:cNvSpPr/>
          <p:nvPr/>
        </p:nvSpPr>
        <p:spPr>
          <a:xfrm>
            <a:off x="1455198" y="4483955"/>
            <a:ext cx="101600" cy="1016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4A66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text_030">
            <a:extLst>
              <a:ext uri="{FF2B5EF4-FFF2-40B4-BE49-F238E27FC236}">
                <a16:creationId xmlns:a16="http://schemas.microsoft.com/office/drawing/2014/main" id="{A9EAF097-18EF-1404-37AF-E9155D28CA9D}"/>
              </a:ext>
            </a:extLst>
          </p:cNvPr>
          <p:cNvSpPr txBox="1"/>
          <p:nvPr/>
        </p:nvSpPr>
        <p:spPr>
          <a:xfrm>
            <a:off x="1061498" y="4179155"/>
            <a:ext cx="889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0.432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32" name="line_031">
            <a:extLst>
              <a:ext uri="{FF2B5EF4-FFF2-40B4-BE49-F238E27FC236}">
                <a16:creationId xmlns:a16="http://schemas.microsoft.com/office/drawing/2014/main" id="{47A4071F-DDB3-6072-722A-4C561C7BBCB3}"/>
              </a:ext>
            </a:extLst>
          </p:cNvPr>
          <p:cNvCxnSpPr/>
          <p:nvPr/>
        </p:nvCxnSpPr>
        <p:spPr>
          <a:xfrm>
            <a:off x="1505998" y="6235700"/>
            <a:ext cx="0" cy="5080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_032">
            <a:extLst>
              <a:ext uri="{FF2B5EF4-FFF2-40B4-BE49-F238E27FC236}">
                <a16:creationId xmlns:a16="http://schemas.microsoft.com/office/drawing/2014/main" id="{0351F9D4-5983-42A8-FEF9-6E57ABCED05B}"/>
              </a:ext>
            </a:extLst>
          </p:cNvPr>
          <p:cNvSpPr txBox="1"/>
          <p:nvPr/>
        </p:nvSpPr>
        <p:spPr>
          <a:xfrm>
            <a:off x="1036098" y="6426200"/>
            <a:ext cx="939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50">
                <a:solidFill>
                  <a:srgbClr val="202020"/>
                </a:solidFill>
                <a:latin typeface="Arial" panose="020B0604020202020204" pitchFamily="34" charset="0"/>
              </a:rPr>
              <a:t>93</a:t>
            </a:r>
            <a:endParaRPr lang="zh-CN" altLang="en-US" sz="11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34" name="ellipse_033">
            <a:extLst>
              <a:ext uri="{FF2B5EF4-FFF2-40B4-BE49-F238E27FC236}">
                <a16:creationId xmlns:a16="http://schemas.microsoft.com/office/drawing/2014/main" id="{DA35454C-7FCD-7E39-4ED5-7A6CA7389D3F}"/>
              </a:ext>
            </a:extLst>
          </p:cNvPr>
          <p:cNvSpPr/>
          <p:nvPr/>
        </p:nvSpPr>
        <p:spPr>
          <a:xfrm>
            <a:off x="2907231" y="4208990"/>
            <a:ext cx="101600" cy="101600"/>
          </a:xfrm>
          <a:prstGeom prst="ellipse">
            <a:avLst/>
          </a:prstGeom>
          <a:solidFill>
            <a:srgbClr val="377D78"/>
          </a:solidFill>
          <a:ln w="10160">
            <a:solidFill>
              <a:srgbClr val="377D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_034">
            <a:extLst>
              <a:ext uri="{FF2B5EF4-FFF2-40B4-BE49-F238E27FC236}">
                <a16:creationId xmlns:a16="http://schemas.microsoft.com/office/drawing/2014/main" id="{7DDBD528-A112-6A83-C8D9-5507B2844B34}"/>
              </a:ext>
            </a:extLst>
          </p:cNvPr>
          <p:cNvSpPr txBox="1"/>
          <p:nvPr/>
        </p:nvSpPr>
        <p:spPr>
          <a:xfrm>
            <a:off x="2513531" y="3904190"/>
            <a:ext cx="889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0.502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36" name="line_035">
            <a:extLst>
              <a:ext uri="{FF2B5EF4-FFF2-40B4-BE49-F238E27FC236}">
                <a16:creationId xmlns:a16="http://schemas.microsoft.com/office/drawing/2014/main" id="{39E3EEEF-B725-8375-C492-E528EA901444}"/>
              </a:ext>
            </a:extLst>
          </p:cNvPr>
          <p:cNvCxnSpPr/>
          <p:nvPr/>
        </p:nvCxnSpPr>
        <p:spPr>
          <a:xfrm>
            <a:off x="2958031" y="6235700"/>
            <a:ext cx="0" cy="5080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_036">
            <a:extLst>
              <a:ext uri="{FF2B5EF4-FFF2-40B4-BE49-F238E27FC236}">
                <a16:creationId xmlns:a16="http://schemas.microsoft.com/office/drawing/2014/main" id="{BE3DB648-8A21-4C2C-1BEB-1AE50C127D09}"/>
              </a:ext>
            </a:extLst>
          </p:cNvPr>
          <p:cNvSpPr txBox="1"/>
          <p:nvPr/>
        </p:nvSpPr>
        <p:spPr>
          <a:xfrm>
            <a:off x="2488131" y="6426200"/>
            <a:ext cx="939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50">
                <a:solidFill>
                  <a:srgbClr val="202020"/>
                </a:solidFill>
                <a:latin typeface="Arial" panose="020B0604020202020204" pitchFamily="34" charset="0"/>
              </a:rPr>
              <a:t>493</a:t>
            </a:r>
            <a:endParaRPr lang="zh-CN" altLang="en-US" sz="11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38" name="ellipse_037">
            <a:extLst>
              <a:ext uri="{FF2B5EF4-FFF2-40B4-BE49-F238E27FC236}">
                <a16:creationId xmlns:a16="http://schemas.microsoft.com/office/drawing/2014/main" id="{61129DF7-E255-C811-85AA-13669B2B1326}"/>
              </a:ext>
            </a:extLst>
          </p:cNvPr>
          <p:cNvSpPr/>
          <p:nvPr/>
        </p:nvSpPr>
        <p:spPr>
          <a:xfrm>
            <a:off x="5056241" y="3653815"/>
            <a:ext cx="101600" cy="101600"/>
          </a:xfrm>
          <a:prstGeom prst="ellipse">
            <a:avLst/>
          </a:prstGeom>
          <a:solidFill>
            <a:srgbClr val="377D78"/>
          </a:solidFill>
          <a:ln w="10160">
            <a:solidFill>
              <a:srgbClr val="377D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_038">
            <a:extLst>
              <a:ext uri="{FF2B5EF4-FFF2-40B4-BE49-F238E27FC236}">
                <a16:creationId xmlns:a16="http://schemas.microsoft.com/office/drawing/2014/main" id="{1670A3B3-2261-CA62-EF73-1C16D4282A22}"/>
              </a:ext>
            </a:extLst>
          </p:cNvPr>
          <p:cNvSpPr txBox="1"/>
          <p:nvPr/>
        </p:nvSpPr>
        <p:spPr>
          <a:xfrm>
            <a:off x="4662541" y="3349015"/>
            <a:ext cx="889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0.643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40" name="line_039">
            <a:extLst>
              <a:ext uri="{FF2B5EF4-FFF2-40B4-BE49-F238E27FC236}">
                <a16:creationId xmlns:a16="http://schemas.microsoft.com/office/drawing/2014/main" id="{A37AB30E-8875-0585-0DFA-E4FC5EDDF09A}"/>
              </a:ext>
            </a:extLst>
          </p:cNvPr>
          <p:cNvCxnSpPr/>
          <p:nvPr/>
        </p:nvCxnSpPr>
        <p:spPr>
          <a:xfrm>
            <a:off x="5107041" y="6235700"/>
            <a:ext cx="0" cy="5080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_040">
            <a:extLst>
              <a:ext uri="{FF2B5EF4-FFF2-40B4-BE49-F238E27FC236}">
                <a16:creationId xmlns:a16="http://schemas.microsoft.com/office/drawing/2014/main" id="{8A13CA98-13FC-C325-C07B-2040E47FF084}"/>
              </a:ext>
            </a:extLst>
          </p:cNvPr>
          <p:cNvSpPr txBox="1"/>
          <p:nvPr/>
        </p:nvSpPr>
        <p:spPr>
          <a:xfrm>
            <a:off x="4637141" y="6426200"/>
            <a:ext cx="939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50">
                <a:solidFill>
                  <a:srgbClr val="202020"/>
                </a:solidFill>
                <a:latin typeface="Arial" panose="020B0604020202020204" pitchFamily="34" charset="0"/>
              </a:rPr>
              <a:t>1,085</a:t>
            </a:r>
            <a:endParaRPr lang="zh-CN" altLang="en-US" sz="11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42" name="text_041">
            <a:extLst>
              <a:ext uri="{FF2B5EF4-FFF2-40B4-BE49-F238E27FC236}">
                <a16:creationId xmlns:a16="http://schemas.microsoft.com/office/drawing/2014/main" id="{157A9AF8-0BCC-BC48-74A1-A233FEF3EB1C}"/>
              </a:ext>
            </a:extLst>
          </p:cNvPr>
          <p:cNvSpPr txBox="1"/>
          <p:nvPr/>
        </p:nvSpPr>
        <p:spPr>
          <a:xfrm>
            <a:off x="1739900" y="6756399"/>
            <a:ext cx="3276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Number of training images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43" name="text_042">
            <a:extLst>
              <a:ext uri="{FF2B5EF4-FFF2-40B4-BE49-F238E27FC236}">
                <a16:creationId xmlns:a16="http://schemas.microsoft.com/office/drawing/2014/main" id="{F4DF576B-1C09-B1A7-775E-C60B472DD11E}"/>
              </a:ext>
            </a:extLst>
          </p:cNvPr>
          <p:cNvSpPr txBox="1"/>
          <p:nvPr/>
        </p:nvSpPr>
        <p:spPr>
          <a:xfrm>
            <a:off x="368300" y="7188199"/>
            <a:ext cx="54229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l-GR" altLang="zh-CN" sz="1300">
                <a:solidFill>
                  <a:srgbClr val="202020"/>
                </a:solidFill>
                <a:latin typeface="Arial" panose="020B0604020202020204" pitchFamily="34" charset="0"/>
              </a:rPr>
              <a:t>493 → 1,085: Δ = +0.141</a:t>
            </a:r>
            <a:endParaRPr lang="zh-CN" altLang="en-US" sz="13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44" name="text_043">
            <a:extLst>
              <a:ext uri="{FF2B5EF4-FFF2-40B4-BE49-F238E27FC236}">
                <a16:creationId xmlns:a16="http://schemas.microsoft.com/office/drawing/2014/main" id="{779C99A1-445D-4789-CEA5-0F401B72A0DA}"/>
              </a:ext>
            </a:extLst>
          </p:cNvPr>
          <p:cNvSpPr txBox="1"/>
          <p:nvPr/>
        </p:nvSpPr>
        <p:spPr>
          <a:xfrm>
            <a:off x="368300" y="7505699"/>
            <a:ext cx="54229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>
                <a:solidFill>
                  <a:srgbClr val="626262"/>
                </a:solidFill>
                <a:latin typeface="Arial" panose="020B0604020202020204" pitchFamily="34" charset="0"/>
              </a:rPr>
              <a:t>Paired 95% CI [+0.060, +0.249]</a:t>
            </a:r>
            <a:endParaRPr lang="zh-CN" altLang="en-US" sz="110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45" name="text_044">
            <a:extLst>
              <a:ext uri="{FF2B5EF4-FFF2-40B4-BE49-F238E27FC236}">
                <a16:creationId xmlns:a16="http://schemas.microsoft.com/office/drawing/2014/main" id="{A96D7179-3B59-8790-EB7F-BDAC890C2848}"/>
              </a:ext>
            </a:extLst>
          </p:cNvPr>
          <p:cNvSpPr txBox="1"/>
          <p:nvPr/>
        </p:nvSpPr>
        <p:spPr>
          <a:xfrm>
            <a:off x="6375400" y="952499"/>
            <a:ext cx="5334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00">
                <a:solidFill>
                  <a:srgbClr val="202020"/>
                </a:solidFill>
                <a:latin typeface="Times New Roman" panose="02020603050405020304" pitchFamily="18" charset="0"/>
              </a:rPr>
              <a:t>(b)  mAP50</a:t>
            </a:r>
            <a:endParaRPr lang="zh-CN" altLang="en-US" sz="1700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6" name="line_045">
            <a:extLst>
              <a:ext uri="{FF2B5EF4-FFF2-40B4-BE49-F238E27FC236}">
                <a16:creationId xmlns:a16="http://schemas.microsoft.com/office/drawing/2014/main" id="{08990E98-766B-7241-0B5D-0FA9D8C00C51}"/>
              </a:ext>
            </a:extLst>
          </p:cNvPr>
          <p:cNvCxnSpPr/>
          <p:nvPr/>
        </p:nvCxnSpPr>
        <p:spPr>
          <a:xfrm>
            <a:off x="7175500" y="2298700"/>
            <a:ext cx="0" cy="3937000"/>
          </a:xfrm>
          <a:prstGeom prst="line">
            <a:avLst/>
          </a:prstGeom>
          <a:ln w="825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line_046">
            <a:extLst>
              <a:ext uri="{FF2B5EF4-FFF2-40B4-BE49-F238E27FC236}">
                <a16:creationId xmlns:a16="http://schemas.microsoft.com/office/drawing/2014/main" id="{F320AC85-9FB9-597C-546C-B47F2376FB72}"/>
              </a:ext>
            </a:extLst>
          </p:cNvPr>
          <p:cNvCxnSpPr/>
          <p:nvPr/>
        </p:nvCxnSpPr>
        <p:spPr>
          <a:xfrm>
            <a:off x="7175500" y="6235700"/>
            <a:ext cx="4356100" cy="0"/>
          </a:xfrm>
          <a:prstGeom prst="line">
            <a:avLst/>
          </a:prstGeom>
          <a:ln w="825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line_047">
            <a:extLst>
              <a:ext uri="{FF2B5EF4-FFF2-40B4-BE49-F238E27FC236}">
                <a16:creationId xmlns:a16="http://schemas.microsoft.com/office/drawing/2014/main" id="{ED179587-7148-EF93-0E94-8B5F95DFA3CF}"/>
              </a:ext>
            </a:extLst>
          </p:cNvPr>
          <p:cNvCxnSpPr/>
          <p:nvPr/>
        </p:nvCxnSpPr>
        <p:spPr>
          <a:xfrm>
            <a:off x="7124700" y="623570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_048">
            <a:extLst>
              <a:ext uri="{FF2B5EF4-FFF2-40B4-BE49-F238E27FC236}">
                <a16:creationId xmlns:a16="http://schemas.microsoft.com/office/drawing/2014/main" id="{217E4717-5F1F-5189-6164-5B26A8AF94FD}"/>
              </a:ext>
            </a:extLst>
          </p:cNvPr>
          <p:cNvSpPr txBox="1"/>
          <p:nvPr/>
        </p:nvSpPr>
        <p:spPr>
          <a:xfrm>
            <a:off x="6553200" y="6121400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50" name="line_049">
            <a:extLst>
              <a:ext uri="{FF2B5EF4-FFF2-40B4-BE49-F238E27FC236}">
                <a16:creationId xmlns:a16="http://schemas.microsoft.com/office/drawing/2014/main" id="{B46F14FB-9A62-1ECB-E74E-4CB073B5FA89}"/>
              </a:ext>
            </a:extLst>
          </p:cNvPr>
          <p:cNvCxnSpPr/>
          <p:nvPr/>
        </p:nvCxnSpPr>
        <p:spPr>
          <a:xfrm>
            <a:off x="7124700" y="544830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_050">
            <a:extLst>
              <a:ext uri="{FF2B5EF4-FFF2-40B4-BE49-F238E27FC236}">
                <a16:creationId xmlns:a16="http://schemas.microsoft.com/office/drawing/2014/main" id="{FFB261F4-6A11-9434-47A3-68205662B0EA}"/>
              </a:ext>
            </a:extLst>
          </p:cNvPr>
          <p:cNvSpPr txBox="1"/>
          <p:nvPr/>
        </p:nvSpPr>
        <p:spPr>
          <a:xfrm>
            <a:off x="6553200" y="5334000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0.2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52" name="line_051">
            <a:extLst>
              <a:ext uri="{FF2B5EF4-FFF2-40B4-BE49-F238E27FC236}">
                <a16:creationId xmlns:a16="http://schemas.microsoft.com/office/drawing/2014/main" id="{C0A5C595-D706-6623-243F-5A0C7B0D68F8}"/>
              </a:ext>
            </a:extLst>
          </p:cNvPr>
          <p:cNvCxnSpPr/>
          <p:nvPr/>
        </p:nvCxnSpPr>
        <p:spPr>
          <a:xfrm>
            <a:off x="7175500" y="5448300"/>
            <a:ext cx="43561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line_052">
            <a:extLst>
              <a:ext uri="{FF2B5EF4-FFF2-40B4-BE49-F238E27FC236}">
                <a16:creationId xmlns:a16="http://schemas.microsoft.com/office/drawing/2014/main" id="{8661289C-CFF8-2205-60F1-9AF06E5528E1}"/>
              </a:ext>
            </a:extLst>
          </p:cNvPr>
          <p:cNvCxnSpPr/>
          <p:nvPr/>
        </p:nvCxnSpPr>
        <p:spPr>
          <a:xfrm>
            <a:off x="7124700" y="466090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_053">
            <a:extLst>
              <a:ext uri="{FF2B5EF4-FFF2-40B4-BE49-F238E27FC236}">
                <a16:creationId xmlns:a16="http://schemas.microsoft.com/office/drawing/2014/main" id="{07B1964D-F0F2-46BD-35DB-3E59D01F86DE}"/>
              </a:ext>
            </a:extLst>
          </p:cNvPr>
          <p:cNvSpPr txBox="1"/>
          <p:nvPr/>
        </p:nvSpPr>
        <p:spPr>
          <a:xfrm>
            <a:off x="6553200" y="4546600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0.4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55" name="line_054">
            <a:extLst>
              <a:ext uri="{FF2B5EF4-FFF2-40B4-BE49-F238E27FC236}">
                <a16:creationId xmlns:a16="http://schemas.microsoft.com/office/drawing/2014/main" id="{3210DF09-0F21-3DBA-58BE-54EF7FA88B2A}"/>
              </a:ext>
            </a:extLst>
          </p:cNvPr>
          <p:cNvCxnSpPr/>
          <p:nvPr/>
        </p:nvCxnSpPr>
        <p:spPr>
          <a:xfrm>
            <a:off x="7175500" y="4660900"/>
            <a:ext cx="43561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ine_055">
            <a:extLst>
              <a:ext uri="{FF2B5EF4-FFF2-40B4-BE49-F238E27FC236}">
                <a16:creationId xmlns:a16="http://schemas.microsoft.com/office/drawing/2014/main" id="{A9610B25-FAB0-FF87-D089-F2FC40A809F0}"/>
              </a:ext>
            </a:extLst>
          </p:cNvPr>
          <p:cNvCxnSpPr/>
          <p:nvPr/>
        </p:nvCxnSpPr>
        <p:spPr>
          <a:xfrm>
            <a:off x="7124700" y="387350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_056">
            <a:extLst>
              <a:ext uri="{FF2B5EF4-FFF2-40B4-BE49-F238E27FC236}">
                <a16:creationId xmlns:a16="http://schemas.microsoft.com/office/drawing/2014/main" id="{C6024A7F-2678-8A7B-3FD1-4FC16EF4B5EB}"/>
              </a:ext>
            </a:extLst>
          </p:cNvPr>
          <p:cNvSpPr txBox="1"/>
          <p:nvPr/>
        </p:nvSpPr>
        <p:spPr>
          <a:xfrm>
            <a:off x="6553200" y="3759200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0.6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58" name="line_057">
            <a:extLst>
              <a:ext uri="{FF2B5EF4-FFF2-40B4-BE49-F238E27FC236}">
                <a16:creationId xmlns:a16="http://schemas.microsoft.com/office/drawing/2014/main" id="{B26A8C6C-7503-125A-5291-473D30438757}"/>
              </a:ext>
            </a:extLst>
          </p:cNvPr>
          <p:cNvCxnSpPr/>
          <p:nvPr/>
        </p:nvCxnSpPr>
        <p:spPr>
          <a:xfrm>
            <a:off x="7175500" y="3873500"/>
            <a:ext cx="43561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line_058">
            <a:extLst>
              <a:ext uri="{FF2B5EF4-FFF2-40B4-BE49-F238E27FC236}">
                <a16:creationId xmlns:a16="http://schemas.microsoft.com/office/drawing/2014/main" id="{B17BB9BC-881B-DB73-887A-4408929F1FC0}"/>
              </a:ext>
            </a:extLst>
          </p:cNvPr>
          <p:cNvCxnSpPr/>
          <p:nvPr/>
        </p:nvCxnSpPr>
        <p:spPr>
          <a:xfrm>
            <a:off x="7124700" y="308610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_059">
            <a:extLst>
              <a:ext uri="{FF2B5EF4-FFF2-40B4-BE49-F238E27FC236}">
                <a16:creationId xmlns:a16="http://schemas.microsoft.com/office/drawing/2014/main" id="{6EE7F72D-23EF-59AB-BA3A-B0CC36E5A453}"/>
              </a:ext>
            </a:extLst>
          </p:cNvPr>
          <p:cNvSpPr txBox="1"/>
          <p:nvPr/>
        </p:nvSpPr>
        <p:spPr>
          <a:xfrm>
            <a:off x="6553200" y="2971800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0.8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61" name="line_060">
            <a:extLst>
              <a:ext uri="{FF2B5EF4-FFF2-40B4-BE49-F238E27FC236}">
                <a16:creationId xmlns:a16="http://schemas.microsoft.com/office/drawing/2014/main" id="{EF075CAB-B845-3375-8234-107CB46A3270}"/>
              </a:ext>
            </a:extLst>
          </p:cNvPr>
          <p:cNvCxnSpPr/>
          <p:nvPr/>
        </p:nvCxnSpPr>
        <p:spPr>
          <a:xfrm>
            <a:off x="7175500" y="3086100"/>
            <a:ext cx="43561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line_061">
            <a:extLst>
              <a:ext uri="{FF2B5EF4-FFF2-40B4-BE49-F238E27FC236}">
                <a16:creationId xmlns:a16="http://schemas.microsoft.com/office/drawing/2014/main" id="{FC03B170-6CD2-8F47-2A02-F46B2CF99B41}"/>
              </a:ext>
            </a:extLst>
          </p:cNvPr>
          <p:cNvCxnSpPr/>
          <p:nvPr/>
        </p:nvCxnSpPr>
        <p:spPr>
          <a:xfrm>
            <a:off x="7124700" y="229870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_062">
            <a:extLst>
              <a:ext uri="{FF2B5EF4-FFF2-40B4-BE49-F238E27FC236}">
                <a16:creationId xmlns:a16="http://schemas.microsoft.com/office/drawing/2014/main" id="{8CF11378-A2EC-8B54-FD76-364A28C06FA4}"/>
              </a:ext>
            </a:extLst>
          </p:cNvPr>
          <p:cNvSpPr txBox="1"/>
          <p:nvPr/>
        </p:nvSpPr>
        <p:spPr>
          <a:xfrm>
            <a:off x="6553200" y="2184400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1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64" name="line_063">
            <a:extLst>
              <a:ext uri="{FF2B5EF4-FFF2-40B4-BE49-F238E27FC236}">
                <a16:creationId xmlns:a16="http://schemas.microsoft.com/office/drawing/2014/main" id="{9FC65D83-D2FC-4FEB-0D0F-EBBDC9238861}"/>
              </a:ext>
            </a:extLst>
          </p:cNvPr>
          <p:cNvCxnSpPr/>
          <p:nvPr/>
        </p:nvCxnSpPr>
        <p:spPr>
          <a:xfrm>
            <a:off x="7175500" y="2298700"/>
            <a:ext cx="43561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_064">
            <a:extLst>
              <a:ext uri="{FF2B5EF4-FFF2-40B4-BE49-F238E27FC236}">
                <a16:creationId xmlns:a16="http://schemas.microsoft.com/office/drawing/2014/main" id="{AA139AA7-2639-078A-973E-00F22885974A}"/>
              </a:ext>
            </a:extLst>
          </p:cNvPr>
          <p:cNvSpPr txBox="1"/>
          <p:nvPr/>
        </p:nvSpPr>
        <p:spPr>
          <a:xfrm>
            <a:off x="6286500" y="3187699"/>
            <a:ext cx="292100" cy="2159000"/>
          </a:xfrm>
          <a:prstGeom prst="rect">
            <a:avLst/>
          </a:prstGeom>
          <a:noFill/>
        </p:spPr>
        <p:txBody>
          <a:bodyPr vert="vert" wrap="square" lIns="0" tIns="0" rIns="0" bIns="0" rtlCol="0" anchor="ctr">
            <a:noAutofit/>
          </a:bodyPr>
          <a:lstStyle/>
          <a:p>
            <a:pPr algn="ctr"/>
            <a:r>
              <a:rPr lang="en-US" altLang="zh-CN" sz="1100">
                <a:solidFill>
                  <a:srgbClr val="202020"/>
                </a:solidFill>
                <a:latin typeface="Arial" panose="020B0604020202020204" pitchFamily="34" charset="0"/>
              </a:rPr>
              <a:t>Pooled OOF AP</a:t>
            </a:r>
            <a:endParaRPr lang="zh-CN" altLang="en-US" sz="11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66" name="line_065">
            <a:extLst>
              <a:ext uri="{FF2B5EF4-FFF2-40B4-BE49-F238E27FC236}">
                <a16:creationId xmlns:a16="http://schemas.microsoft.com/office/drawing/2014/main" id="{2426723F-39D4-2DA8-4829-A0A44778BD58}"/>
              </a:ext>
            </a:extLst>
          </p:cNvPr>
          <p:cNvCxnSpPr/>
          <p:nvPr/>
        </p:nvCxnSpPr>
        <p:spPr>
          <a:xfrm flipV="1">
            <a:off x="8965131" y="2940537"/>
            <a:ext cx="2149009" cy="394653"/>
          </a:xfrm>
          <a:prstGeom prst="line">
            <a:avLst/>
          </a:prstGeom>
          <a:ln w="13970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ellipse_066">
            <a:extLst>
              <a:ext uri="{FF2B5EF4-FFF2-40B4-BE49-F238E27FC236}">
                <a16:creationId xmlns:a16="http://schemas.microsoft.com/office/drawing/2014/main" id="{61BABA32-4517-74D7-C37E-4198A84AFBCC}"/>
              </a:ext>
            </a:extLst>
          </p:cNvPr>
          <p:cNvSpPr/>
          <p:nvPr/>
        </p:nvSpPr>
        <p:spPr>
          <a:xfrm>
            <a:off x="7462298" y="3532331"/>
            <a:ext cx="101600" cy="1016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4A66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text_067">
            <a:extLst>
              <a:ext uri="{FF2B5EF4-FFF2-40B4-BE49-F238E27FC236}">
                <a16:creationId xmlns:a16="http://schemas.microsoft.com/office/drawing/2014/main" id="{A6DB27DC-AF76-BC80-4AF4-6A5F8879F1F7}"/>
              </a:ext>
            </a:extLst>
          </p:cNvPr>
          <p:cNvSpPr txBox="1"/>
          <p:nvPr/>
        </p:nvSpPr>
        <p:spPr>
          <a:xfrm>
            <a:off x="7068598" y="3227531"/>
            <a:ext cx="889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0.674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69" name="line_068">
            <a:extLst>
              <a:ext uri="{FF2B5EF4-FFF2-40B4-BE49-F238E27FC236}">
                <a16:creationId xmlns:a16="http://schemas.microsoft.com/office/drawing/2014/main" id="{2CE5874A-86E7-B18E-D00C-E76CEDAA1F25}"/>
              </a:ext>
            </a:extLst>
          </p:cNvPr>
          <p:cNvCxnSpPr/>
          <p:nvPr/>
        </p:nvCxnSpPr>
        <p:spPr>
          <a:xfrm>
            <a:off x="7513098" y="6235700"/>
            <a:ext cx="0" cy="5080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_069">
            <a:extLst>
              <a:ext uri="{FF2B5EF4-FFF2-40B4-BE49-F238E27FC236}">
                <a16:creationId xmlns:a16="http://schemas.microsoft.com/office/drawing/2014/main" id="{0EA78983-7C24-8F23-EAAD-E75F497834F7}"/>
              </a:ext>
            </a:extLst>
          </p:cNvPr>
          <p:cNvSpPr txBox="1"/>
          <p:nvPr/>
        </p:nvSpPr>
        <p:spPr>
          <a:xfrm>
            <a:off x="7043198" y="6426200"/>
            <a:ext cx="939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50">
                <a:solidFill>
                  <a:srgbClr val="202020"/>
                </a:solidFill>
                <a:latin typeface="Arial" panose="020B0604020202020204" pitchFamily="34" charset="0"/>
              </a:rPr>
              <a:t>93</a:t>
            </a:r>
            <a:endParaRPr lang="zh-CN" altLang="en-US" sz="11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71" name="ellipse_070">
            <a:extLst>
              <a:ext uri="{FF2B5EF4-FFF2-40B4-BE49-F238E27FC236}">
                <a16:creationId xmlns:a16="http://schemas.microsoft.com/office/drawing/2014/main" id="{AD26941E-92FE-674D-C8FA-1B321759FCFA}"/>
              </a:ext>
            </a:extLst>
          </p:cNvPr>
          <p:cNvSpPr/>
          <p:nvPr/>
        </p:nvSpPr>
        <p:spPr>
          <a:xfrm>
            <a:off x="8914331" y="3284390"/>
            <a:ext cx="101600" cy="101600"/>
          </a:xfrm>
          <a:prstGeom prst="ellipse">
            <a:avLst/>
          </a:prstGeom>
          <a:solidFill>
            <a:srgbClr val="377D78"/>
          </a:solidFill>
          <a:ln w="10160">
            <a:solidFill>
              <a:srgbClr val="377D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text_071">
            <a:extLst>
              <a:ext uri="{FF2B5EF4-FFF2-40B4-BE49-F238E27FC236}">
                <a16:creationId xmlns:a16="http://schemas.microsoft.com/office/drawing/2014/main" id="{352C83C3-F139-6380-7208-61B161B31746}"/>
              </a:ext>
            </a:extLst>
          </p:cNvPr>
          <p:cNvSpPr txBox="1"/>
          <p:nvPr/>
        </p:nvSpPr>
        <p:spPr>
          <a:xfrm>
            <a:off x="8520631" y="2979590"/>
            <a:ext cx="889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0.737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73" name="line_072">
            <a:extLst>
              <a:ext uri="{FF2B5EF4-FFF2-40B4-BE49-F238E27FC236}">
                <a16:creationId xmlns:a16="http://schemas.microsoft.com/office/drawing/2014/main" id="{87E16807-5763-BC80-CF44-018CE881B2F4}"/>
              </a:ext>
            </a:extLst>
          </p:cNvPr>
          <p:cNvCxnSpPr/>
          <p:nvPr/>
        </p:nvCxnSpPr>
        <p:spPr>
          <a:xfrm>
            <a:off x="8965131" y="6235700"/>
            <a:ext cx="0" cy="5080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_073">
            <a:extLst>
              <a:ext uri="{FF2B5EF4-FFF2-40B4-BE49-F238E27FC236}">
                <a16:creationId xmlns:a16="http://schemas.microsoft.com/office/drawing/2014/main" id="{D2E94CD9-7255-24B6-1776-0D6AD4A93325}"/>
              </a:ext>
            </a:extLst>
          </p:cNvPr>
          <p:cNvSpPr txBox="1"/>
          <p:nvPr/>
        </p:nvSpPr>
        <p:spPr>
          <a:xfrm>
            <a:off x="8495231" y="6426200"/>
            <a:ext cx="939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50">
                <a:solidFill>
                  <a:srgbClr val="202020"/>
                </a:solidFill>
                <a:latin typeface="Arial" panose="020B0604020202020204" pitchFamily="34" charset="0"/>
              </a:rPr>
              <a:t>493</a:t>
            </a:r>
            <a:endParaRPr lang="zh-CN" altLang="en-US" sz="11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75" name="ellipse_074">
            <a:extLst>
              <a:ext uri="{FF2B5EF4-FFF2-40B4-BE49-F238E27FC236}">
                <a16:creationId xmlns:a16="http://schemas.microsoft.com/office/drawing/2014/main" id="{9A74AB95-D259-6129-71EA-4DA6BF02FE88}"/>
              </a:ext>
            </a:extLst>
          </p:cNvPr>
          <p:cNvSpPr/>
          <p:nvPr/>
        </p:nvSpPr>
        <p:spPr>
          <a:xfrm>
            <a:off x="11063340" y="2889737"/>
            <a:ext cx="101600" cy="101600"/>
          </a:xfrm>
          <a:prstGeom prst="ellipse">
            <a:avLst/>
          </a:prstGeom>
          <a:solidFill>
            <a:srgbClr val="377D78"/>
          </a:solidFill>
          <a:ln w="10160">
            <a:solidFill>
              <a:srgbClr val="377D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text_075">
            <a:extLst>
              <a:ext uri="{FF2B5EF4-FFF2-40B4-BE49-F238E27FC236}">
                <a16:creationId xmlns:a16="http://schemas.microsoft.com/office/drawing/2014/main" id="{DBDC59DE-C1E1-F010-71D2-83AD09F06821}"/>
              </a:ext>
            </a:extLst>
          </p:cNvPr>
          <p:cNvSpPr txBox="1"/>
          <p:nvPr/>
        </p:nvSpPr>
        <p:spPr>
          <a:xfrm>
            <a:off x="10669640" y="2584937"/>
            <a:ext cx="889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0.837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77" name="line_076">
            <a:extLst>
              <a:ext uri="{FF2B5EF4-FFF2-40B4-BE49-F238E27FC236}">
                <a16:creationId xmlns:a16="http://schemas.microsoft.com/office/drawing/2014/main" id="{21B12DE4-4A77-E92C-3B6E-9FBED169FD18}"/>
              </a:ext>
            </a:extLst>
          </p:cNvPr>
          <p:cNvCxnSpPr/>
          <p:nvPr/>
        </p:nvCxnSpPr>
        <p:spPr>
          <a:xfrm>
            <a:off x="11114140" y="6235700"/>
            <a:ext cx="0" cy="5080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_077">
            <a:extLst>
              <a:ext uri="{FF2B5EF4-FFF2-40B4-BE49-F238E27FC236}">
                <a16:creationId xmlns:a16="http://schemas.microsoft.com/office/drawing/2014/main" id="{3F993BE0-4A32-8809-1551-90E8FF2F0AD9}"/>
              </a:ext>
            </a:extLst>
          </p:cNvPr>
          <p:cNvSpPr txBox="1"/>
          <p:nvPr/>
        </p:nvSpPr>
        <p:spPr>
          <a:xfrm>
            <a:off x="10644240" y="6426200"/>
            <a:ext cx="939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50">
                <a:solidFill>
                  <a:srgbClr val="202020"/>
                </a:solidFill>
                <a:latin typeface="Arial" panose="020B0604020202020204" pitchFamily="34" charset="0"/>
              </a:rPr>
              <a:t>1,085</a:t>
            </a:r>
            <a:endParaRPr lang="zh-CN" altLang="en-US" sz="11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79" name="text_078">
            <a:extLst>
              <a:ext uri="{FF2B5EF4-FFF2-40B4-BE49-F238E27FC236}">
                <a16:creationId xmlns:a16="http://schemas.microsoft.com/office/drawing/2014/main" id="{E3EEA855-7DD7-609E-419E-5A36C9046F4A}"/>
              </a:ext>
            </a:extLst>
          </p:cNvPr>
          <p:cNvSpPr txBox="1"/>
          <p:nvPr/>
        </p:nvSpPr>
        <p:spPr>
          <a:xfrm>
            <a:off x="7747000" y="6756399"/>
            <a:ext cx="3276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Number of training images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80" name="text_079">
            <a:extLst>
              <a:ext uri="{FF2B5EF4-FFF2-40B4-BE49-F238E27FC236}">
                <a16:creationId xmlns:a16="http://schemas.microsoft.com/office/drawing/2014/main" id="{8B120F48-A96B-C78D-7E72-54EA4405A36C}"/>
              </a:ext>
            </a:extLst>
          </p:cNvPr>
          <p:cNvSpPr txBox="1"/>
          <p:nvPr/>
        </p:nvSpPr>
        <p:spPr>
          <a:xfrm>
            <a:off x="6375400" y="7188199"/>
            <a:ext cx="54229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l-GR" altLang="zh-CN" sz="1300">
                <a:solidFill>
                  <a:srgbClr val="202020"/>
                </a:solidFill>
                <a:latin typeface="Arial" panose="020B0604020202020204" pitchFamily="34" charset="0"/>
              </a:rPr>
              <a:t>493 → 1,085: Δ = +0.100</a:t>
            </a:r>
            <a:endParaRPr lang="zh-CN" altLang="en-US" sz="13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81" name="text_080">
            <a:extLst>
              <a:ext uri="{FF2B5EF4-FFF2-40B4-BE49-F238E27FC236}">
                <a16:creationId xmlns:a16="http://schemas.microsoft.com/office/drawing/2014/main" id="{09A1A868-631A-7F88-9383-0DD35F0D3A95}"/>
              </a:ext>
            </a:extLst>
          </p:cNvPr>
          <p:cNvSpPr txBox="1"/>
          <p:nvPr/>
        </p:nvSpPr>
        <p:spPr>
          <a:xfrm>
            <a:off x="6375400" y="7505699"/>
            <a:ext cx="54229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>
                <a:solidFill>
                  <a:srgbClr val="626262"/>
                </a:solidFill>
                <a:latin typeface="Arial" panose="020B0604020202020204" pitchFamily="34" charset="0"/>
              </a:rPr>
              <a:t>Paired 95% CI [+0.012, +0.218]</a:t>
            </a:r>
            <a:endParaRPr lang="zh-CN" altLang="en-US" sz="110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82" name="text_081">
            <a:extLst>
              <a:ext uri="{FF2B5EF4-FFF2-40B4-BE49-F238E27FC236}">
                <a16:creationId xmlns:a16="http://schemas.microsoft.com/office/drawing/2014/main" id="{5928A9BC-06E1-B2FD-4E79-F598C2FA8394}"/>
              </a:ext>
            </a:extLst>
          </p:cNvPr>
          <p:cNvSpPr txBox="1"/>
          <p:nvPr/>
        </p:nvSpPr>
        <p:spPr>
          <a:xfrm>
            <a:off x="355600" y="7810499"/>
            <a:ext cx="11480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626262"/>
                </a:solidFill>
                <a:latin typeface="Arial" panose="020B0604020202020204" pitchFamily="34" charset="0"/>
              </a:rPr>
              <a:t>dev61 development analysis. The real93 point provides context; only the two edited-image points form the size comparison.</a:t>
            </a:r>
            <a:endParaRPr lang="zh-CN" altLang="en-US" sz="10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505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</Words>
  <Application>Microsoft Office PowerPoint</Application>
  <PresentationFormat>自定义</PresentationFormat>
  <Paragraphs>40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zhangyizhou@connect.hku.hk</dc:creator>
  <cp:lastModifiedBy>zhangyizhou@connect.hku.hk</cp:lastModifiedBy>
  <cp:revision>1</cp:revision>
  <dcterms:created xsi:type="dcterms:W3CDTF">2026-10-06T08:49:53Z</dcterms:created>
  <dcterms:modified xsi:type="dcterms:W3CDTF">2026-10-06T08:49:53Z</dcterms:modified>
</cp:coreProperties>
</file>