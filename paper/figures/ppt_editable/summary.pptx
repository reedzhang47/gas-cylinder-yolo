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8" r:id="rId2"/>
    <p:sldId id="265" r:id="rId3"/>
    <p:sldId id="266" r:id="rId4"/>
    <p:sldId id="26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E9C1A-EB0F-472F-90B5-DF30D04F4966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63894-9A3F-4D95-A96E-8B0962A920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576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Source: EXPERIMENTS.md, PROGRESS.md, docs/v5_prompts/full_generation_20261004.md. A=93; B/C=1085; D=1308 candidates generated, screening and reviewed annotations pending, target 1085. dev61 is development data, excluded from detector training. D is a later extension of the completed v4 A/B/C study.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0E965-4119-4820-92EF-AD09661FA8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161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Author workflow: reference in archive/drafts/fig1_pipeline.pptx. Exact models: qwen_image_edit_2509_fp8_e4m3fn.safetensors; qwen_2.5_vl_7b_fp8_scaled.safetensors; qwen_image_vae.safetensors; Qwen-Image-Edit-2509-Lightning-4steps-V1.0-bf16.safetensors. The standard/Lightning switch is available; the diagram does not assert all retained C images used four-step sampling. Source photographs and retained example are illustrative and unpaired. Exact per-image C sampling parameters and retained workflow provenance still need archival.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0E965-4119-4820-92EF-AD09661FA8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862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Sources: docs/v5_prompts/qwen21_lora_training_validation.md, full_generation_20261004.md, pilot_workflow_api.json. Actual compatible training: Qwen-Image-2.1 DiffSynth-Studio SFT DiT LoRA, rank16, LR1e-4, repeat5, epochs4, batch1, 1860 optimizer steps, max_pixels1048576, FlowMatchSFTLoss, AdamW / ConstantLR. 93 reviewed image-caption pairs; no held-out LoRA validation set. Earlier Liblib 2000-step/0.0004 LoRA is incompatible and is not the formal D weight. Inference: qwen_image_2.1_int8_convrot.safetensors, qwen3vl_8b_int8_convrot.safetensors, qwen_image_2.1_vae_bf16.safetensors, step-1860.safetensors at0.8, random seeds, 1184x896, Euler/simple25steps CFG1 denoise1 empty negative, batch1. 1308 candidates (558+750) completed 2026-10-04. Screening/labels pending, target465+620=1085. Displayed D pictures are unscreened candidates, not evidence of downstream benefit.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0E965-4119-4820-92EF-AD09661FA8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54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13528-6D9F-191C-34FF-E4C296A5C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D0D6C0-5B66-34BA-18D7-FB445C2DF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F28E8F-2DE7-30CE-CC27-D22450D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2E4EC-6B57-913C-59DD-E4585606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A9E32C-0212-6584-6B8C-E388B67B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34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A258F-2F5C-1A9F-40CD-3CF4A7F9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15EF04-3320-F8F0-BF24-EFBC5FF14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C94871-FA0F-F98B-077C-DE1882A89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A7195-2730-F3FE-B957-094E72BE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1F7D0C-C542-C828-A05B-7485966E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9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96C92-429F-7F80-8D7E-7395FA49A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AD14C9-2EFC-75A6-2472-CEC3991D9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66225A-E7E0-9D26-FF1D-EA1D78B8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B690A6-6495-B5C3-CA7A-E1BA592BD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F8116E-C5F5-5DE2-5BB8-DF89A17D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56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4C98F-0738-5BE7-1857-CFB25481D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25BDCD-E355-FF5A-BF7D-5296B8540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CDDDFB-8E7D-D41B-E7D6-51695CABA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56ED6A-623F-1C8E-0604-09AC0502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FE71C5-58B8-373A-DFAA-29A760BC3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B2DB8E-B6F8-F88D-EAB5-0D2351A1F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42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2717C-25B3-70D2-E980-C4692081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65833-1B9D-6A4B-34B6-A3E442B69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8C0170-6627-6C6E-A19E-8CA23D39C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1BA4FD-21C4-E5F9-07AD-16B6B31B0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09EDC55-083C-8E06-1462-4576F4D7C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18BF50-922A-CF92-E755-2E9C6E193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6FCB2A-CB97-B112-782F-374D5938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EB7D5A-1A7C-E527-CD54-35A42BB4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75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E8994-2198-0D29-A6AE-4499841E6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F8E04F-FC6B-3C32-BE3B-4E4857B9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41B716-7131-4DA6-01A3-A9BD28D2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48B33F-3C1F-25E9-0469-B5234D856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20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2B5AA9-27EA-B5C1-D63A-E4F8F487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E82741-B0B0-0B1F-0DD5-995153251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BFD282-3F6C-3ADB-FE4E-CD9101AC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825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62ACF-E60D-1E46-51BC-7EF679853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C1222-02D0-39A3-4222-96984CCFB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B40B41-0639-68BD-6E9C-9AD98B62E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1DC8AA-8DE5-74FA-CD85-8B879A5FE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2586A3-57AE-F111-86E1-7FC0218C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C818E0-C758-3264-FF98-0E664972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25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812E6-F2EC-B4F9-80BA-7D06EB5A9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2FD887-2474-7E1F-BA8A-59297415228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DF636F-42DA-F483-B94E-9F94B2DE8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99B206-988A-331A-FF9E-D5442AFB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363D72-E96F-4D08-6F67-0721ADB5D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C5CEAD-44B9-B54E-2D22-3065F0E9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12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A1C87-72C0-CBF5-0F8A-1FD9A440B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ABC3F1-A811-3B13-8B48-C492CCBB1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357F7C-D373-576F-544E-6F131236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7C73E5-6277-7FC5-F520-92EFD3AA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C7DAB3-91FC-3431-2004-279F5F50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330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C5469F-FBB0-F9EB-46DB-D89936054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8B58B8-0A85-CA56-FB02-61AFFEFD3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D0107-63C9-2379-B25E-C6B4F8C2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812AB1-91C8-E3EC-A0C4-9A7F60F9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380FA4-EF3E-68E7-576B-8493470B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87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8C46E3-E840-B3AF-2511-0701DD19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64DCF6-B147-4EC7-C62E-451DCFB20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263436-2B20-D94A-166A-4FA8173F9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4ED5C-B552-48D0-86C9-30F2BF5632C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3A5778-E02C-FDF6-94F8-5D730AFE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AA8549-8928-28F9-A477-CEA0B6B4A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9E9B2-E701-4419-A57C-05BA64D3B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6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ex_0">
            <a:extLst>
              <a:ext uri="{FF2B5EF4-FFF2-40B4-BE49-F238E27FC236}">
                <a16:creationId xmlns:a16="http://schemas.microsoft.com/office/drawing/2014/main" id="{F658FABB-7F5A-55C3-197C-ECF5123710A9}"/>
              </a:ext>
            </a:extLst>
          </p:cNvPr>
          <p:cNvSpPr txBox="1"/>
          <p:nvPr/>
        </p:nvSpPr>
        <p:spPr>
          <a:xfrm>
            <a:off x="1509713" y="471487"/>
            <a:ext cx="9108281" cy="407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110">
                <a:solidFill>
                  <a:srgbClr val="202020"/>
                </a:solidFill>
                <a:latin typeface="Times New Roman" panose="02020603050405020304" pitchFamily="18" charset="0"/>
              </a:rPr>
              <a:t>Figure index</a:t>
            </a:r>
            <a:endParaRPr lang="zh-CN" altLang="en-US" sz="211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index_2">
            <a:extLst>
              <a:ext uri="{FF2B5EF4-FFF2-40B4-BE49-F238E27FC236}">
                <a16:creationId xmlns:a16="http://schemas.microsoft.com/office/drawing/2014/main" id="{CEB24579-D8B5-84A4-2265-8945078C6499}"/>
              </a:ext>
            </a:extLst>
          </p:cNvPr>
          <p:cNvSpPr txBox="1"/>
          <p:nvPr/>
        </p:nvSpPr>
        <p:spPr>
          <a:xfrm>
            <a:off x="1509712" y="1489471"/>
            <a:ext cx="1071563" cy="25717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13" b="1">
                <a:solidFill>
                  <a:srgbClr val="202020"/>
                </a:solidFill>
                <a:latin typeface="Arial" panose="020B0604020202020204" pitchFamily="34" charset="0"/>
              </a:rPr>
              <a:t>Figure</a:t>
            </a:r>
            <a:endParaRPr lang="zh-CN" altLang="en-US" sz="1013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5" name="index_3">
            <a:extLst>
              <a:ext uri="{FF2B5EF4-FFF2-40B4-BE49-F238E27FC236}">
                <a16:creationId xmlns:a16="http://schemas.microsoft.com/office/drawing/2014/main" id="{F39A4681-016C-C9F8-43A6-5613ED21F5BB}"/>
              </a:ext>
            </a:extLst>
          </p:cNvPr>
          <p:cNvSpPr txBox="1"/>
          <p:nvPr/>
        </p:nvSpPr>
        <p:spPr>
          <a:xfrm>
            <a:off x="2677715" y="1489471"/>
            <a:ext cx="7072313" cy="25717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13" b="1">
                <a:solidFill>
                  <a:srgbClr val="202020"/>
                </a:solidFill>
                <a:latin typeface="Arial" panose="020B0604020202020204" pitchFamily="34" charset="0"/>
              </a:rPr>
              <a:t>Title</a:t>
            </a:r>
            <a:endParaRPr lang="zh-CN" altLang="en-US" sz="1013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6" name="index_4">
            <a:extLst>
              <a:ext uri="{FF2B5EF4-FFF2-40B4-BE49-F238E27FC236}">
                <a16:creationId xmlns:a16="http://schemas.microsoft.com/office/drawing/2014/main" id="{1AD33B22-96BA-83A1-108A-25BFA6EC0982}"/>
              </a:ext>
            </a:extLst>
          </p:cNvPr>
          <p:cNvSpPr txBox="1"/>
          <p:nvPr/>
        </p:nvSpPr>
        <p:spPr>
          <a:xfrm>
            <a:off x="10146506" y="1489471"/>
            <a:ext cx="696516" cy="25717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13" b="1">
                <a:solidFill>
                  <a:srgbClr val="202020"/>
                </a:solidFill>
                <a:latin typeface="Arial" panose="020B0604020202020204" pitchFamily="34" charset="0"/>
              </a:rPr>
              <a:t>Page</a:t>
            </a:r>
            <a:endParaRPr lang="zh-CN" altLang="en-US" sz="1013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index_rule">
            <a:extLst>
              <a:ext uri="{FF2B5EF4-FFF2-40B4-BE49-F238E27FC236}">
                <a16:creationId xmlns:a16="http://schemas.microsoft.com/office/drawing/2014/main" id="{40C9384A-18E4-EC30-F77C-63C95729728A}"/>
              </a:ext>
            </a:extLst>
          </p:cNvPr>
          <p:cNvCxnSpPr/>
          <p:nvPr/>
        </p:nvCxnSpPr>
        <p:spPr>
          <a:xfrm>
            <a:off x="1509713" y="1821656"/>
            <a:ext cx="9172575" cy="0"/>
          </a:xfrm>
          <a:prstGeom prst="line">
            <a:avLst/>
          </a:prstGeom>
          <a:ln w="762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ndex_6">
            <a:extLst>
              <a:ext uri="{FF2B5EF4-FFF2-40B4-BE49-F238E27FC236}">
                <a16:creationId xmlns:a16="http://schemas.microsoft.com/office/drawing/2014/main" id="{40BD8FC7-44BA-DBF8-88C3-6526F015709B}"/>
              </a:ext>
            </a:extLst>
          </p:cNvPr>
          <p:cNvSpPr txBox="1"/>
          <p:nvPr/>
        </p:nvSpPr>
        <p:spPr>
          <a:xfrm>
            <a:off x="1509712" y="1939527"/>
            <a:ext cx="1060847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1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9" name="index_7">
            <a:hlinkClick r:id="rId3" action="ppaction://hlinksldjump"/>
            <a:extLst>
              <a:ext uri="{FF2B5EF4-FFF2-40B4-BE49-F238E27FC236}">
                <a16:creationId xmlns:a16="http://schemas.microsoft.com/office/drawing/2014/main" id="{5D7F5FA0-1DA8-BF7A-C941-18C2412A1747}"/>
              </a:ext>
            </a:extLst>
          </p:cNvPr>
          <p:cNvSpPr txBox="1"/>
          <p:nvPr/>
        </p:nvSpPr>
        <p:spPr>
          <a:xfrm>
            <a:off x="2677715" y="1939527"/>
            <a:ext cx="712589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5">
                <a:solidFill>
                  <a:srgbClr val="202020"/>
                </a:solidFill>
                <a:latin typeface="Arial" panose="020B0604020202020204" pitchFamily="34" charset="0"/>
              </a:rPr>
              <a:t>Study design and development evaluation</a:t>
            </a:r>
            <a:endParaRPr lang="zh-CN" altLang="en-US" sz="1055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0" name="index_8">
            <a:extLst>
              <a:ext uri="{FF2B5EF4-FFF2-40B4-BE49-F238E27FC236}">
                <a16:creationId xmlns:a16="http://schemas.microsoft.com/office/drawing/2014/main" id="{7B16D673-2C44-E912-48C8-3CC9F1104E95}"/>
              </a:ext>
            </a:extLst>
          </p:cNvPr>
          <p:cNvSpPr txBox="1"/>
          <p:nvPr/>
        </p:nvSpPr>
        <p:spPr>
          <a:xfrm>
            <a:off x="10146506" y="1939527"/>
            <a:ext cx="53578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2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1" name="index_9">
            <a:extLst>
              <a:ext uri="{FF2B5EF4-FFF2-40B4-BE49-F238E27FC236}">
                <a16:creationId xmlns:a16="http://schemas.microsoft.com/office/drawing/2014/main" id="{68CDBFDC-D9EC-07D8-DE36-F3EFC5C196FB}"/>
              </a:ext>
            </a:extLst>
          </p:cNvPr>
          <p:cNvSpPr txBox="1"/>
          <p:nvPr/>
        </p:nvSpPr>
        <p:spPr>
          <a:xfrm>
            <a:off x="1509712" y="2368152"/>
            <a:ext cx="1060847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2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2" name="index_10">
            <a:hlinkClick r:id="rId4" action="ppaction://hlinksldjump"/>
            <a:extLst>
              <a:ext uri="{FF2B5EF4-FFF2-40B4-BE49-F238E27FC236}">
                <a16:creationId xmlns:a16="http://schemas.microsoft.com/office/drawing/2014/main" id="{84A196D1-ABC7-5881-2DB1-E3A39BC2A592}"/>
              </a:ext>
            </a:extLst>
          </p:cNvPr>
          <p:cNvSpPr txBox="1"/>
          <p:nvPr/>
        </p:nvSpPr>
        <p:spPr>
          <a:xfrm>
            <a:off x="2677715" y="2368152"/>
            <a:ext cx="712589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5">
                <a:solidFill>
                  <a:srgbClr val="202020"/>
                </a:solidFill>
                <a:latin typeface="Arial" panose="020B0604020202020204" pitchFamily="34" charset="0"/>
              </a:rPr>
              <a:t>Qwen-Image-Edit synthesis workflow (arm C)</a:t>
            </a:r>
            <a:endParaRPr lang="zh-CN" altLang="en-US" sz="1055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3" name="index_11">
            <a:extLst>
              <a:ext uri="{FF2B5EF4-FFF2-40B4-BE49-F238E27FC236}">
                <a16:creationId xmlns:a16="http://schemas.microsoft.com/office/drawing/2014/main" id="{03750A40-A5F0-D70D-4797-ACBB295FF08B}"/>
              </a:ext>
            </a:extLst>
          </p:cNvPr>
          <p:cNvSpPr txBox="1"/>
          <p:nvPr/>
        </p:nvSpPr>
        <p:spPr>
          <a:xfrm>
            <a:off x="10146506" y="2368152"/>
            <a:ext cx="53578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3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4" name="index_12">
            <a:extLst>
              <a:ext uri="{FF2B5EF4-FFF2-40B4-BE49-F238E27FC236}">
                <a16:creationId xmlns:a16="http://schemas.microsoft.com/office/drawing/2014/main" id="{8E36C698-CF47-5252-984D-35A389737B41}"/>
              </a:ext>
            </a:extLst>
          </p:cNvPr>
          <p:cNvSpPr txBox="1"/>
          <p:nvPr/>
        </p:nvSpPr>
        <p:spPr>
          <a:xfrm>
            <a:off x="1509712" y="2796777"/>
            <a:ext cx="1060847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3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5" name="index_13">
            <a:hlinkClick r:id="rId5" action="ppaction://hlinksldjump"/>
            <a:extLst>
              <a:ext uri="{FF2B5EF4-FFF2-40B4-BE49-F238E27FC236}">
                <a16:creationId xmlns:a16="http://schemas.microsoft.com/office/drawing/2014/main" id="{45E05A9A-E5E7-C33D-6AB4-A26CF05C93B0}"/>
              </a:ext>
            </a:extLst>
          </p:cNvPr>
          <p:cNvSpPr txBox="1"/>
          <p:nvPr/>
        </p:nvSpPr>
        <p:spPr>
          <a:xfrm>
            <a:off x="2677715" y="2796777"/>
            <a:ext cx="712589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5">
                <a:solidFill>
                  <a:srgbClr val="202020"/>
                </a:solidFill>
                <a:latin typeface="Arial" panose="020B0604020202020204" pitchFamily="34" charset="0"/>
              </a:rPr>
              <a:t>real93 LoRA training and text-to-image synthesis (arm D)</a:t>
            </a:r>
            <a:endParaRPr lang="zh-CN" altLang="en-US" sz="1055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6" name="index_14">
            <a:extLst>
              <a:ext uri="{FF2B5EF4-FFF2-40B4-BE49-F238E27FC236}">
                <a16:creationId xmlns:a16="http://schemas.microsoft.com/office/drawing/2014/main" id="{372C18E9-1F56-111A-B08D-BEFD16D819A0}"/>
              </a:ext>
            </a:extLst>
          </p:cNvPr>
          <p:cNvSpPr txBox="1"/>
          <p:nvPr/>
        </p:nvSpPr>
        <p:spPr>
          <a:xfrm>
            <a:off x="10146506" y="2796777"/>
            <a:ext cx="53578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4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7" name="index_15">
            <a:extLst>
              <a:ext uri="{FF2B5EF4-FFF2-40B4-BE49-F238E27FC236}">
                <a16:creationId xmlns:a16="http://schemas.microsoft.com/office/drawing/2014/main" id="{3E9482E6-B1A4-2BC2-52A1-F07F157F688F}"/>
              </a:ext>
            </a:extLst>
          </p:cNvPr>
          <p:cNvSpPr txBox="1"/>
          <p:nvPr/>
        </p:nvSpPr>
        <p:spPr>
          <a:xfrm>
            <a:off x="1509712" y="3225402"/>
            <a:ext cx="1060847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4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8" name="index_16">
            <a:hlinkClick r:id="" action="ppaction://noaction"/>
            <a:extLst>
              <a:ext uri="{FF2B5EF4-FFF2-40B4-BE49-F238E27FC236}">
                <a16:creationId xmlns:a16="http://schemas.microsoft.com/office/drawing/2014/main" id="{6223C726-958B-8E38-EB97-DD993709ACF6}"/>
              </a:ext>
            </a:extLst>
          </p:cNvPr>
          <p:cNvSpPr txBox="1"/>
          <p:nvPr/>
        </p:nvSpPr>
        <p:spPr>
          <a:xfrm>
            <a:off x="2677715" y="3225402"/>
            <a:ext cx="712589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5">
                <a:solidFill>
                  <a:srgbClr val="202020"/>
                </a:solidFill>
                <a:latin typeface="Arial" panose="020B0604020202020204" pitchFamily="34" charset="0"/>
              </a:rPr>
              <a:t>Training images and reviewed bounding boxes</a:t>
            </a:r>
            <a:endParaRPr lang="zh-CN" altLang="en-US" sz="1055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19" name="index_17">
            <a:extLst>
              <a:ext uri="{FF2B5EF4-FFF2-40B4-BE49-F238E27FC236}">
                <a16:creationId xmlns:a16="http://schemas.microsoft.com/office/drawing/2014/main" id="{C56F3DE7-9F02-4932-5CC7-C5EBB60C4CCB}"/>
              </a:ext>
            </a:extLst>
          </p:cNvPr>
          <p:cNvSpPr txBox="1"/>
          <p:nvPr/>
        </p:nvSpPr>
        <p:spPr>
          <a:xfrm>
            <a:off x="10146506" y="3225402"/>
            <a:ext cx="53578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5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0" name="index_18">
            <a:extLst>
              <a:ext uri="{FF2B5EF4-FFF2-40B4-BE49-F238E27FC236}">
                <a16:creationId xmlns:a16="http://schemas.microsoft.com/office/drawing/2014/main" id="{D8CBECF1-40E8-3552-ABFA-5296BD8262E8}"/>
              </a:ext>
            </a:extLst>
          </p:cNvPr>
          <p:cNvSpPr txBox="1"/>
          <p:nvPr/>
        </p:nvSpPr>
        <p:spPr>
          <a:xfrm>
            <a:off x="1509712" y="3654027"/>
            <a:ext cx="1060847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5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1" name="index_19">
            <a:hlinkClick r:id="" action="ppaction://noaction"/>
            <a:extLst>
              <a:ext uri="{FF2B5EF4-FFF2-40B4-BE49-F238E27FC236}">
                <a16:creationId xmlns:a16="http://schemas.microsoft.com/office/drawing/2014/main" id="{1A4871D8-5587-0862-4055-854594B7F412}"/>
              </a:ext>
            </a:extLst>
          </p:cNvPr>
          <p:cNvSpPr txBox="1"/>
          <p:nvPr/>
        </p:nvSpPr>
        <p:spPr>
          <a:xfrm>
            <a:off x="2677715" y="3654027"/>
            <a:ext cx="712589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5">
                <a:solidFill>
                  <a:srgbClr val="202020"/>
                </a:solidFill>
                <a:latin typeface="Arial" panose="020B0604020202020204" pitchFamily="34" charset="0"/>
              </a:rPr>
              <a:t>Arm-level performance relative to the real93 baseline</a:t>
            </a:r>
            <a:endParaRPr lang="zh-CN" altLang="en-US" sz="1055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2" name="index_20">
            <a:extLst>
              <a:ext uri="{FF2B5EF4-FFF2-40B4-BE49-F238E27FC236}">
                <a16:creationId xmlns:a16="http://schemas.microsoft.com/office/drawing/2014/main" id="{365E8A4C-EEDB-F56C-4F2C-FB855A30C9AA}"/>
              </a:ext>
            </a:extLst>
          </p:cNvPr>
          <p:cNvSpPr txBox="1"/>
          <p:nvPr/>
        </p:nvSpPr>
        <p:spPr>
          <a:xfrm>
            <a:off x="10146506" y="3654027"/>
            <a:ext cx="53578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6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3" name="index_21">
            <a:extLst>
              <a:ext uri="{FF2B5EF4-FFF2-40B4-BE49-F238E27FC236}">
                <a16:creationId xmlns:a16="http://schemas.microsoft.com/office/drawing/2014/main" id="{2EEC8633-D4EC-ACD5-F617-F84EEE7A25CB}"/>
              </a:ext>
            </a:extLst>
          </p:cNvPr>
          <p:cNvSpPr txBox="1"/>
          <p:nvPr/>
        </p:nvSpPr>
        <p:spPr>
          <a:xfrm>
            <a:off x="1509712" y="4082652"/>
            <a:ext cx="1060847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6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4" name="index_22">
            <a:hlinkClick r:id="" action="ppaction://noaction"/>
            <a:extLst>
              <a:ext uri="{FF2B5EF4-FFF2-40B4-BE49-F238E27FC236}">
                <a16:creationId xmlns:a16="http://schemas.microsoft.com/office/drawing/2014/main" id="{D0425F74-4534-EA76-EA50-F217110F99BE}"/>
              </a:ext>
            </a:extLst>
          </p:cNvPr>
          <p:cNvSpPr txBox="1"/>
          <p:nvPr/>
        </p:nvSpPr>
        <p:spPr>
          <a:xfrm>
            <a:off x="2677715" y="4082652"/>
            <a:ext cx="712589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5">
                <a:solidFill>
                  <a:srgbClr val="202020"/>
                </a:solidFill>
                <a:latin typeface="Arial" panose="020B0604020202020204" pitchFamily="34" charset="0"/>
              </a:rPr>
              <a:t>Fixed-endpoint performance across six YOLO detectors</a:t>
            </a:r>
            <a:endParaRPr lang="zh-CN" altLang="en-US" sz="1055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5" name="index_23">
            <a:extLst>
              <a:ext uri="{FF2B5EF4-FFF2-40B4-BE49-F238E27FC236}">
                <a16:creationId xmlns:a16="http://schemas.microsoft.com/office/drawing/2014/main" id="{3C96A564-C590-FC88-E772-973702453464}"/>
              </a:ext>
            </a:extLst>
          </p:cNvPr>
          <p:cNvSpPr txBox="1"/>
          <p:nvPr/>
        </p:nvSpPr>
        <p:spPr>
          <a:xfrm>
            <a:off x="10146506" y="4082652"/>
            <a:ext cx="53578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7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6" name="index_24">
            <a:extLst>
              <a:ext uri="{FF2B5EF4-FFF2-40B4-BE49-F238E27FC236}">
                <a16:creationId xmlns:a16="http://schemas.microsoft.com/office/drawing/2014/main" id="{F275AB2B-3EF4-6E66-CC05-F0AA1A2601F1}"/>
              </a:ext>
            </a:extLst>
          </p:cNvPr>
          <p:cNvSpPr txBox="1"/>
          <p:nvPr/>
        </p:nvSpPr>
        <p:spPr>
          <a:xfrm>
            <a:off x="1509712" y="4511277"/>
            <a:ext cx="1060847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7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7" name="index_25">
            <a:hlinkClick r:id="" action="ppaction://noaction"/>
            <a:extLst>
              <a:ext uri="{FF2B5EF4-FFF2-40B4-BE49-F238E27FC236}">
                <a16:creationId xmlns:a16="http://schemas.microsoft.com/office/drawing/2014/main" id="{640087F9-BE8B-C479-4B3E-ED07519AC279}"/>
              </a:ext>
            </a:extLst>
          </p:cNvPr>
          <p:cNvSpPr txBox="1"/>
          <p:nvPr/>
        </p:nvSpPr>
        <p:spPr>
          <a:xfrm>
            <a:off x="2677715" y="4511277"/>
            <a:ext cx="712589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5">
                <a:solidFill>
                  <a:srgbClr val="202020"/>
                </a:solidFill>
                <a:latin typeface="Arial" panose="020B0604020202020204" pitchFamily="34" charset="0"/>
              </a:rPr>
              <a:t>Effect of the image-edit training-set size</a:t>
            </a:r>
            <a:endParaRPr lang="zh-CN" altLang="en-US" sz="1055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8" name="index_26">
            <a:extLst>
              <a:ext uri="{FF2B5EF4-FFF2-40B4-BE49-F238E27FC236}">
                <a16:creationId xmlns:a16="http://schemas.microsoft.com/office/drawing/2014/main" id="{0E22D8F1-CFD2-41BE-0C0E-0627CE55CB59}"/>
              </a:ext>
            </a:extLst>
          </p:cNvPr>
          <p:cNvSpPr txBox="1"/>
          <p:nvPr/>
        </p:nvSpPr>
        <p:spPr>
          <a:xfrm>
            <a:off x="10146506" y="4511277"/>
            <a:ext cx="53578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8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9" name="index_27">
            <a:extLst>
              <a:ext uri="{FF2B5EF4-FFF2-40B4-BE49-F238E27FC236}">
                <a16:creationId xmlns:a16="http://schemas.microsoft.com/office/drawing/2014/main" id="{5F4DDD7D-CDE5-3FA1-B8E5-B03B39392889}"/>
              </a:ext>
            </a:extLst>
          </p:cNvPr>
          <p:cNvSpPr txBox="1"/>
          <p:nvPr/>
        </p:nvSpPr>
        <p:spPr>
          <a:xfrm>
            <a:off x="1509712" y="4939902"/>
            <a:ext cx="1060847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8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0" name="index_28">
            <a:hlinkClick r:id="" action="ppaction://noaction"/>
            <a:extLst>
              <a:ext uri="{FF2B5EF4-FFF2-40B4-BE49-F238E27FC236}">
                <a16:creationId xmlns:a16="http://schemas.microsoft.com/office/drawing/2014/main" id="{B7F63336-56B4-182C-3561-4DB4DBD95E98}"/>
              </a:ext>
            </a:extLst>
          </p:cNvPr>
          <p:cNvSpPr txBox="1"/>
          <p:nvPr/>
        </p:nvSpPr>
        <p:spPr>
          <a:xfrm>
            <a:off x="2677715" y="4939902"/>
            <a:ext cx="712589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5">
                <a:solidFill>
                  <a:srgbClr val="202020"/>
                </a:solidFill>
                <a:latin typeface="Arial" panose="020B0604020202020204" pitchFamily="34" charset="0"/>
              </a:rPr>
              <a:t>Missed objects and false positives across confidence thresholds</a:t>
            </a:r>
            <a:endParaRPr lang="zh-CN" altLang="en-US" sz="1055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1" name="index_29">
            <a:extLst>
              <a:ext uri="{FF2B5EF4-FFF2-40B4-BE49-F238E27FC236}">
                <a16:creationId xmlns:a16="http://schemas.microsoft.com/office/drawing/2014/main" id="{2104DBF1-0979-1EE0-B5FC-A6DCA9DD0A19}"/>
              </a:ext>
            </a:extLst>
          </p:cNvPr>
          <p:cNvSpPr txBox="1"/>
          <p:nvPr/>
        </p:nvSpPr>
        <p:spPr>
          <a:xfrm>
            <a:off x="10146506" y="4939902"/>
            <a:ext cx="53578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9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2" name="index_30">
            <a:extLst>
              <a:ext uri="{FF2B5EF4-FFF2-40B4-BE49-F238E27FC236}">
                <a16:creationId xmlns:a16="http://schemas.microsoft.com/office/drawing/2014/main" id="{38EDD47C-3577-9DD9-379D-44025B2D8CB2}"/>
              </a:ext>
            </a:extLst>
          </p:cNvPr>
          <p:cNvSpPr txBox="1"/>
          <p:nvPr/>
        </p:nvSpPr>
        <p:spPr>
          <a:xfrm>
            <a:off x="1509712" y="5368527"/>
            <a:ext cx="1060847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11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3" name="index_31">
            <a:hlinkClick r:id="" action="ppaction://noaction"/>
            <a:extLst>
              <a:ext uri="{FF2B5EF4-FFF2-40B4-BE49-F238E27FC236}">
                <a16:creationId xmlns:a16="http://schemas.microsoft.com/office/drawing/2014/main" id="{42AB5F83-1F9D-5E0E-6C4D-820FC8ACCEAA}"/>
              </a:ext>
            </a:extLst>
          </p:cNvPr>
          <p:cNvSpPr txBox="1"/>
          <p:nvPr/>
        </p:nvSpPr>
        <p:spPr>
          <a:xfrm>
            <a:off x="2677715" y="5368527"/>
            <a:ext cx="712589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5">
                <a:solidFill>
                  <a:srgbClr val="202020"/>
                </a:solidFill>
                <a:latin typeface="Arial" panose="020B0604020202020204" pitchFamily="34" charset="0"/>
              </a:rPr>
              <a:t>Detection examples on the development images</a:t>
            </a:r>
            <a:endParaRPr lang="zh-CN" altLang="en-US" sz="1055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4" name="index_32">
            <a:extLst>
              <a:ext uri="{FF2B5EF4-FFF2-40B4-BE49-F238E27FC236}">
                <a16:creationId xmlns:a16="http://schemas.microsoft.com/office/drawing/2014/main" id="{C271019A-A41F-38F3-9FE4-ADA8EFADAC17}"/>
              </a:ext>
            </a:extLst>
          </p:cNvPr>
          <p:cNvSpPr txBox="1"/>
          <p:nvPr/>
        </p:nvSpPr>
        <p:spPr>
          <a:xfrm>
            <a:off x="10146506" y="5368527"/>
            <a:ext cx="535781" cy="32146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97">
                <a:solidFill>
                  <a:srgbClr val="202020"/>
                </a:solidFill>
                <a:latin typeface="Arial" panose="020B0604020202020204" pitchFamily="34" charset="0"/>
              </a:rPr>
              <a:t>10</a:t>
            </a:r>
            <a:endParaRPr lang="zh-CN" altLang="en-US" sz="1097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50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CE195325-F5FA-7A09-47DD-7C8806CAA580}"/>
              </a:ext>
            </a:extLst>
          </p:cNvPr>
          <p:cNvSpPr txBox="1"/>
          <p:nvPr/>
        </p:nvSpPr>
        <p:spPr>
          <a:xfrm>
            <a:off x="1303392" y="2015891"/>
            <a:ext cx="4112222" cy="22430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60" b="1">
                <a:solidFill>
                  <a:srgbClr val="181818"/>
                </a:solidFill>
                <a:latin typeface="Times New Roman" panose="02020603050405020304" pitchFamily="18" charset="0"/>
              </a:rPr>
              <a:t>(a) Data construction</a:t>
            </a:r>
            <a:endParaRPr lang="zh-CN" altLang="en-US" sz="106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" name="line_002">
            <a:extLst>
              <a:ext uri="{FF2B5EF4-FFF2-40B4-BE49-F238E27FC236}">
                <a16:creationId xmlns:a16="http://schemas.microsoft.com/office/drawing/2014/main" id="{A4D47FAE-B411-4541-8C41-389DD76BF017}"/>
              </a:ext>
            </a:extLst>
          </p:cNvPr>
          <p:cNvCxnSpPr/>
          <p:nvPr/>
        </p:nvCxnSpPr>
        <p:spPr>
          <a:xfrm>
            <a:off x="1303393" y="2292531"/>
            <a:ext cx="4112222" cy="0"/>
          </a:xfrm>
          <a:prstGeom prst="line">
            <a:avLst/>
          </a:prstGeom>
          <a:ln w="7089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_003">
            <a:extLst>
              <a:ext uri="{FF2B5EF4-FFF2-40B4-BE49-F238E27FC236}">
                <a16:creationId xmlns:a16="http://schemas.microsoft.com/office/drawing/2014/main" id="{021E7A7E-A720-510A-ACAB-9027BEC06F9B}"/>
              </a:ext>
            </a:extLst>
          </p:cNvPr>
          <p:cNvSpPr txBox="1"/>
          <p:nvPr/>
        </p:nvSpPr>
        <p:spPr>
          <a:xfrm>
            <a:off x="5864220" y="2015891"/>
            <a:ext cx="1899099" cy="22430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60" b="1">
                <a:solidFill>
                  <a:srgbClr val="181818"/>
                </a:solidFill>
                <a:latin typeface="Times New Roman" panose="02020603050405020304" pitchFamily="18" charset="0"/>
              </a:rPr>
              <a:t>(b) Controlled training</a:t>
            </a:r>
            <a:endParaRPr lang="zh-CN" altLang="en-US" sz="106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" name="line_004">
            <a:extLst>
              <a:ext uri="{FF2B5EF4-FFF2-40B4-BE49-F238E27FC236}">
                <a16:creationId xmlns:a16="http://schemas.microsoft.com/office/drawing/2014/main" id="{7C2D13D6-873A-FEDD-BBCB-442BDE48A96B}"/>
              </a:ext>
            </a:extLst>
          </p:cNvPr>
          <p:cNvCxnSpPr/>
          <p:nvPr/>
        </p:nvCxnSpPr>
        <p:spPr>
          <a:xfrm>
            <a:off x="5864220" y="2292531"/>
            <a:ext cx="1899099" cy="0"/>
          </a:xfrm>
          <a:prstGeom prst="line">
            <a:avLst/>
          </a:prstGeom>
          <a:ln w="7089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005">
            <a:extLst>
              <a:ext uri="{FF2B5EF4-FFF2-40B4-BE49-F238E27FC236}">
                <a16:creationId xmlns:a16="http://schemas.microsoft.com/office/drawing/2014/main" id="{37758A1B-1300-7BF4-A20B-9743CEC34421}"/>
              </a:ext>
            </a:extLst>
          </p:cNvPr>
          <p:cNvSpPr txBox="1"/>
          <p:nvPr/>
        </p:nvSpPr>
        <p:spPr>
          <a:xfrm>
            <a:off x="8226878" y="2015891"/>
            <a:ext cx="2661729" cy="22430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60" b="1">
                <a:solidFill>
                  <a:srgbClr val="181818"/>
                </a:solidFill>
                <a:latin typeface="Times New Roman" panose="02020603050405020304" pitchFamily="18" charset="0"/>
              </a:rPr>
              <a:t>(c) Development evaluation</a:t>
            </a:r>
            <a:endParaRPr lang="zh-CN" altLang="en-US" sz="106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" name="line_006">
            <a:extLst>
              <a:ext uri="{FF2B5EF4-FFF2-40B4-BE49-F238E27FC236}">
                <a16:creationId xmlns:a16="http://schemas.microsoft.com/office/drawing/2014/main" id="{19694816-9F95-FB48-FFC7-686001F98EC1}"/>
              </a:ext>
            </a:extLst>
          </p:cNvPr>
          <p:cNvCxnSpPr/>
          <p:nvPr/>
        </p:nvCxnSpPr>
        <p:spPr>
          <a:xfrm>
            <a:off x="8226878" y="2292531"/>
            <a:ext cx="2661730" cy="0"/>
          </a:xfrm>
          <a:prstGeom prst="line">
            <a:avLst/>
          </a:prstGeom>
          <a:ln w="7089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_007">
            <a:extLst>
              <a:ext uri="{FF2B5EF4-FFF2-40B4-BE49-F238E27FC236}">
                <a16:creationId xmlns:a16="http://schemas.microsoft.com/office/drawing/2014/main" id="{159D3F24-A2D8-AEC5-894E-135E530CF662}"/>
              </a:ext>
            </a:extLst>
          </p:cNvPr>
          <p:cNvSpPr txBox="1"/>
          <p:nvPr/>
        </p:nvSpPr>
        <p:spPr>
          <a:xfrm>
            <a:off x="1333300" y="2853290"/>
            <a:ext cx="1084131" cy="21682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95" b="1">
                <a:solidFill>
                  <a:srgbClr val="181818"/>
                </a:solidFill>
                <a:latin typeface="Times New Roman" panose="02020603050405020304" pitchFamily="18" charset="0"/>
              </a:rPr>
              <a:t>real93</a:t>
            </a:r>
            <a:endParaRPr lang="zh-CN" altLang="en-US" sz="1295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" name="picture_008">
            <a:extLst>
              <a:ext uri="{FF2B5EF4-FFF2-40B4-BE49-F238E27FC236}">
                <a16:creationId xmlns:a16="http://schemas.microsoft.com/office/drawing/2014/main" id="{56E6EFCC-9C4A-7AC3-9DD8-217DE431D04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83" y="3144884"/>
            <a:ext cx="976964" cy="732723"/>
          </a:xfrm>
          <a:prstGeom prst="rect">
            <a:avLst/>
          </a:prstGeom>
        </p:spPr>
      </p:pic>
      <p:sp>
        <p:nvSpPr>
          <p:cNvPr id="11" name="rect_009">
            <a:extLst>
              <a:ext uri="{FF2B5EF4-FFF2-40B4-BE49-F238E27FC236}">
                <a16:creationId xmlns:a16="http://schemas.microsoft.com/office/drawing/2014/main" id="{E2EE46BB-55B2-D9BB-92A6-BE9E8ADDF71E}"/>
              </a:ext>
            </a:extLst>
          </p:cNvPr>
          <p:cNvSpPr/>
          <p:nvPr/>
        </p:nvSpPr>
        <p:spPr>
          <a:xfrm>
            <a:off x="1386883" y="3144883"/>
            <a:ext cx="976965" cy="732723"/>
          </a:xfrm>
          <a:prstGeom prst="rect">
            <a:avLst/>
          </a:prstGeom>
          <a:noFill/>
          <a:ln w="3101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12" name="text_010">
            <a:extLst>
              <a:ext uri="{FF2B5EF4-FFF2-40B4-BE49-F238E27FC236}">
                <a16:creationId xmlns:a16="http://schemas.microsoft.com/office/drawing/2014/main" id="{4953579C-F298-9EE5-B7C6-EC5B198025ED}"/>
              </a:ext>
            </a:extLst>
          </p:cNvPr>
          <p:cNvSpPr txBox="1"/>
          <p:nvPr/>
        </p:nvSpPr>
        <p:spPr>
          <a:xfrm>
            <a:off x="1303392" y="3982280"/>
            <a:ext cx="1173853" cy="38879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765">
                <a:solidFill>
                  <a:srgbClr val="181818"/>
                </a:solidFill>
                <a:latin typeface="Times New Roman" panose="02020603050405020304" pitchFamily="18" charset="0"/>
              </a:rPr>
              <a:t>93 real photographs
On-site and web sources</a:t>
            </a:r>
            <a:endParaRPr lang="zh-CN" altLang="en-US" sz="765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3" name="line_011">
            <a:extLst>
              <a:ext uri="{FF2B5EF4-FFF2-40B4-BE49-F238E27FC236}">
                <a16:creationId xmlns:a16="http://schemas.microsoft.com/office/drawing/2014/main" id="{D2D815B6-5C43-C1B7-2C63-0D9739A145F7}"/>
              </a:ext>
            </a:extLst>
          </p:cNvPr>
          <p:cNvCxnSpPr/>
          <p:nvPr/>
        </p:nvCxnSpPr>
        <p:spPr>
          <a:xfrm>
            <a:off x="2477245" y="3511245"/>
            <a:ext cx="149535" cy="0"/>
          </a:xfrm>
          <a:prstGeom prst="line">
            <a:avLst/>
          </a:prstGeom>
          <a:ln w="6646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ne_012">
            <a:extLst>
              <a:ext uri="{FF2B5EF4-FFF2-40B4-BE49-F238E27FC236}">
                <a16:creationId xmlns:a16="http://schemas.microsoft.com/office/drawing/2014/main" id="{E20818A0-F8A7-5F58-0457-838964E5005A}"/>
              </a:ext>
            </a:extLst>
          </p:cNvPr>
          <p:cNvCxnSpPr/>
          <p:nvPr/>
        </p:nvCxnSpPr>
        <p:spPr>
          <a:xfrm>
            <a:off x="2626780" y="2733661"/>
            <a:ext cx="0" cy="1682273"/>
          </a:xfrm>
          <a:prstGeom prst="line">
            <a:avLst/>
          </a:prstGeom>
          <a:ln w="6646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_013">
            <a:extLst>
              <a:ext uri="{FF2B5EF4-FFF2-40B4-BE49-F238E27FC236}">
                <a16:creationId xmlns:a16="http://schemas.microsoft.com/office/drawing/2014/main" id="{ED3CD06F-C96B-BAA7-42A5-4B5D9A084B1A}"/>
              </a:ext>
            </a:extLst>
          </p:cNvPr>
          <p:cNvCxnSpPr/>
          <p:nvPr/>
        </p:nvCxnSpPr>
        <p:spPr>
          <a:xfrm>
            <a:off x="2626780" y="2733661"/>
            <a:ext cx="209350" cy="0"/>
          </a:xfrm>
          <a:prstGeom prst="line">
            <a:avLst/>
          </a:prstGeom>
          <a:ln w="6646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_014">
            <a:extLst>
              <a:ext uri="{FF2B5EF4-FFF2-40B4-BE49-F238E27FC236}">
                <a16:creationId xmlns:a16="http://schemas.microsoft.com/office/drawing/2014/main" id="{B3A6BD6C-E139-0D67-3DCE-D3F371C73E82}"/>
              </a:ext>
            </a:extLst>
          </p:cNvPr>
          <p:cNvSpPr/>
          <p:nvPr/>
        </p:nvSpPr>
        <p:spPr>
          <a:xfrm>
            <a:off x="2866037" y="2524311"/>
            <a:ext cx="201873" cy="201873"/>
          </a:xfrm>
          <a:prstGeom prst="rect">
            <a:avLst/>
          </a:prstGeom>
          <a:solidFill>
            <a:srgbClr val="6262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17" name="text_015">
            <a:extLst>
              <a:ext uri="{FF2B5EF4-FFF2-40B4-BE49-F238E27FC236}">
                <a16:creationId xmlns:a16="http://schemas.microsoft.com/office/drawing/2014/main" id="{94EA02E5-497B-D634-90FF-3D14D2A8F52A}"/>
              </a:ext>
            </a:extLst>
          </p:cNvPr>
          <p:cNvSpPr txBox="1"/>
          <p:nvPr/>
        </p:nvSpPr>
        <p:spPr>
          <a:xfrm>
            <a:off x="2866037" y="2531788"/>
            <a:ext cx="201873" cy="18691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24" b="1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endParaRPr lang="zh-CN" altLang="en-US" sz="824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_016">
            <a:extLst>
              <a:ext uri="{FF2B5EF4-FFF2-40B4-BE49-F238E27FC236}">
                <a16:creationId xmlns:a16="http://schemas.microsoft.com/office/drawing/2014/main" id="{1608DE1B-2F90-DE39-6B93-AC3D179AB4AF}"/>
              </a:ext>
            </a:extLst>
          </p:cNvPr>
          <p:cNvSpPr txBox="1"/>
          <p:nvPr/>
        </p:nvSpPr>
        <p:spPr>
          <a:xfrm>
            <a:off x="3142677" y="2486928"/>
            <a:ext cx="1779470" cy="21682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42" b="1">
                <a:solidFill>
                  <a:srgbClr val="181818"/>
                </a:solidFill>
                <a:latin typeface="Times New Roman" panose="02020603050405020304" pitchFamily="18" charset="0"/>
              </a:rPr>
              <a:t>Real-only baseline</a:t>
            </a:r>
            <a:endParaRPr lang="zh-CN" altLang="en-US" sz="942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_017">
            <a:extLst>
              <a:ext uri="{FF2B5EF4-FFF2-40B4-BE49-F238E27FC236}">
                <a16:creationId xmlns:a16="http://schemas.microsoft.com/office/drawing/2014/main" id="{5D7BD4F1-8E86-F849-0E16-EB9BE2634586}"/>
              </a:ext>
            </a:extLst>
          </p:cNvPr>
          <p:cNvSpPr txBox="1"/>
          <p:nvPr/>
        </p:nvSpPr>
        <p:spPr>
          <a:xfrm>
            <a:off x="3142677" y="2718707"/>
            <a:ext cx="1891622" cy="19439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6">
                <a:solidFill>
                  <a:srgbClr val="181818"/>
                </a:solidFill>
                <a:latin typeface="Times New Roman" panose="02020603050405020304" pitchFamily="18" charset="0"/>
              </a:rPr>
              <a:t>Reviewed labels</a:t>
            </a:r>
            <a:endParaRPr lang="zh-CN" altLang="en-US" sz="706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_018">
            <a:extLst>
              <a:ext uri="{FF2B5EF4-FFF2-40B4-BE49-F238E27FC236}">
                <a16:creationId xmlns:a16="http://schemas.microsoft.com/office/drawing/2014/main" id="{6E020805-E96E-1235-7D3A-4EAC6EC7BD4A}"/>
              </a:ext>
            </a:extLst>
          </p:cNvPr>
          <p:cNvSpPr txBox="1"/>
          <p:nvPr/>
        </p:nvSpPr>
        <p:spPr>
          <a:xfrm>
            <a:off x="4952055" y="2501881"/>
            <a:ext cx="508420" cy="209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119">
                <a:solidFill>
                  <a:srgbClr val="202020"/>
                </a:solidFill>
                <a:latin typeface="Times New Roman" panose="02020603050405020304" pitchFamily="18" charset="0"/>
              </a:rPr>
              <a:t>93</a:t>
            </a:r>
            <a:endParaRPr lang="zh-CN" altLang="en-US" sz="1119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1" name="line_019">
            <a:extLst>
              <a:ext uri="{FF2B5EF4-FFF2-40B4-BE49-F238E27FC236}">
                <a16:creationId xmlns:a16="http://schemas.microsoft.com/office/drawing/2014/main" id="{4D4E7CE8-FCE1-B16F-C4B8-DE0C5D660317}"/>
              </a:ext>
            </a:extLst>
          </p:cNvPr>
          <p:cNvCxnSpPr/>
          <p:nvPr/>
        </p:nvCxnSpPr>
        <p:spPr>
          <a:xfrm>
            <a:off x="3142677" y="2943010"/>
            <a:ext cx="2317798" cy="0"/>
          </a:xfrm>
          <a:prstGeom prst="line">
            <a:avLst/>
          </a:prstGeom>
          <a:ln w="3988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ne_020">
            <a:extLst>
              <a:ext uri="{FF2B5EF4-FFF2-40B4-BE49-F238E27FC236}">
                <a16:creationId xmlns:a16="http://schemas.microsoft.com/office/drawing/2014/main" id="{90EC3AC1-5CE7-8C99-90F2-AAC9ECE15DCC}"/>
              </a:ext>
            </a:extLst>
          </p:cNvPr>
          <p:cNvCxnSpPr/>
          <p:nvPr/>
        </p:nvCxnSpPr>
        <p:spPr>
          <a:xfrm>
            <a:off x="5475429" y="2733661"/>
            <a:ext cx="179442" cy="0"/>
          </a:xfrm>
          <a:prstGeom prst="line">
            <a:avLst/>
          </a:prstGeom>
          <a:ln w="6646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ne_021">
            <a:extLst>
              <a:ext uri="{FF2B5EF4-FFF2-40B4-BE49-F238E27FC236}">
                <a16:creationId xmlns:a16="http://schemas.microsoft.com/office/drawing/2014/main" id="{700274CA-D37D-3EC0-F398-77603F536F94}"/>
              </a:ext>
            </a:extLst>
          </p:cNvPr>
          <p:cNvCxnSpPr/>
          <p:nvPr/>
        </p:nvCxnSpPr>
        <p:spPr>
          <a:xfrm>
            <a:off x="2626780" y="3294419"/>
            <a:ext cx="209350" cy="0"/>
          </a:xfrm>
          <a:prstGeom prst="line">
            <a:avLst/>
          </a:prstGeom>
          <a:ln w="6646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_022">
            <a:extLst>
              <a:ext uri="{FF2B5EF4-FFF2-40B4-BE49-F238E27FC236}">
                <a16:creationId xmlns:a16="http://schemas.microsoft.com/office/drawing/2014/main" id="{A0BD7F98-7074-86D2-E006-58BCA9E7689F}"/>
              </a:ext>
            </a:extLst>
          </p:cNvPr>
          <p:cNvSpPr/>
          <p:nvPr/>
        </p:nvSpPr>
        <p:spPr>
          <a:xfrm>
            <a:off x="2866037" y="3085069"/>
            <a:ext cx="201873" cy="201872"/>
          </a:xfrm>
          <a:prstGeom prst="rect">
            <a:avLst/>
          </a:prstGeom>
          <a:solidFill>
            <a:srgbClr val="6262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25" name="text_023">
            <a:extLst>
              <a:ext uri="{FF2B5EF4-FFF2-40B4-BE49-F238E27FC236}">
                <a16:creationId xmlns:a16="http://schemas.microsoft.com/office/drawing/2014/main" id="{6182E60D-6CEE-43C7-7C7E-019D6FF5BE8F}"/>
              </a:ext>
            </a:extLst>
          </p:cNvPr>
          <p:cNvSpPr txBox="1"/>
          <p:nvPr/>
        </p:nvSpPr>
        <p:spPr>
          <a:xfrm>
            <a:off x="2866037" y="3092546"/>
            <a:ext cx="201873" cy="18691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24" b="1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endParaRPr lang="zh-CN" altLang="en-US" sz="824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_024">
            <a:extLst>
              <a:ext uri="{FF2B5EF4-FFF2-40B4-BE49-F238E27FC236}">
                <a16:creationId xmlns:a16="http://schemas.microsoft.com/office/drawing/2014/main" id="{CB86C0B5-8E74-2124-ED29-A485D11AE4E6}"/>
              </a:ext>
            </a:extLst>
          </p:cNvPr>
          <p:cNvSpPr txBox="1"/>
          <p:nvPr/>
        </p:nvSpPr>
        <p:spPr>
          <a:xfrm>
            <a:off x="3142677" y="3047685"/>
            <a:ext cx="1779470" cy="21682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42" b="1">
                <a:solidFill>
                  <a:srgbClr val="181818"/>
                </a:solidFill>
                <a:latin typeface="Times New Roman" panose="02020603050405020304" pitchFamily="18" charset="0"/>
              </a:rPr>
              <a:t>Classical augmentation</a:t>
            </a:r>
            <a:endParaRPr lang="zh-CN" altLang="en-US" sz="942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_025">
            <a:extLst>
              <a:ext uri="{FF2B5EF4-FFF2-40B4-BE49-F238E27FC236}">
                <a16:creationId xmlns:a16="http://schemas.microsoft.com/office/drawing/2014/main" id="{2B252A5F-37E7-007A-B4A8-4C9A364ED5C4}"/>
              </a:ext>
            </a:extLst>
          </p:cNvPr>
          <p:cNvSpPr txBox="1"/>
          <p:nvPr/>
        </p:nvSpPr>
        <p:spPr>
          <a:xfrm>
            <a:off x="3142677" y="3279465"/>
            <a:ext cx="1891622" cy="19439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6">
                <a:solidFill>
                  <a:srgbClr val="181818"/>
                </a:solidFill>
                <a:latin typeface="Times New Roman" panose="02020603050405020304" pitchFamily="18" charset="0"/>
              </a:rPr>
              <a:t>Offline transformations</a:t>
            </a:r>
            <a:endParaRPr lang="zh-CN" altLang="en-US" sz="706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_026">
            <a:extLst>
              <a:ext uri="{FF2B5EF4-FFF2-40B4-BE49-F238E27FC236}">
                <a16:creationId xmlns:a16="http://schemas.microsoft.com/office/drawing/2014/main" id="{1D178CBB-69CF-3E69-A71F-8D92045AF066}"/>
              </a:ext>
            </a:extLst>
          </p:cNvPr>
          <p:cNvSpPr txBox="1"/>
          <p:nvPr/>
        </p:nvSpPr>
        <p:spPr>
          <a:xfrm>
            <a:off x="4952055" y="3062638"/>
            <a:ext cx="508420" cy="209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119">
                <a:solidFill>
                  <a:srgbClr val="202020"/>
                </a:solidFill>
                <a:latin typeface="Times New Roman" panose="02020603050405020304" pitchFamily="18" charset="0"/>
              </a:rPr>
              <a:t>1,085</a:t>
            </a:r>
            <a:endParaRPr lang="zh-CN" altLang="en-US" sz="1119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9" name="line_027">
            <a:extLst>
              <a:ext uri="{FF2B5EF4-FFF2-40B4-BE49-F238E27FC236}">
                <a16:creationId xmlns:a16="http://schemas.microsoft.com/office/drawing/2014/main" id="{94436D1B-F221-ECA3-263D-9AD361F6A89F}"/>
              </a:ext>
            </a:extLst>
          </p:cNvPr>
          <p:cNvCxnSpPr/>
          <p:nvPr/>
        </p:nvCxnSpPr>
        <p:spPr>
          <a:xfrm>
            <a:off x="3142677" y="3503768"/>
            <a:ext cx="2317798" cy="0"/>
          </a:xfrm>
          <a:prstGeom prst="line">
            <a:avLst/>
          </a:prstGeom>
          <a:ln w="3988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_028">
            <a:extLst>
              <a:ext uri="{FF2B5EF4-FFF2-40B4-BE49-F238E27FC236}">
                <a16:creationId xmlns:a16="http://schemas.microsoft.com/office/drawing/2014/main" id="{3CB5B80B-B34B-07AD-9619-D7748ABB4AC7}"/>
              </a:ext>
            </a:extLst>
          </p:cNvPr>
          <p:cNvCxnSpPr/>
          <p:nvPr/>
        </p:nvCxnSpPr>
        <p:spPr>
          <a:xfrm>
            <a:off x="5475429" y="3294419"/>
            <a:ext cx="179442" cy="0"/>
          </a:xfrm>
          <a:prstGeom prst="line">
            <a:avLst/>
          </a:prstGeom>
          <a:ln w="6646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_029">
            <a:extLst>
              <a:ext uri="{FF2B5EF4-FFF2-40B4-BE49-F238E27FC236}">
                <a16:creationId xmlns:a16="http://schemas.microsoft.com/office/drawing/2014/main" id="{F4701B81-EB04-7138-1823-C948D2A9DB55}"/>
              </a:ext>
            </a:extLst>
          </p:cNvPr>
          <p:cNvCxnSpPr/>
          <p:nvPr/>
        </p:nvCxnSpPr>
        <p:spPr>
          <a:xfrm>
            <a:off x="2626780" y="3855176"/>
            <a:ext cx="209350" cy="0"/>
          </a:xfrm>
          <a:prstGeom prst="line">
            <a:avLst/>
          </a:prstGeom>
          <a:ln w="6646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_030">
            <a:extLst>
              <a:ext uri="{FF2B5EF4-FFF2-40B4-BE49-F238E27FC236}">
                <a16:creationId xmlns:a16="http://schemas.microsoft.com/office/drawing/2014/main" id="{669D3D0B-1836-9A4B-BA76-1918C150E2AF}"/>
              </a:ext>
            </a:extLst>
          </p:cNvPr>
          <p:cNvSpPr/>
          <p:nvPr/>
        </p:nvSpPr>
        <p:spPr>
          <a:xfrm>
            <a:off x="2866037" y="3645827"/>
            <a:ext cx="201873" cy="201873"/>
          </a:xfrm>
          <a:prstGeom prst="rect">
            <a:avLst/>
          </a:prstGeom>
          <a:solidFill>
            <a:srgbClr val="6262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33" name="text_031">
            <a:extLst>
              <a:ext uri="{FF2B5EF4-FFF2-40B4-BE49-F238E27FC236}">
                <a16:creationId xmlns:a16="http://schemas.microsoft.com/office/drawing/2014/main" id="{0FB19089-D1FD-EEAC-DD3F-97B6F167D759}"/>
              </a:ext>
            </a:extLst>
          </p:cNvPr>
          <p:cNvSpPr txBox="1"/>
          <p:nvPr/>
        </p:nvSpPr>
        <p:spPr>
          <a:xfrm>
            <a:off x="2866037" y="3653304"/>
            <a:ext cx="201873" cy="18691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24" b="1">
                <a:solidFill>
                  <a:srgbClr val="FFFFFF"/>
                </a:solidFill>
                <a:latin typeface="Arial" panose="020B0604020202020204" pitchFamily="34" charset="0"/>
              </a:rPr>
              <a:t>C</a:t>
            </a:r>
            <a:endParaRPr lang="zh-CN" altLang="en-US" sz="824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_032">
            <a:extLst>
              <a:ext uri="{FF2B5EF4-FFF2-40B4-BE49-F238E27FC236}">
                <a16:creationId xmlns:a16="http://schemas.microsoft.com/office/drawing/2014/main" id="{B59ABA56-3A26-2B5C-42E3-EC0C588F0934}"/>
              </a:ext>
            </a:extLst>
          </p:cNvPr>
          <p:cNvSpPr txBox="1"/>
          <p:nvPr/>
        </p:nvSpPr>
        <p:spPr>
          <a:xfrm>
            <a:off x="3142677" y="3608442"/>
            <a:ext cx="1779470" cy="21682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42" b="1">
                <a:solidFill>
                  <a:srgbClr val="181818"/>
                </a:solidFill>
                <a:latin typeface="Times New Roman" panose="02020603050405020304" pitchFamily="18" charset="0"/>
              </a:rPr>
              <a:t>Image editing</a:t>
            </a:r>
            <a:endParaRPr lang="zh-CN" altLang="en-US" sz="942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_033">
            <a:extLst>
              <a:ext uri="{FF2B5EF4-FFF2-40B4-BE49-F238E27FC236}">
                <a16:creationId xmlns:a16="http://schemas.microsoft.com/office/drawing/2014/main" id="{D51441BB-3E57-3E84-F92E-0B3A598631E3}"/>
              </a:ext>
            </a:extLst>
          </p:cNvPr>
          <p:cNvSpPr txBox="1"/>
          <p:nvPr/>
        </p:nvSpPr>
        <p:spPr>
          <a:xfrm>
            <a:off x="3142677" y="3840223"/>
            <a:ext cx="1891622" cy="19439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6">
                <a:solidFill>
                  <a:srgbClr val="181818"/>
                </a:solidFill>
                <a:latin typeface="Times New Roman" panose="02020603050405020304" pitchFamily="18" charset="0"/>
              </a:rPr>
              <a:t>Reviewed synthetic images</a:t>
            </a:r>
            <a:endParaRPr lang="zh-CN" altLang="en-US" sz="706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_034">
            <a:extLst>
              <a:ext uri="{FF2B5EF4-FFF2-40B4-BE49-F238E27FC236}">
                <a16:creationId xmlns:a16="http://schemas.microsoft.com/office/drawing/2014/main" id="{C5FEEFF5-32F9-B22A-41F7-BA1520B82EEE}"/>
              </a:ext>
            </a:extLst>
          </p:cNvPr>
          <p:cNvSpPr txBox="1"/>
          <p:nvPr/>
        </p:nvSpPr>
        <p:spPr>
          <a:xfrm>
            <a:off x="4952055" y="3623396"/>
            <a:ext cx="508420" cy="209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119">
                <a:solidFill>
                  <a:srgbClr val="202020"/>
                </a:solidFill>
                <a:latin typeface="Times New Roman" panose="02020603050405020304" pitchFamily="18" charset="0"/>
              </a:rPr>
              <a:t>1,085</a:t>
            </a:r>
            <a:endParaRPr lang="zh-CN" altLang="en-US" sz="1119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7" name="line_035">
            <a:extLst>
              <a:ext uri="{FF2B5EF4-FFF2-40B4-BE49-F238E27FC236}">
                <a16:creationId xmlns:a16="http://schemas.microsoft.com/office/drawing/2014/main" id="{E970A517-A4F1-F512-B7E3-DB2C5BD401E5}"/>
              </a:ext>
            </a:extLst>
          </p:cNvPr>
          <p:cNvCxnSpPr/>
          <p:nvPr/>
        </p:nvCxnSpPr>
        <p:spPr>
          <a:xfrm>
            <a:off x="3142677" y="4064525"/>
            <a:ext cx="2317798" cy="0"/>
          </a:xfrm>
          <a:prstGeom prst="line">
            <a:avLst/>
          </a:prstGeom>
          <a:ln w="3988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ine_036">
            <a:extLst>
              <a:ext uri="{FF2B5EF4-FFF2-40B4-BE49-F238E27FC236}">
                <a16:creationId xmlns:a16="http://schemas.microsoft.com/office/drawing/2014/main" id="{E44EA8EE-923B-201F-7478-49783450556C}"/>
              </a:ext>
            </a:extLst>
          </p:cNvPr>
          <p:cNvCxnSpPr/>
          <p:nvPr/>
        </p:nvCxnSpPr>
        <p:spPr>
          <a:xfrm>
            <a:off x="5475429" y="3855176"/>
            <a:ext cx="179442" cy="0"/>
          </a:xfrm>
          <a:prstGeom prst="line">
            <a:avLst/>
          </a:prstGeom>
          <a:ln w="6646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ine_037">
            <a:extLst>
              <a:ext uri="{FF2B5EF4-FFF2-40B4-BE49-F238E27FC236}">
                <a16:creationId xmlns:a16="http://schemas.microsoft.com/office/drawing/2014/main" id="{42729D17-F9F7-35A0-7EDD-311C2785C1DF}"/>
              </a:ext>
            </a:extLst>
          </p:cNvPr>
          <p:cNvCxnSpPr/>
          <p:nvPr/>
        </p:nvCxnSpPr>
        <p:spPr>
          <a:xfrm>
            <a:off x="2626780" y="4415934"/>
            <a:ext cx="209350" cy="0"/>
          </a:xfrm>
          <a:prstGeom prst="line">
            <a:avLst/>
          </a:prstGeom>
          <a:ln w="6646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_038">
            <a:extLst>
              <a:ext uri="{FF2B5EF4-FFF2-40B4-BE49-F238E27FC236}">
                <a16:creationId xmlns:a16="http://schemas.microsoft.com/office/drawing/2014/main" id="{F9DADC99-9BEE-8864-422A-5ED0C6AB541B}"/>
              </a:ext>
            </a:extLst>
          </p:cNvPr>
          <p:cNvSpPr/>
          <p:nvPr/>
        </p:nvSpPr>
        <p:spPr>
          <a:xfrm>
            <a:off x="2866037" y="4206584"/>
            <a:ext cx="201873" cy="201872"/>
          </a:xfrm>
          <a:prstGeom prst="rect">
            <a:avLst/>
          </a:prstGeom>
          <a:solidFill>
            <a:srgbClr val="6262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41" name="text_039">
            <a:extLst>
              <a:ext uri="{FF2B5EF4-FFF2-40B4-BE49-F238E27FC236}">
                <a16:creationId xmlns:a16="http://schemas.microsoft.com/office/drawing/2014/main" id="{FCC9A780-154D-0C52-DFB0-BCD19D2DE617}"/>
              </a:ext>
            </a:extLst>
          </p:cNvPr>
          <p:cNvSpPr txBox="1"/>
          <p:nvPr/>
        </p:nvSpPr>
        <p:spPr>
          <a:xfrm>
            <a:off x="2866037" y="4214061"/>
            <a:ext cx="201873" cy="18691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24" b="1">
                <a:solidFill>
                  <a:srgbClr val="FFFFFF"/>
                </a:solidFill>
                <a:latin typeface="Arial" panose="020B0604020202020204" pitchFamily="34" charset="0"/>
              </a:rPr>
              <a:t>D</a:t>
            </a:r>
            <a:endParaRPr lang="zh-CN" altLang="en-US" sz="824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_040">
            <a:extLst>
              <a:ext uri="{FF2B5EF4-FFF2-40B4-BE49-F238E27FC236}">
                <a16:creationId xmlns:a16="http://schemas.microsoft.com/office/drawing/2014/main" id="{12B519DE-0C13-DD6E-0C70-272B4098CA2E}"/>
              </a:ext>
            </a:extLst>
          </p:cNvPr>
          <p:cNvSpPr txBox="1"/>
          <p:nvPr/>
        </p:nvSpPr>
        <p:spPr>
          <a:xfrm>
            <a:off x="3142677" y="4169200"/>
            <a:ext cx="1779470" cy="21682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42" b="1">
                <a:solidFill>
                  <a:srgbClr val="181818"/>
                </a:solidFill>
                <a:latin typeface="Times New Roman" panose="02020603050405020304" pitchFamily="18" charset="0"/>
              </a:rPr>
              <a:t>LoRA text-to-image</a:t>
            </a:r>
            <a:endParaRPr lang="zh-CN" altLang="en-US" sz="942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text_041">
            <a:extLst>
              <a:ext uri="{FF2B5EF4-FFF2-40B4-BE49-F238E27FC236}">
                <a16:creationId xmlns:a16="http://schemas.microsoft.com/office/drawing/2014/main" id="{381EFEFD-5DFB-436E-78F7-285D395FBC15}"/>
              </a:ext>
            </a:extLst>
          </p:cNvPr>
          <p:cNvSpPr txBox="1"/>
          <p:nvPr/>
        </p:nvSpPr>
        <p:spPr>
          <a:xfrm>
            <a:off x="3142677" y="4400980"/>
            <a:ext cx="1891622" cy="19439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6">
                <a:solidFill>
                  <a:srgbClr val="181818"/>
                </a:solidFill>
                <a:latin typeface="Times New Roman" panose="02020603050405020304" pitchFamily="18" charset="0"/>
              </a:rPr>
              <a:t>1,308 candidates; screening pending</a:t>
            </a:r>
            <a:endParaRPr lang="zh-CN" altLang="en-US" sz="706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_042">
            <a:extLst>
              <a:ext uri="{FF2B5EF4-FFF2-40B4-BE49-F238E27FC236}">
                <a16:creationId xmlns:a16="http://schemas.microsoft.com/office/drawing/2014/main" id="{FB611F42-183D-3524-9C88-651E06CAF186}"/>
              </a:ext>
            </a:extLst>
          </p:cNvPr>
          <p:cNvSpPr txBox="1"/>
          <p:nvPr/>
        </p:nvSpPr>
        <p:spPr>
          <a:xfrm>
            <a:off x="4952055" y="4184154"/>
            <a:ext cx="508420" cy="209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119">
                <a:solidFill>
                  <a:srgbClr val="202020"/>
                </a:solidFill>
                <a:latin typeface="Times New Roman" panose="02020603050405020304" pitchFamily="18" charset="0"/>
              </a:rPr>
              <a:t>1,085*</a:t>
            </a:r>
            <a:endParaRPr lang="zh-CN" altLang="en-US" sz="1119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5" name="line_043">
            <a:extLst>
              <a:ext uri="{FF2B5EF4-FFF2-40B4-BE49-F238E27FC236}">
                <a16:creationId xmlns:a16="http://schemas.microsoft.com/office/drawing/2014/main" id="{6A249F04-7852-6A03-6E7C-B662A8835203}"/>
              </a:ext>
            </a:extLst>
          </p:cNvPr>
          <p:cNvCxnSpPr/>
          <p:nvPr/>
        </p:nvCxnSpPr>
        <p:spPr>
          <a:xfrm>
            <a:off x="3142677" y="4625283"/>
            <a:ext cx="2317798" cy="0"/>
          </a:xfrm>
          <a:prstGeom prst="line">
            <a:avLst/>
          </a:prstGeom>
          <a:ln w="3988">
            <a:solidFill>
              <a:srgbClr val="BDBD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ine_044">
            <a:extLst>
              <a:ext uri="{FF2B5EF4-FFF2-40B4-BE49-F238E27FC236}">
                <a16:creationId xmlns:a16="http://schemas.microsoft.com/office/drawing/2014/main" id="{D66904AA-BD76-AD84-A37A-1BB95E8421E9}"/>
              </a:ext>
            </a:extLst>
          </p:cNvPr>
          <p:cNvCxnSpPr/>
          <p:nvPr/>
        </p:nvCxnSpPr>
        <p:spPr>
          <a:xfrm>
            <a:off x="5475429" y="4415934"/>
            <a:ext cx="179442" cy="0"/>
          </a:xfrm>
          <a:prstGeom prst="line">
            <a:avLst/>
          </a:prstGeom>
          <a:ln w="6646">
            <a:solidFill>
              <a:srgbClr val="6262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ne_045">
            <a:extLst>
              <a:ext uri="{FF2B5EF4-FFF2-40B4-BE49-F238E27FC236}">
                <a16:creationId xmlns:a16="http://schemas.microsoft.com/office/drawing/2014/main" id="{8566B294-06C5-347F-0377-56DDD7AA6371}"/>
              </a:ext>
            </a:extLst>
          </p:cNvPr>
          <p:cNvCxnSpPr/>
          <p:nvPr/>
        </p:nvCxnSpPr>
        <p:spPr>
          <a:xfrm>
            <a:off x="5654871" y="2733661"/>
            <a:ext cx="0" cy="1682273"/>
          </a:xfrm>
          <a:prstGeom prst="line">
            <a:avLst/>
          </a:prstGeom>
          <a:ln w="576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ne_046">
            <a:extLst>
              <a:ext uri="{FF2B5EF4-FFF2-40B4-BE49-F238E27FC236}">
                <a16:creationId xmlns:a16="http://schemas.microsoft.com/office/drawing/2014/main" id="{E79A1757-ABAE-AEA9-718E-6144053BADA2}"/>
              </a:ext>
            </a:extLst>
          </p:cNvPr>
          <p:cNvCxnSpPr/>
          <p:nvPr/>
        </p:nvCxnSpPr>
        <p:spPr>
          <a:xfrm>
            <a:off x="5654871" y="3473861"/>
            <a:ext cx="194396" cy="0"/>
          </a:xfrm>
          <a:prstGeom prst="line">
            <a:avLst/>
          </a:prstGeom>
          <a:ln w="6646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_047">
            <a:extLst>
              <a:ext uri="{FF2B5EF4-FFF2-40B4-BE49-F238E27FC236}">
                <a16:creationId xmlns:a16="http://schemas.microsoft.com/office/drawing/2014/main" id="{C745119B-BDB9-B6E7-BDB9-E67F3DC0E95A}"/>
              </a:ext>
            </a:extLst>
          </p:cNvPr>
          <p:cNvSpPr txBox="1"/>
          <p:nvPr/>
        </p:nvSpPr>
        <p:spPr>
          <a:xfrm>
            <a:off x="5886651" y="2457020"/>
            <a:ext cx="1831808" cy="1719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765" b="1">
                <a:solidFill>
                  <a:srgbClr val="181818"/>
                </a:solidFill>
                <a:latin typeface="Arial" panose="020B0604020202020204" pitchFamily="34" charset="0"/>
              </a:rPr>
              <a:t>Six detectors per arm</a:t>
            </a:r>
            <a:endParaRPr lang="zh-CN" altLang="en-US" sz="765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0" name="text_048">
            <a:extLst>
              <a:ext uri="{FF2B5EF4-FFF2-40B4-BE49-F238E27FC236}">
                <a16:creationId xmlns:a16="http://schemas.microsoft.com/office/drawing/2014/main" id="{8CA3962A-1850-6BEC-EA17-98A34C7F621B}"/>
              </a:ext>
            </a:extLst>
          </p:cNvPr>
          <p:cNvSpPr txBox="1"/>
          <p:nvPr/>
        </p:nvSpPr>
        <p:spPr>
          <a:xfrm>
            <a:off x="5983849" y="2733661"/>
            <a:ext cx="942072" cy="1719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48" b="1">
                <a:solidFill>
                  <a:srgbClr val="181818"/>
                </a:solidFill>
                <a:latin typeface="Arial" panose="020B0604020202020204" pitchFamily="34" charset="0"/>
              </a:rPr>
              <a:t>Model family</a:t>
            </a:r>
            <a:endParaRPr lang="zh-CN" altLang="en-US" sz="648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1" name="text_049">
            <a:extLst>
              <a:ext uri="{FF2B5EF4-FFF2-40B4-BE49-F238E27FC236}">
                <a16:creationId xmlns:a16="http://schemas.microsoft.com/office/drawing/2014/main" id="{E49706AE-BB83-2486-5A8B-F328C1F539B9}"/>
              </a:ext>
            </a:extLst>
          </p:cNvPr>
          <p:cNvSpPr txBox="1"/>
          <p:nvPr/>
        </p:nvSpPr>
        <p:spPr>
          <a:xfrm>
            <a:off x="7060504" y="2733661"/>
            <a:ext cx="239256" cy="1719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765" b="1">
                <a:solidFill>
                  <a:srgbClr val="181818"/>
                </a:solidFill>
                <a:latin typeface="Arial" panose="020B0604020202020204" pitchFamily="34" charset="0"/>
              </a:rPr>
              <a:t>s</a:t>
            </a:r>
            <a:endParaRPr lang="zh-CN" altLang="en-US" sz="765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2" name="text_050">
            <a:extLst>
              <a:ext uri="{FF2B5EF4-FFF2-40B4-BE49-F238E27FC236}">
                <a16:creationId xmlns:a16="http://schemas.microsoft.com/office/drawing/2014/main" id="{DC12B3CE-31D4-AF01-D935-5D0CF589521C}"/>
              </a:ext>
            </a:extLst>
          </p:cNvPr>
          <p:cNvSpPr txBox="1"/>
          <p:nvPr/>
        </p:nvSpPr>
        <p:spPr>
          <a:xfrm>
            <a:off x="7479202" y="2733661"/>
            <a:ext cx="239256" cy="1719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765" b="1">
                <a:solidFill>
                  <a:srgbClr val="181818"/>
                </a:solidFill>
                <a:latin typeface="Arial" panose="020B0604020202020204" pitchFamily="34" charset="0"/>
              </a:rPr>
              <a:t>m</a:t>
            </a:r>
            <a:endParaRPr lang="zh-CN" altLang="en-US" sz="765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53" name="line_051">
            <a:extLst>
              <a:ext uri="{FF2B5EF4-FFF2-40B4-BE49-F238E27FC236}">
                <a16:creationId xmlns:a16="http://schemas.microsoft.com/office/drawing/2014/main" id="{D9412A26-F23B-AC97-E0D5-C02F3D46C4B8}"/>
              </a:ext>
            </a:extLst>
          </p:cNvPr>
          <p:cNvCxnSpPr/>
          <p:nvPr/>
        </p:nvCxnSpPr>
        <p:spPr>
          <a:xfrm>
            <a:off x="5961419" y="2943010"/>
            <a:ext cx="1779470" cy="0"/>
          </a:xfrm>
          <a:prstGeom prst="line">
            <a:avLst/>
          </a:prstGeom>
          <a:ln w="576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_052">
            <a:extLst>
              <a:ext uri="{FF2B5EF4-FFF2-40B4-BE49-F238E27FC236}">
                <a16:creationId xmlns:a16="http://schemas.microsoft.com/office/drawing/2014/main" id="{65977306-A631-1664-53D2-A1B9A031B28A}"/>
              </a:ext>
            </a:extLst>
          </p:cNvPr>
          <p:cNvSpPr txBox="1"/>
          <p:nvPr/>
        </p:nvSpPr>
        <p:spPr>
          <a:xfrm>
            <a:off x="5983849" y="3010301"/>
            <a:ext cx="1031794" cy="20187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42">
                <a:solidFill>
                  <a:srgbClr val="181818"/>
                </a:solidFill>
                <a:latin typeface="Times New Roman" panose="02020603050405020304" pitchFamily="18" charset="0"/>
              </a:rPr>
              <a:t>YOLOv8</a:t>
            </a:r>
            <a:endParaRPr lang="zh-CN" altLang="en-US" sz="94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ellipse_053">
            <a:extLst>
              <a:ext uri="{FF2B5EF4-FFF2-40B4-BE49-F238E27FC236}">
                <a16:creationId xmlns:a16="http://schemas.microsoft.com/office/drawing/2014/main" id="{1EDF87D8-9DD4-9C9D-3EB7-0880B3717A66}"/>
              </a:ext>
            </a:extLst>
          </p:cNvPr>
          <p:cNvSpPr/>
          <p:nvPr/>
        </p:nvSpPr>
        <p:spPr>
          <a:xfrm>
            <a:off x="7142748" y="3077593"/>
            <a:ext cx="59814" cy="59813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56" name="ellipse_054">
            <a:extLst>
              <a:ext uri="{FF2B5EF4-FFF2-40B4-BE49-F238E27FC236}">
                <a16:creationId xmlns:a16="http://schemas.microsoft.com/office/drawing/2014/main" id="{3AEDAC78-377E-1E67-A6EC-EE29A1A2C5F0}"/>
              </a:ext>
            </a:extLst>
          </p:cNvPr>
          <p:cNvSpPr/>
          <p:nvPr/>
        </p:nvSpPr>
        <p:spPr>
          <a:xfrm>
            <a:off x="7561447" y="3077593"/>
            <a:ext cx="59814" cy="59813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cxnSp>
        <p:nvCxnSpPr>
          <p:cNvPr id="57" name="line_055">
            <a:extLst>
              <a:ext uri="{FF2B5EF4-FFF2-40B4-BE49-F238E27FC236}">
                <a16:creationId xmlns:a16="http://schemas.microsoft.com/office/drawing/2014/main" id="{691CF40A-6DD5-CEC9-4582-8F3BB7485442}"/>
              </a:ext>
            </a:extLst>
          </p:cNvPr>
          <p:cNvCxnSpPr/>
          <p:nvPr/>
        </p:nvCxnSpPr>
        <p:spPr>
          <a:xfrm>
            <a:off x="5961419" y="3249558"/>
            <a:ext cx="1779470" cy="0"/>
          </a:xfrm>
          <a:prstGeom prst="line">
            <a:avLst/>
          </a:prstGeom>
          <a:ln w="354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_056">
            <a:extLst>
              <a:ext uri="{FF2B5EF4-FFF2-40B4-BE49-F238E27FC236}">
                <a16:creationId xmlns:a16="http://schemas.microsoft.com/office/drawing/2014/main" id="{8473E2CC-8341-5593-8C0E-571E9840D35A}"/>
              </a:ext>
            </a:extLst>
          </p:cNvPr>
          <p:cNvSpPr txBox="1"/>
          <p:nvPr/>
        </p:nvSpPr>
        <p:spPr>
          <a:xfrm>
            <a:off x="5983849" y="3294419"/>
            <a:ext cx="1031794" cy="20187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42">
                <a:solidFill>
                  <a:srgbClr val="181818"/>
                </a:solidFill>
                <a:latin typeface="Times New Roman" panose="02020603050405020304" pitchFamily="18" charset="0"/>
              </a:rPr>
              <a:t>YOLO11</a:t>
            </a:r>
            <a:endParaRPr lang="zh-CN" altLang="en-US" sz="94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ellipse_057">
            <a:extLst>
              <a:ext uri="{FF2B5EF4-FFF2-40B4-BE49-F238E27FC236}">
                <a16:creationId xmlns:a16="http://schemas.microsoft.com/office/drawing/2014/main" id="{5FDEBB49-CA42-D3EE-547A-7831CBD16E58}"/>
              </a:ext>
            </a:extLst>
          </p:cNvPr>
          <p:cNvSpPr/>
          <p:nvPr/>
        </p:nvSpPr>
        <p:spPr>
          <a:xfrm>
            <a:off x="7142748" y="3361710"/>
            <a:ext cx="59814" cy="59814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0" name="ellipse_058">
            <a:extLst>
              <a:ext uri="{FF2B5EF4-FFF2-40B4-BE49-F238E27FC236}">
                <a16:creationId xmlns:a16="http://schemas.microsoft.com/office/drawing/2014/main" id="{6343848A-425E-DC5D-7FC5-12624068D66D}"/>
              </a:ext>
            </a:extLst>
          </p:cNvPr>
          <p:cNvSpPr/>
          <p:nvPr/>
        </p:nvSpPr>
        <p:spPr>
          <a:xfrm>
            <a:off x="7561447" y="3361710"/>
            <a:ext cx="59814" cy="59814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cxnSp>
        <p:nvCxnSpPr>
          <p:cNvPr id="61" name="line_059">
            <a:extLst>
              <a:ext uri="{FF2B5EF4-FFF2-40B4-BE49-F238E27FC236}">
                <a16:creationId xmlns:a16="http://schemas.microsoft.com/office/drawing/2014/main" id="{9F83AF12-5D46-255A-3A5C-EB1C16A8DB53}"/>
              </a:ext>
            </a:extLst>
          </p:cNvPr>
          <p:cNvCxnSpPr/>
          <p:nvPr/>
        </p:nvCxnSpPr>
        <p:spPr>
          <a:xfrm>
            <a:off x="5961419" y="3533675"/>
            <a:ext cx="1779470" cy="0"/>
          </a:xfrm>
          <a:prstGeom prst="line">
            <a:avLst/>
          </a:prstGeom>
          <a:ln w="354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_060">
            <a:extLst>
              <a:ext uri="{FF2B5EF4-FFF2-40B4-BE49-F238E27FC236}">
                <a16:creationId xmlns:a16="http://schemas.microsoft.com/office/drawing/2014/main" id="{79909878-F96A-8444-43C3-27E580383E43}"/>
              </a:ext>
            </a:extLst>
          </p:cNvPr>
          <p:cNvSpPr txBox="1"/>
          <p:nvPr/>
        </p:nvSpPr>
        <p:spPr>
          <a:xfrm>
            <a:off x="5983849" y="3578536"/>
            <a:ext cx="1031794" cy="20187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42">
                <a:solidFill>
                  <a:srgbClr val="181818"/>
                </a:solidFill>
                <a:latin typeface="Times New Roman" panose="02020603050405020304" pitchFamily="18" charset="0"/>
              </a:rPr>
              <a:t>YOLO26</a:t>
            </a:r>
            <a:endParaRPr lang="zh-CN" altLang="en-US" sz="94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ellipse_061">
            <a:extLst>
              <a:ext uri="{FF2B5EF4-FFF2-40B4-BE49-F238E27FC236}">
                <a16:creationId xmlns:a16="http://schemas.microsoft.com/office/drawing/2014/main" id="{64F65103-4E3A-FDDD-099D-ABCC90E4D681}"/>
              </a:ext>
            </a:extLst>
          </p:cNvPr>
          <p:cNvSpPr/>
          <p:nvPr/>
        </p:nvSpPr>
        <p:spPr>
          <a:xfrm>
            <a:off x="7142748" y="3645827"/>
            <a:ext cx="59814" cy="59814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4" name="ellipse_062">
            <a:extLst>
              <a:ext uri="{FF2B5EF4-FFF2-40B4-BE49-F238E27FC236}">
                <a16:creationId xmlns:a16="http://schemas.microsoft.com/office/drawing/2014/main" id="{3E23E9FF-94F2-E558-BF31-F6713498B615}"/>
              </a:ext>
            </a:extLst>
          </p:cNvPr>
          <p:cNvSpPr/>
          <p:nvPr/>
        </p:nvSpPr>
        <p:spPr>
          <a:xfrm>
            <a:off x="7561447" y="3645827"/>
            <a:ext cx="59814" cy="59814"/>
          </a:xfrm>
          <a:prstGeom prst="ellipse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cxnSp>
        <p:nvCxnSpPr>
          <p:cNvPr id="65" name="line_063">
            <a:extLst>
              <a:ext uri="{FF2B5EF4-FFF2-40B4-BE49-F238E27FC236}">
                <a16:creationId xmlns:a16="http://schemas.microsoft.com/office/drawing/2014/main" id="{70958D62-8319-F255-0A24-1BF5116CD87B}"/>
              </a:ext>
            </a:extLst>
          </p:cNvPr>
          <p:cNvCxnSpPr/>
          <p:nvPr/>
        </p:nvCxnSpPr>
        <p:spPr>
          <a:xfrm>
            <a:off x="5961419" y="3817792"/>
            <a:ext cx="1779470" cy="0"/>
          </a:xfrm>
          <a:prstGeom prst="line">
            <a:avLst/>
          </a:prstGeom>
          <a:ln w="354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ine_064">
            <a:extLst>
              <a:ext uri="{FF2B5EF4-FFF2-40B4-BE49-F238E27FC236}">
                <a16:creationId xmlns:a16="http://schemas.microsoft.com/office/drawing/2014/main" id="{39D536DC-A769-C013-A07B-33325A197DA7}"/>
              </a:ext>
            </a:extLst>
          </p:cNvPr>
          <p:cNvCxnSpPr/>
          <p:nvPr/>
        </p:nvCxnSpPr>
        <p:spPr>
          <a:xfrm>
            <a:off x="6843676" y="3840223"/>
            <a:ext cx="0" cy="149535"/>
          </a:xfrm>
          <a:prstGeom prst="line">
            <a:avLst/>
          </a:prstGeom>
          <a:ln w="6646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_065">
            <a:extLst>
              <a:ext uri="{FF2B5EF4-FFF2-40B4-BE49-F238E27FC236}">
                <a16:creationId xmlns:a16="http://schemas.microsoft.com/office/drawing/2014/main" id="{35083C84-6FF7-A3B2-2DBC-9462836C5FE7}"/>
              </a:ext>
            </a:extLst>
          </p:cNvPr>
          <p:cNvSpPr txBox="1"/>
          <p:nvPr/>
        </p:nvSpPr>
        <p:spPr>
          <a:xfrm>
            <a:off x="5983849" y="4042095"/>
            <a:ext cx="1764517" cy="209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1" b="1">
                <a:solidFill>
                  <a:srgbClr val="181818"/>
                </a:solidFill>
                <a:latin typeface="Times New Roman" panose="02020603050405020304" pitchFamily="18" charset="0"/>
              </a:rPr>
              <a:t>300 epochs per run</a:t>
            </a:r>
            <a:endParaRPr lang="zh-CN" altLang="en-US" sz="1001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text_066">
            <a:extLst>
              <a:ext uri="{FF2B5EF4-FFF2-40B4-BE49-F238E27FC236}">
                <a16:creationId xmlns:a16="http://schemas.microsoft.com/office/drawing/2014/main" id="{28A2F7A4-29C8-DE32-2218-80A78D426867}"/>
              </a:ext>
            </a:extLst>
          </p:cNvPr>
          <p:cNvSpPr txBox="1"/>
          <p:nvPr/>
        </p:nvSpPr>
        <p:spPr>
          <a:xfrm>
            <a:off x="5953941" y="4296304"/>
            <a:ext cx="1831808" cy="32150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24">
                <a:solidFill>
                  <a:srgbClr val="181818"/>
                </a:solidFill>
                <a:latin typeface="Times New Roman" panose="02020603050405020304" pitchFamily="18" charset="0"/>
              </a:rPr>
              <a:t>Checkpoints every 10 epochs
and final last.pt</a:t>
            </a:r>
            <a:endParaRPr lang="zh-CN" altLang="en-US" sz="824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9" name="line_067">
            <a:extLst>
              <a:ext uri="{FF2B5EF4-FFF2-40B4-BE49-F238E27FC236}">
                <a16:creationId xmlns:a16="http://schemas.microsoft.com/office/drawing/2014/main" id="{02DE6E24-069A-3CFA-E23D-27CD1AC42446}"/>
              </a:ext>
            </a:extLst>
          </p:cNvPr>
          <p:cNvCxnSpPr/>
          <p:nvPr/>
        </p:nvCxnSpPr>
        <p:spPr>
          <a:xfrm>
            <a:off x="7778273" y="4393503"/>
            <a:ext cx="224303" cy="0"/>
          </a:xfrm>
          <a:prstGeom prst="line">
            <a:avLst/>
          </a:prstGeom>
          <a:ln w="620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ne_068">
            <a:extLst>
              <a:ext uri="{FF2B5EF4-FFF2-40B4-BE49-F238E27FC236}">
                <a16:creationId xmlns:a16="http://schemas.microsoft.com/office/drawing/2014/main" id="{F46E71DE-5388-067A-3072-3FF51FD0C442}"/>
              </a:ext>
            </a:extLst>
          </p:cNvPr>
          <p:cNvCxnSpPr/>
          <p:nvPr/>
        </p:nvCxnSpPr>
        <p:spPr>
          <a:xfrm flipV="1">
            <a:off x="8002575" y="2987871"/>
            <a:ext cx="0" cy="1405633"/>
          </a:xfrm>
          <a:prstGeom prst="line">
            <a:avLst/>
          </a:prstGeom>
          <a:ln w="620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ne_069">
            <a:extLst>
              <a:ext uri="{FF2B5EF4-FFF2-40B4-BE49-F238E27FC236}">
                <a16:creationId xmlns:a16="http://schemas.microsoft.com/office/drawing/2014/main" id="{8B38DC5D-3462-EE9B-634A-F8CDC7AC0513}"/>
              </a:ext>
            </a:extLst>
          </p:cNvPr>
          <p:cNvCxnSpPr/>
          <p:nvPr/>
        </p:nvCxnSpPr>
        <p:spPr>
          <a:xfrm>
            <a:off x="8002576" y="2987871"/>
            <a:ext cx="351408" cy="0"/>
          </a:xfrm>
          <a:prstGeom prst="line">
            <a:avLst/>
          </a:prstGeom>
          <a:ln w="6203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_070">
            <a:extLst>
              <a:ext uri="{FF2B5EF4-FFF2-40B4-BE49-F238E27FC236}">
                <a16:creationId xmlns:a16="http://schemas.microsoft.com/office/drawing/2014/main" id="{E0574774-A342-4844-1FA8-1D6C2D9134C4}"/>
              </a:ext>
            </a:extLst>
          </p:cNvPr>
          <p:cNvSpPr/>
          <p:nvPr/>
        </p:nvSpPr>
        <p:spPr>
          <a:xfrm>
            <a:off x="8226878" y="2471974"/>
            <a:ext cx="2661729" cy="358885"/>
          </a:xfrm>
          <a:prstGeom prst="rect">
            <a:avLst/>
          </a:prstGeom>
          <a:solidFill>
            <a:srgbClr val="F3F3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73" name="text_071">
            <a:extLst>
              <a:ext uri="{FF2B5EF4-FFF2-40B4-BE49-F238E27FC236}">
                <a16:creationId xmlns:a16="http://schemas.microsoft.com/office/drawing/2014/main" id="{3E0C4ADE-4590-2BB0-3E5A-F135E061E943}"/>
              </a:ext>
            </a:extLst>
          </p:cNvPr>
          <p:cNvSpPr txBox="1"/>
          <p:nvPr/>
        </p:nvSpPr>
        <p:spPr>
          <a:xfrm>
            <a:off x="8309124" y="2516835"/>
            <a:ext cx="530850" cy="21682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77" b="1">
                <a:solidFill>
                  <a:srgbClr val="181818"/>
                </a:solidFill>
                <a:latin typeface="Times New Roman" panose="02020603050405020304" pitchFamily="18" charset="0"/>
              </a:rPr>
              <a:t>dev61</a:t>
            </a:r>
            <a:endParaRPr lang="zh-CN" altLang="en-US" sz="1177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text_072">
            <a:extLst>
              <a:ext uri="{FF2B5EF4-FFF2-40B4-BE49-F238E27FC236}">
                <a16:creationId xmlns:a16="http://schemas.microsoft.com/office/drawing/2014/main" id="{F8C8F6F2-6660-9B4E-2F7C-615F5148FFB2}"/>
              </a:ext>
            </a:extLst>
          </p:cNvPr>
          <p:cNvSpPr txBox="1"/>
          <p:nvPr/>
        </p:nvSpPr>
        <p:spPr>
          <a:xfrm>
            <a:off x="8899788" y="2501881"/>
            <a:ext cx="1906575" cy="24673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6">
                <a:solidFill>
                  <a:srgbClr val="181818"/>
                </a:solidFill>
                <a:latin typeface="Times New Roman" panose="02020603050405020304" pitchFamily="18" charset="0"/>
              </a:rPr>
              <a:t>61 development images
Excluded from detector training</a:t>
            </a:r>
            <a:endParaRPr lang="zh-CN" altLang="en-US" sz="706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5" name="line_073">
            <a:extLst>
              <a:ext uri="{FF2B5EF4-FFF2-40B4-BE49-F238E27FC236}">
                <a16:creationId xmlns:a16="http://schemas.microsoft.com/office/drawing/2014/main" id="{C4EB2AD4-ABD4-3C8B-16FB-7D6954AD1EAA}"/>
              </a:ext>
            </a:extLst>
          </p:cNvPr>
          <p:cNvCxnSpPr/>
          <p:nvPr/>
        </p:nvCxnSpPr>
        <p:spPr>
          <a:xfrm>
            <a:off x="9557743" y="2830859"/>
            <a:ext cx="0" cy="157012"/>
          </a:xfrm>
          <a:prstGeom prst="line">
            <a:avLst/>
          </a:prstGeom>
          <a:ln w="6646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ine_074">
            <a:extLst>
              <a:ext uri="{FF2B5EF4-FFF2-40B4-BE49-F238E27FC236}">
                <a16:creationId xmlns:a16="http://schemas.microsoft.com/office/drawing/2014/main" id="{9874EEFC-B7C3-5C5A-549D-1CE86136197B}"/>
              </a:ext>
            </a:extLst>
          </p:cNvPr>
          <p:cNvCxnSpPr/>
          <p:nvPr/>
        </p:nvCxnSpPr>
        <p:spPr>
          <a:xfrm flipH="1">
            <a:off x="8353984" y="2987871"/>
            <a:ext cx="1203760" cy="0"/>
          </a:xfrm>
          <a:prstGeom prst="line">
            <a:avLst/>
          </a:prstGeom>
          <a:ln w="6646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line_075">
            <a:extLst>
              <a:ext uri="{FF2B5EF4-FFF2-40B4-BE49-F238E27FC236}">
                <a16:creationId xmlns:a16="http://schemas.microsoft.com/office/drawing/2014/main" id="{946E5247-914A-1ACC-3800-EA5C5338E7E5}"/>
              </a:ext>
            </a:extLst>
          </p:cNvPr>
          <p:cNvCxnSpPr/>
          <p:nvPr/>
        </p:nvCxnSpPr>
        <p:spPr>
          <a:xfrm>
            <a:off x="8353984" y="2987871"/>
            <a:ext cx="0" cy="1420586"/>
          </a:xfrm>
          <a:prstGeom prst="line">
            <a:avLst/>
          </a:prstGeom>
          <a:ln w="6646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line_076">
            <a:extLst>
              <a:ext uri="{FF2B5EF4-FFF2-40B4-BE49-F238E27FC236}">
                <a16:creationId xmlns:a16="http://schemas.microsoft.com/office/drawing/2014/main" id="{3F0CB238-A50D-162C-F12B-85A458128A96}"/>
              </a:ext>
            </a:extLst>
          </p:cNvPr>
          <p:cNvCxnSpPr/>
          <p:nvPr/>
        </p:nvCxnSpPr>
        <p:spPr>
          <a:xfrm>
            <a:off x="8353984" y="3257034"/>
            <a:ext cx="186919" cy="0"/>
          </a:xfrm>
          <a:prstGeom prst="line">
            <a:avLst/>
          </a:prstGeom>
          <a:ln w="6646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_077">
            <a:extLst>
              <a:ext uri="{FF2B5EF4-FFF2-40B4-BE49-F238E27FC236}">
                <a16:creationId xmlns:a16="http://schemas.microsoft.com/office/drawing/2014/main" id="{2488E5F6-0AD2-F7FD-CC23-9280F6832588}"/>
              </a:ext>
            </a:extLst>
          </p:cNvPr>
          <p:cNvSpPr txBox="1"/>
          <p:nvPr/>
        </p:nvSpPr>
        <p:spPr>
          <a:xfrm>
            <a:off x="8608194" y="3137406"/>
            <a:ext cx="2280414" cy="20187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01" b="1">
                <a:solidFill>
                  <a:srgbClr val="181818"/>
                </a:solidFill>
                <a:latin typeface="Times New Roman" panose="02020603050405020304" pitchFamily="18" charset="0"/>
              </a:rPr>
              <a:t>Fixed endpoint</a:t>
            </a:r>
            <a:endParaRPr lang="zh-CN" altLang="en-US" sz="1001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text_078">
            <a:extLst>
              <a:ext uri="{FF2B5EF4-FFF2-40B4-BE49-F238E27FC236}">
                <a16:creationId xmlns:a16="http://schemas.microsoft.com/office/drawing/2014/main" id="{327FB246-136F-5E84-EF67-1013087EDCAD}"/>
              </a:ext>
            </a:extLst>
          </p:cNvPr>
          <p:cNvSpPr txBox="1"/>
          <p:nvPr/>
        </p:nvSpPr>
        <p:spPr>
          <a:xfrm>
            <a:off x="8608194" y="3361709"/>
            <a:ext cx="2280414" cy="1719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65">
                <a:solidFill>
                  <a:srgbClr val="181818"/>
                </a:solidFill>
                <a:latin typeface="Times New Roman" panose="02020603050405020304" pitchFamily="18" charset="0"/>
              </a:rPr>
              <a:t>last.pt evaluated on dev61</a:t>
            </a:r>
            <a:endParaRPr lang="zh-CN" altLang="en-US" sz="765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1" name="line_079">
            <a:extLst>
              <a:ext uri="{FF2B5EF4-FFF2-40B4-BE49-F238E27FC236}">
                <a16:creationId xmlns:a16="http://schemas.microsoft.com/office/drawing/2014/main" id="{81B44619-7679-922B-A1CF-39A928EA1A7D}"/>
              </a:ext>
            </a:extLst>
          </p:cNvPr>
          <p:cNvCxnSpPr/>
          <p:nvPr/>
        </p:nvCxnSpPr>
        <p:spPr>
          <a:xfrm>
            <a:off x="8353984" y="3802839"/>
            <a:ext cx="186919" cy="0"/>
          </a:xfrm>
          <a:prstGeom prst="line">
            <a:avLst/>
          </a:prstGeom>
          <a:ln w="6646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_080">
            <a:extLst>
              <a:ext uri="{FF2B5EF4-FFF2-40B4-BE49-F238E27FC236}">
                <a16:creationId xmlns:a16="http://schemas.microsoft.com/office/drawing/2014/main" id="{EA0DD899-D674-06E3-C355-0E52DDDAC3DF}"/>
              </a:ext>
            </a:extLst>
          </p:cNvPr>
          <p:cNvSpPr txBox="1"/>
          <p:nvPr/>
        </p:nvSpPr>
        <p:spPr>
          <a:xfrm>
            <a:off x="8608194" y="3683211"/>
            <a:ext cx="2280414" cy="20187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01" b="1">
                <a:solidFill>
                  <a:srgbClr val="181818"/>
                </a:solidFill>
                <a:latin typeface="Times New Roman" panose="02020603050405020304" pitchFamily="18" charset="0"/>
              </a:rPr>
              <a:t>Five-fold cross-fitting</a:t>
            </a:r>
            <a:endParaRPr lang="zh-CN" altLang="en-US" sz="1001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text_081">
            <a:extLst>
              <a:ext uri="{FF2B5EF4-FFF2-40B4-BE49-F238E27FC236}">
                <a16:creationId xmlns:a16="http://schemas.microsoft.com/office/drawing/2014/main" id="{743F8A48-B6CC-ACA2-590D-D49E11C8C665}"/>
              </a:ext>
            </a:extLst>
          </p:cNvPr>
          <p:cNvSpPr txBox="1"/>
          <p:nvPr/>
        </p:nvSpPr>
        <p:spPr>
          <a:xfrm>
            <a:off x="8608194" y="3907514"/>
            <a:ext cx="2280414" cy="1719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65">
                <a:solidFill>
                  <a:srgbClr val="181818"/>
                </a:solidFill>
                <a:latin typeface="Times New Roman" panose="02020603050405020304" pitchFamily="18" charset="0"/>
              </a:rPr>
              <a:t>Joint model + checkpoint; pooled OOF</a:t>
            </a:r>
            <a:endParaRPr lang="zh-CN" altLang="en-US" sz="765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" name="text_082">
            <a:extLst>
              <a:ext uri="{FF2B5EF4-FFF2-40B4-BE49-F238E27FC236}">
                <a16:creationId xmlns:a16="http://schemas.microsoft.com/office/drawing/2014/main" id="{A85897A9-6FDC-3AFE-ED58-0CA86556F7C1}"/>
              </a:ext>
            </a:extLst>
          </p:cNvPr>
          <p:cNvSpPr txBox="1"/>
          <p:nvPr/>
        </p:nvSpPr>
        <p:spPr>
          <a:xfrm>
            <a:off x="8608194" y="4064525"/>
            <a:ext cx="2280414" cy="1719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06">
                <a:solidFill>
                  <a:srgbClr val="181818"/>
                </a:solidFill>
                <a:latin typeface="Times New Roman" panose="02020603050405020304" pitchFamily="18" charset="0"/>
              </a:rPr>
              <a:t>Paired bootstrap: 10,000 resamples</a:t>
            </a:r>
            <a:endParaRPr lang="zh-CN" altLang="en-US" sz="706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5" name="line_083">
            <a:extLst>
              <a:ext uri="{FF2B5EF4-FFF2-40B4-BE49-F238E27FC236}">
                <a16:creationId xmlns:a16="http://schemas.microsoft.com/office/drawing/2014/main" id="{0FCDF265-ED57-DD29-4FFC-21FBEFD02BF5}"/>
              </a:ext>
            </a:extLst>
          </p:cNvPr>
          <p:cNvCxnSpPr/>
          <p:nvPr/>
        </p:nvCxnSpPr>
        <p:spPr>
          <a:xfrm>
            <a:off x="8353984" y="4408456"/>
            <a:ext cx="186919" cy="0"/>
          </a:xfrm>
          <a:prstGeom prst="line">
            <a:avLst/>
          </a:prstGeom>
          <a:ln w="6646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_084">
            <a:extLst>
              <a:ext uri="{FF2B5EF4-FFF2-40B4-BE49-F238E27FC236}">
                <a16:creationId xmlns:a16="http://schemas.microsoft.com/office/drawing/2014/main" id="{38E7DEB5-60AB-E40E-2A45-73565E47C895}"/>
              </a:ext>
            </a:extLst>
          </p:cNvPr>
          <p:cNvSpPr txBox="1"/>
          <p:nvPr/>
        </p:nvSpPr>
        <p:spPr>
          <a:xfrm>
            <a:off x="8608194" y="4288829"/>
            <a:ext cx="2280414" cy="20187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01" b="1">
                <a:solidFill>
                  <a:srgbClr val="181818"/>
                </a:solidFill>
                <a:latin typeface="Times New Roman" panose="02020603050405020304" pitchFamily="18" charset="0"/>
              </a:rPr>
              <a:t>Deployment selection</a:t>
            </a:r>
            <a:endParaRPr lang="zh-CN" altLang="en-US" sz="1001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" name="text_085">
            <a:extLst>
              <a:ext uri="{FF2B5EF4-FFF2-40B4-BE49-F238E27FC236}">
                <a16:creationId xmlns:a16="http://schemas.microsoft.com/office/drawing/2014/main" id="{DA19E530-C113-2D26-1AA9-4B602C387AEB}"/>
              </a:ext>
            </a:extLst>
          </p:cNvPr>
          <p:cNvSpPr txBox="1"/>
          <p:nvPr/>
        </p:nvSpPr>
        <p:spPr>
          <a:xfrm>
            <a:off x="8608194" y="4513131"/>
            <a:ext cx="2280414" cy="1719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65">
                <a:solidFill>
                  <a:srgbClr val="181818"/>
                </a:solidFill>
                <a:latin typeface="Times New Roman" panose="02020603050405020304" pitchFamily="18" charset="0"/>
              </a:rPr>
              <a:t>All dev61; development score</a:t>
            </a:r>
            <a:endParaRPr lang="zh-CN" altLang="en-US" sz="765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8706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30011740-CDAF-7D6B-E46F-00FA14006069}"/>
              </a:ext>
            </a:extLst>
          </p:cNvPr>
          <p:cNvSpPr txBox="1"/>
          <p:nvPr/>
        </p:nvSpPr>
        <p:spPr>
          <a:xfrm>
            <a:off x="2328648" y="292421"/>
            <a:ext cx="3879681" cy="259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89" b="1">
                <a:solidFill>
                  <a:srgbClr val="181818"/>
                </a:solidFill>
                <a:latin typeface="Arial" panose="020B0604020202020204" pitchFamily="34" charset="0"/>
              </a:rPr>
              <a:t>(a) Conditioning and model preparation</a:t>
            </a:r>
            <a:endParaRPr lang="zh-CN" altLang="en-US" sz="1089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_002">
            <a:extLst>
              <a:ext uri="{FF2B5EF4-FFF2-40B4-BE49-F238E27FC236}">
                <a16:creationId xmlns:a16="http://schemas.microsoft.com/office/drawing/2014/main" id="{D0AF2E33-B57E-9EDA-B3D1-85D50642B592}"/>
              </a:ext>
            </a:extLst>
          </p:cNvPr>
          <p:cNvSpPr txBox="1"/>
          <p:nvPr/>
        </p:nvSpPr>
        <p:spPr>
          <a:xfrm>
            <a:off x="6692210" y="292421"/>
            <a:ext cx="3171143" cy="259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89" b="1">
                <a:solidFill>
                  <a:srgbClr val="181818"/>
                </a:solidFill>
                <a:latin typeface="Arial" panose="020B0604020202020204" pitchFamily="34" charset="0"/>
              </a:rPr>
              <a:t>(b) Sampling and dataset assembly</a:t>
            </a:r>
            <a:endParaRPr lang="zh-CN" altLang="en-US" sz="1089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line_003">
            <a:extLst>
              <a:ext uri="{FF2B5EF4-FFF2-40B4-BE49-F238E27FC236}">
                <a16:creationId xmlns:a16="http://schemas.microsoft.com/office/drawing/2014/main" id="{376607B5-858B-B3D2-36EB-291AFCDA0B21}"/>
              </a:ext>
            </a:extLst>
          </p:cNvPr>
          <p:cNvCxnSpPr/>
          <p:nvPr/>
        </p:nvCxnSpPr>
        <p:spPr>
          <a:xfrm>
            <a:off x="2328648" y="629408"/>
            <a:ext cx="3810556" cy="0"/>
          </a:xfrm>
          <a:prstGeom prst="line">
            <a:avLst/>
          </a:prstGeom>
          <a:ln w="11265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line_004">
            <a:extLst>
              <a:ext uri="{FF2B5EF4-FFF2-40B4-BE49-F238E27FC236}">
                <a16:creationId xmlns:a16="http://schemas.microsoft.com/office/drawing/2014/main" id="{01CEA3D9-2629-6FC8-F24E-8EEE4B57C967}"/>
              </a:ext>
            </a:extLst>
          </p:cNvPr>
          <p:cNvCxnSpPr/>
          <p:nvPr/>
        </p:nvCxnSpPr>
        <p:spPr>
          <a:xfrm>
            <a:off x="6692210" y="629408"/>
            <a:ext cx="3171142" cy="0"/>
          </a:xfrm>
          <a:prstGeom prst="line">
            <a:avLst/>
          </a:prstGeom>
          <a:ln w="11265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_005">
            <a:extLst>
              <a:ext uri="{FF2B5EF4-FFF2-40B4-BE49-F238E27FC236}">
                <a16:creationId xmlns:a16="http://schemas.microsoft.com/office/drawing/2014/main" id="{1C4D2902-7F75-A1F0-201C-9658FD5B249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193" y="836785"/>
            <a:ext cx="1059928" cy="794946"/>
          </a:xfrm>
          <a:prstGeom prst="rect">
            <a:avLst/>
          </a:prstGeom>
        </p:spPr>
      </p:pic>
      <p:sp>
        <p:nvSpPr>
          <p:cNvPr id="8" name="rect_006">
            <a:extLst>
              <a:ext uri="{FF2B5EF4-FFF2-40B4-BE49-F238E27FC236}">
                <a16:creationId xmlns:a16="http://schemas.microsoft.com/office/drawing/2014/main" id="{D2EE98C9-1E6F-65CF-A6A8-BC6DB9B0D3D1}"/>
              </a:ext>
            </a:extLst>
          </p:cNvPr>
          <p:cNvSpPr/>
          <p:nvPr/>
        </p:nvSpPr>
        <p:spPr>
          <a:xfrm>
            <a:off x="2628193" y="836785"/>
            <a:ext cx="1059928" cy="794946"/>
          </a:xfrm>
          <a:prstGeom prst="rect">
            <a:avLst/>
          </a:prstGeom>
          <a:noFill/>
          <a:ln w="3584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9" name="text_007">
            <a:extLst>
              <a:ext uri="{FF2B5EF4-FFF2-40B4-BE49-F238E27FC236}">
                <a16:creationId xmlns:a16="http://schemas.microsoft.com/office/drawing/2014/main" id="{3831E3E0-B0E6-E69F-C4E4-0B79BDBBF3DA}"/>
              </a:ext>
            </a:extLst>
          </p:cNvPr>
          <p:cNvSpPr txBox="1"/>
          <p:nvPr/>
        </p:nvSpPr>
        <p:spPr>
          <a:xfrm>
            <a:off x="2501462" y="1692216"/>
            <a:ext cx="1322030" cy="2160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3">
                <a:solidFill>
                  <a:srgbClr val="181818"/>
                </a:solidFill>
                <a:latin typeface="Times New Roman" panose="02020603050405020304" pitchFamily="18" charset="0"/>
              </a:rPr>
              <a:t>Reference photograph</a:t>
            </a:r>
            <a:endParaRPr lang="zh-CN" altLang="en-US" sz="953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_008">
            <a:extLst>
              <a:ext uri="{FF2B5EF4-FFF2-40B4-BE49-F238E27FC236}">
                <a16:creationId xmlns:a16="http://schemas.microsoft.com/office/drawing/2014/main" id="{FC1CFA6A-54AB-626B-40A7-A24BB8D61F5C}"/>
              </a:ext>
            </a:extLst>
          </p:cNvPr>
          <p:cNvSpPr/>
          <p:nvPr/>
        </p:nvSpPr>
        <p:spPr>
          <a:xfrm>
            <a:off x="4298731" y="871348"/>
            <a:ext cx="1667658" cy="812228"/>
          </a:xfrm>
          <a:prstGeom prst="rect">
            <a:avLst/>
          </a:prstGeom>
          <a:solidFill>
            <a:srgbClr val="F6F6F6"/>
          </a:solidFill>
          <a:ln w="4608"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11" name="text_009">
            <a:extLst>
              <a:ext uri="{FF2B5EF4-FFF2-40B4-BE49-F238E27FC236}">
                <a16:creationId xmlns:a16="http://schemas.microsoft.com/office/drawing/2014/main" id="{9504A2B4-49E7-B81C-9BCA-EBDBA2C80B4E}"/>
              </a:ext>
            </a:extLst>
          </p:cNvPr>
          <p:cNvSpPr txBox="1"/>
          <p:nvPr/>
        </p:nvSpPr>
        <p:spPr>
          <a:xfrm>
            <a:off x="4411060" y="931833"/>
            <a:ext cx="1443000" cy="19873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17" b="1">
                <a:solidFill>
                  <a:srgbClr val="181818"/>
                </a:solidFill>
                <a:latin typeface="Arial" panose="020B0604020202020204" pitchFamily="34" charset="0"/>
              </a:rPr>
              <a:t>Edit instruction</a:t>
            </a:r>
            <a:endParaRPr lang="zh-CN" altLang="en-US" sz="817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_010">
            <a:extLst>
              <a:ext uri="{FF2B5EF4-FFF2-40B4-BE49-F238E27FC236}">
                <a16:creationId xmlns:a16="http://schemas.microsoft.com/office/drawing/2014/main" id="{4A5EF554-4628-48DC-652E-AED1D33D8B63}"/>
              </a:ext>
            </a:extLst>
          </p:cNvPr>
          <p:cNvSpPr txBox="1"/>
          <p:nvPr/>
        </p:nvSpPr>
        <p:spPr>
          <a:xfrm>
            <a:off x="4411060" y="1191055"/>
            <a:ext cx="1408436" cy="39747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>
                <a:solidFill>
                  <a:srgbClr val="181818"/>
                </a:solidFill>
                <a:latin typeface="Times New Roman" panose="02020603050405020304" pitchFamily="18" charset="0"/>
              </a:rPr>
              <a:t>Target safety state
and scene description</a:t>
            </a:r>
            <a:endParaRPr lang="zh-CN" altLang="en-US" sz="953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3" name="line_011">
            <a:extLst>
              <a:ext uri="{FF2B5EF4-FFF2-40B4-BE49-F238E27FC236}">
                <a16:creationId xmlns:a16="http://schemas.microsoft.com/office/drawing/2014/main" id="{51FB1350-C872-8B5F-A4E2-B72B6C96D01D}"/>
              </a:ext>
            </a:extLst>
          </p:cNvPr>
          <p:cNvCxnSpPr/>
          <p:nvPr/>
        </p:nvCxnSpPr>
        <p:spPr>
          <a:xfrm>
            <a:off x="3166797" y="1934157"/>
            <a:ext cx="0" cy="233299"/>
          </a:xfrm>
          <a:prstGeom prst="line">
            <a:avLst/>
          </a:prstGeom>
          <a:ln w="7681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ne_012">
            <a:extLst>
              <a:ext uri="{FF2B5EF4-FFF2-40B4-BE49-F238E27FC236}">
                <a16:creationId xmlns:a16="http://schemas.microsoft.com/office/drawing/2014/main" id="{04B27267-5152-63AB-51FD-CC353880F522}"/>
              </a:ext>
            </a:extLst>
          </p:cNvPr>
          <p:cNvCxnSpPr/>
          <p:nvPr/>
        </p:nvCxnSpPr>
        <p:spPr>
          <a:xfrm>
            <a:off x="5128240" y="1683576"/>
            <a:ext cx="0" cy="483880"/>
          </a:xfrm>
          <a:prstGeom prst="line">
            <a:avLst/>
          </a:prstGeom>
          <a:ln w="7681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_013">
            <a:extLst>
              <a:ext uri="{FF2B5EF4-FFF2-40B4-BE49-F238E27FC236}">
                <a16:creationId xmlns:a16="http://schemas.microsoft.com/office/drawing/2014/main" id="{AF75D840-2133-7DA4-FD22-1B9780E2D9FF}"/>
              </a:ext>
            </a:extLst>
          </p:cNvPr>
          <p:cNvCxnSpPr/>
          <p:nvPr/>
        </p:nvCxnSpPr>
        <p:spPr>
          <a:xfrm>
            <a:off x="3763007" y="1251539"/>
            <a:ext cx="241939" cy="0"/>
          </a:xfrm>
          <a:prstGeom prst="line">
            <a:avLst/>
          </a:prstGeom>
          <a:ln w="6657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_014">
            <a:extLst>
              <a:ext uri="{FF2B5EF4-FFF2-40B4-BE49-F238E27FC236}">
                <a16:creationId xmlns:a16="http://schemas.microsoft.com/office/drawing/2014/main" id="{36604965-DB13-6DC9-2DB4-AD772BC58AAF}"/>
              </a:ext>
            </a:extLst>
          </p:cNvPr>
          <p:cNvCxnSpPr/>
          <p:nvPr/>
        </p:nvCxnSpPr>
        <p:spPr>
          <a:xfrm>
            <a:off x="4004946" y="1251539"/>
            <a:ext cx="0" cy="812228"/>
          </a:xfrm>
          <a:prstGeom prst="line">
            <a:avLst/>
          </a:prstGeom>
          <a:ln w="6657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ne_015">
            <a:extLst>
              <a:ext uri="{FF2B5EF4-FFF2-40B4-BE49-F238E27FC236}">
                <a16:creationId xmlns:a16="http://schemas.microsoft.com/office/drawing/2014/main" id="{10EDA8A5-0D9C-75E8-E7D6-9EA4E79515BB}"/>
              </a:ext>
            </a:extLst>
          </p:cNvPr>
          <p:cNvCxnSpPr/>
          <p:nvPr/>
        </p:nvCxnSpPr>
        <p:spPr>
          <a:xfrm>
            <a:off x="4004946" y="2063767"/>
            <a:ext cx="889994" cy="0"/>
          </a:xfrm>
          <a:prstGeom prst="line">
            <a:avLst/>
          </a:prstGeom>
          <a:ln w="6657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ne_016">
            <a:extLst>
              <a:ext uri="{FF2B5EF4-FFF2-40B4-BE49-F238E27FC236}">
                <a16:creationId xmlns:a16="http://schemas.microsoft.com/office/drawing/2014/main" id="{025C289C-A79D-D649-ADA6-8B95E547961D}"/>
              </a:ext>
            </a:extLst>
          </p:cNvPr>
          <p:cNvCxnSpPr/>
          <p:nvPr/>
        </p:nvCxnSpPr>
        <p:spPr>
          <a:xfrm>
            <a:off x="4894940" y="2063767"/>
            <a:ext cx="0" cy="103688"/>
          </a:xfrm>
          <a:prstGeom prst="line">
            <a:avLst/>
          </a:prstGeom>
          <a:ln w="6657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_017">
            <a:extLst>
              <a:ext uri="{FF2B5EF4-FFF2-40B4-BE49-F238E27FC236}">
                <a16:creationId xmlns:a16="http://schemas.microsoft.com/office/drawing/2014/main" id="{C03D4CEC-8BDC-AE04-F87D-91D6F9E42402}"/>
              </a:ext>
            </a:extLst>
          </p:cNvPr>
          <p:cNvSpPr/>
          <p:nvPr/>
        </p:nvSpPr>
        <p:spPr>
          <a:xfrm>
            <a:off x="2544665" y="2167456"/>
            <a:ext cx="1382515" cy="699898"/>
          </a:xfrm>
          <a:prstGeom prst="rect">
            <a:avLst/>
          </a:prstGeom>
          <a:solidFill>
            <a:srgbClr val="FFFFFF"/>
          </a:solidFill>
          <a:ln w="6657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20" name="text_018">
            <a:extLst>
              <a:ext uri="{FF2B5EF4-FFF2-40B4-BE49-F238E27FC236}">
                <a16:creationId xmlns:a16="http://schemas.microsoft.com/office/drawing/2014/main" id="{BAF8723A-7E64-9601-F8D9-F68FB111AF7E}"/>
              </a:ext>
            </a:extLst>
          </p:cNvPr>
          <p:cNvSpPr txBox="1"/>
          <p:nvPr/>
        </p:nvSpPr>
        <p:spPr>
          <a:xfrm>
            <a:off x="2648354" y="2227941"/>
            <a:ext cx="1175137" cy="2160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17" b="1">
                <a:solidFill>
                  <a:srgbClr val="202020"/>
                </a:solidFill>
                <a:latin typeface="Arial" panose="020B0604020202020204" pitchFamily="34" charset="0"/>
              </a:rPr>
              <a:t>Image encoding</a:t>
            </a:r>
            <a:endParaRPr lang="zh-CN" altLang="en-US" sz="817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_019">
            <a:extLst>
              <a:ext uri="{FF2B5EF4-FFF2-40B4-BE49-F238E27FC236}">
                <a16:creationId xmlns:a16="http://schemas.microsoft.com/office/drawing/2014/main" id="{1B387D9E-13D8-6929-0277-35D0B6A3DF61}"/>
              </a:ext>
            </a:extLst>
          </p:cNvPr>
          <p:cNvSpPr txBox="1"/>
          <p:nvPr/>
        </p:nvSpPr>
        <p:spPr>
          <a:xfrm>
            <a:off x="2648354" y="2469881"/>
            <a:ext cx="1175137" cy="3542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>
                <a:solidFill>
                  <a:srgbClr val="181818"/>
                </a:solidFill>
                <a:latin typeface="Times New Roman" panose="02020603050405020304" pitchFamily="18" charset="0"/>
              </a:rPr>
              <a:t>Scale + Qwen VAE</a:t>
            </a:r>
            <a:endParaRPr lang="zh-CN" altLang="en-US" sz="953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_020">
            <a:extLst>
              <a:ext uri="{FF2B5EF4-FFF2-40B4-BE49-F238E27FC236}">
                <a16:creationId xmlns:a16="http://schemas.microsoft.com/office/drawing/2014/main" id="{94321CC0-6912-877B-C259-5E3AB1252BEE}"/>
              </a:ext>
            </a:extLst>
          </p:cNvPr>
          <p:cNvSpPr/>
          <p:nvPr/>
        </p:nvSpPr>
        <p:spPr>
          <a:xfrm>
            <a:off x="4298731" y="2167456"/>
            <a:ext cx="1667658" cy="699898"/>
          </a:xfrm>
          <a:prstGeom prst="rect">
            <a:avLst/>
          </a:prstGeom>
          <a:solidFill>
            <a:srgbClr val="FFFFFF"/>
          </a:solidFill>
          <a:ln w="6657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23" name="text_021">
            <a:extLst>
              <a:ext uri="{FF2B5EF4-FFF2-40B4-BE49-F238E27FC236}">
                <a16:creationId xmlns:a16="http://schemas.microsoft.com/office/drawing/2014/main" id="{BC339440-1EB7-C8E0-569C-093E526F1226}"/>
              </a:ext>
            </a:extLst>
          </p:cNvPr>
          <p:cNvSpPr txBox="1"/>
          <p:nvPr/>
        </p:nvSpPr>
        <p:spPr>
          <a:xfrm>
            <a:off x="4402419" y="2227941"/>
            <a:ext cx="1460281" cy="2160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17" b="1">
                <a:solidFill>
                  <a:srgbClr val="202020"/>
                </a:solidFill>
                <a:latin typeface="Arial" panose="020B0604020202020204" pitchFamily="34" charset="0"/>
              </a:rPr>
              <a:t>Multimodal encoding</a:t>
            </a:r>
            <a:endParaRPr lang="zh-CN" altLang="en-US" sz="817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_022">
            <a:extLst>
              <a:ext uri="{FF2B5EF4-FFF2-40B4-BE49-F238E27FC236}">
                <a16:creationId xmlns:a16="http://schemas.microsoft.com/office/drawing/2014/main" id="{561E316A-33E2-AAFD-D548-53FFC9BFEDC0}"/>
              </a:ext>
            </a:extLst>
          </p:cNvPr>
          <p:cNvSpPr txBox="1"/>
          <p:nvPr/>
        </p:nvSpPr>
        <p:spPr>
          <a:xfrm>
            <a:off x="4402419" y="2469881"/>
            <a:ext cx="1460281" cy="35427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>
                <a:solidFill>
                  <a:srgbClr val="181818"/>
                </a:solidFill>
                <a:latin typeface="Times New Roman" panose="02020603050405020304" pitchFamily="18" charset="0"/>
              </a:rPr>
              <a:t>Qwen2.5-VL 7B
FP8 text encoder</a:t>
            </a:r>
            <a:endParaRPr lang="zh-CN" altLang="en-US" sz="953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_023">
            <a:extLst>
              <a:ext uri="{FF2B5EF4-FFF2-40B4-BE49-F238E27FC236}">
                <a16:creationId xmlns:a16="http://schemas.microsoft.com/office/drawing/2014/main" id="{25D91DC4-946C-EA0D-8F08-2C064E2A67CB}"/>
              </a:ext>
            </a:extLst>
          </p:cNvPr>
          <p:cNvSpPr txBox="1"/>
          <p:nvPr/>
        </p:nvSpPr>
        <p:spPr>
          <a:xfrm>
            <a:off x="2587869" y="2927839"/>
            <a:ext cx="1296107" cy="2160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84" i="1">
                <a:solidFill>
                  <a:srgbClr val="181818"/>
                </a:solidFill>
                <a:latin typeface="Times New Roman" panose="02020603050405020304" pitchFamily="18" charset="0"/>
              </a:rPr>
              <a:t>Image latent</a:t>
            </a:r>
            <a:endParaRPr lang="zh-CN" altLang="en-US" sz="884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_024">
            <a:extLst>
              <a:ext uri="{FF2B5EF4-FFF2-40B4-BE49-F238E27FC236}">
                <a16:creationId xmlns:a16="http://schemas.microsoft.com/office/drawing/2014/main" id="{ECBE92C9-871C-DB95-A5CC-617B3D2935D7}"/>
              </a:ext>
            </a:extLst>
          </p:cNvPr>
          <p:cNvSpPr txBox="1"/>
          <p:nvPr/>
        </p:nvSpPr>
        <p:spPr>
          <a:xfrm>
            <a:off x="4419701" y="2927839"/>
            <a:ext cx="1443000" cy="2160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84" i="1">
                <a:solidFill>
                  <a:srgbClr val="181818"/>
                </a:solidFill>
                <a:latin typeface="Times New Roman" panose="02020603050405020304" pitchFamily="18" charset="0"/>
              </a:rPr>
              <a:t>Text conditioning</a:t>
            </a:r>
            <a:endParaRPr lang="zh-CN" altLang="en-US" sz="884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7" name="line_025">
            <a:extLst>
              <a:ext uri="{FF2B5EF4-FFF2-40B4-BE49-F238E27FC236}">
                <a16:creationId xmlns:a16="http://schemas.microsoft.com/office/drawing/2014/main" id="{5AA3D6D3-FCE2-43F6-4368-15E5E533D7B8}"/>
              </a:ext>
            </a:extLst>
          </p:cNvPr>
          <p:cNvCxnSpPr/>
          <p:nvPr/>
        </p:nvCxnSpPr>
        <p:spPr>
          <a:xfrm>
            <a:off x="3166797" y="3143857"/>
            <a:ext cx="0" cy="86408"/>
          </a:xfrm>
          <a:prstGeom prst="line">
            <a:avLst/>
          </a:prstGeom>
          <a:ln w="768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_026">
            <a:extLst>
              <a:ext uri="{FF2B5EF4-FFF2-40B4-BE49-F238E27FC236}">
                <a16:creationId xmlns:a16="http://schemas.microsoft.com/office/drawing/2014/main" id="{196E54E0-C056-2725-D78F-CCDD02FDFFAD}"/>
              </a:ext>
            </a:extLst>
          </p:cNvPr>
          <p:cNvCxnSpPr/>
          <p:nvPr/>
        </p:nvCxnSpPr>
        <p:spPr>
          <a:xfrm flipH="1">
            <a:off x="2389133" y="3230264"/>
            <a:ext cx="777664" cy="0"/>
          </a:xfrm>
          <a:prstGeom prst="line">
            <a:avLst/>
          </a:prstGeom>
          <a:ln w="768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_027">
            <a:extLst>
              <a:ext uri="{FF2B5EF4-FFF2-40B4-BE49-F238E27FC236}">
                <a16:creationId xmlns:a16="http://schemas.microsoft.com/office/drawing/2014/main" id="{1B0EB10A-D1C6-01EC-11F7-4A50BEC0EECC}"/>
              </a:ext>
            </a:extLst>
          </p:cNvPr>
          <p:cNvCxnSpPr/>
          <p:nvPr/>
        </p:nvCxnSpPr>
        <p:spPr>
          <a:xfrm>
            <a:off x="2389133" y="3230264"/>
            <a:ext cx="0" cy="2315712"/>
          </a:xfrm>
          <a:prstGeom prst="line">
            <a:avLst/>
          </a:prstGeom>
          <a:ln w="768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_028">
            <a:extLst>
              <a:ext uri="{FF2B5EF4-FFF2-40B4-BE49-F238E27FC236}">
                <a16:creationId xmlns:a16="http://schemas.microsoft.com/office/drawing/2014/main" id="{8FD55363-2230-3AE6-9E4A-50ED35F7D255}"/>
              </a:ext>
            </a:extLst>
          </p:cNvPr>
          <p:cNvCxnSpPr/>
          <p:nvPr/>
        </p:nvCxnSpPr>
        <p:spPr>
          <a:xfrm>
            <a:off x="2389133" y="5545976"/>
            <a:ext cx="216018" cy="0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_029">
            <a:extLst>
              <a:ext uri="{FF2B5EF4-FFF2-40B4-BE49-F238E27FC236}">
                <a16:creationId xmlns:a16="http://schemas.microsoft.com/office/drawing/2014/main" id="{A4DC14AD-0735-FE0A-CE1C-18D2B560F0A9}"/>
              </a:ext>
            </a:extLst>
          </p:cNvPr>
          <p:cNvCxnSpPr/>
          <p:nvPr/>
        </p:nvCxnSpPr>
        <p:spPr>
          <a:xfrm>
            <a:off x="5128240" y="3143857"/>
            <a:ext cx="0" cy="86408"/>
          </a:xfrm>
          <a:prstGeom prst="line">
            <a:avLst/>
          </a:prstGeom>
          <a:ln w="768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e_030">
            <a:extLst>
              <a:ext uri="{FF2B5EF4-FFF2-40B4-BE49-F238E27FC236}">
                <a16:creationId xmlns:a16="http://schemas.microsoft.com/office/drawing/2014/main" id="{BFEB0660-6728-F122-1E90-53F989DE1973}"/>
              </a:ext>
            </a:extLst>
          </p:cNvPr>
          <p:cNvCxnSpPr/>
          <p:nvPr/>
        </p:nvCxnSpPr>
        <p:spPr>
          <a:xfrm>
            <a:off x="5128240" y="3230264"/>
            <a:ext cx="993683" cy="0"/>
          </a:xfrm>
          <a:prstGeom prst="line">
            <a:avLst/>
          </a:prstGeom>
          <a:ln w="768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ne_031">
            <a:extLst>
              <a:ext uri="{FF2B5EF4-FFF2-40B4-BE49-F238E27FC236}">
                <a16:creationId xmlns:a16="http://schemas.microsoft.com/office/drawing/2014/main" id="{B90C3A83-1AD6-C63F-4FB1-07016DE57AA2}"/>
              </a:ext>
            </a:extLst>
          </p:cNvPr>
          <p:cNvCxnSpPr/>
          <p:nvPr/>
        </p:nvCxnSpPr>
        <p:spPr>
          <a:xfrm>
            <a:off x="6121923" y="3230265"/>
            <a:ext cx="0" cy="2073771"/>
          </a:xfrm>
          <a:prstGeom prst="line">
            <a:avLst/>
          </a:prstGeom>
          <a:ln w="768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e_032">
            <a:extLst>
              <a:ext uri="{FF2B5EF4-FFF2-40B4-BE49-F238E27FC236}">
                <a16:creationId xmlns:a16="http://schemas.microsoft.com/office/drawing/2014/main" id="{29D95D7D-4CA6-AF15-3E12-2895C2C191F6}"/>
              </a:ext>
            </a:extLst>
          </p:cNvPr>
          <p:cNvCxnSpPr/>
          <p:nvPr/>
        </p:nvCxnSpPr>
        <p:spPr>
          <a:xfrm flipH="1">
            <a:off x="5542995" y="5304035"/>
            <a:ext cx="578928" cy="0"/>
          </a:xfrm>
          <a:prstGeom prst="line">
            <a:avLst/>
          </a:prstGeom>
          <a:ln w="768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_033">
            <a:extLst>
              <a:ext uri="{FF2B5EF4-FFF2-40B4-BE49-F238E27FC236}">
                <a16:creationId xmlns:a16="http://schemas.microsoft.com/office/drawing/2014/main" id="{73DA914D-74C1-C388-F33E-4A90C96211DD}"/>
              </a:ext>
            </a:extLst>
          </p:cNvPr>
          <p:cNvCxnSpPr/>
          <p:nvPr/>
        </p:nvCxnSpPr>
        <p:spPr>
          <a:xfrm>
            <a:off x="5542994" y="5304036"/>
            <a:ext cx="0" cy="103689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_034">
            <a:extLst>
              <a:ext uri="{FF2B5EF4-FFF2-40B4-BE49-F238E27FC236}">
                <a16:creationId xmlns:a16="http://schemas.microsoft.com/office/drawing/2014/main" id="{45100C3A-8674-E2EB-B4E1-92C4AFD8F7B2}"/>
              </a:ext>
            </a:extLst>
          </p:cNvPr>
          <p:cNvSpPr/>
          <p:nvPr/>
        </p:nvSpPr>
        <p:spPr>
          <a:xfrm>
            <a:off x="2691558" y="3437642"/>
            <a:ext cx="3119298" cy="1598532"/>
          </a:xfrm>
          <a:prstGeom prst="rect">
            <a:avLst/>
          </a:prstGeom>
          <a:solidFill>
            <a:srgbClr val="FFFFFF"/>
          </a:solidFill>
          <a:ln w="5120"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37" name="text_035">
            <a:extLst>
              <a:ext uri="{FF2B5EF4-FFF2-40B4-BE49-F238E27FC236}">
                <a16:creationId xmlns:a16="http://schemas.microsoft.com/office/drawing/2014/main" id="{0FC39D3E-A881-3EC1-5CC4-2DF57C820477}"/>
              </a:ext>
            </a:extLst>
          </p:cNvPr>
          <p:cNvSpPr txBox="1"/>
          <p:nvPr/>
        </p:nvSpPr>
        <p:spPr>
          <a:xfrm>
            <a:off x="2821169" y="3489485"/>
            <a:ext cx="2860077" cy="19873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 b="1">
                <a:solidFill>
                  <a:srgbClr val="202020"/>
                </a:solidFill>
                <a:latin typeface="Arial" panose="020B0604020202020204" pitchFamily="34" charset="0"/>
              </a:rPr>
              <a:t>Qwen-Image-Edit-2509</a:t>
            </a:r>
            <a:endParaRPr lang="zh-CN" altLang="en-US" sz="953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_036">
            <a:extLst>
              <a:ext uri="{FF2B5EF4-FFF2-40B4-BE49-F238E27FC236}">
                <a16:creationId xmlns:a16="http://schemas.microsoft.com/office/drawing/2014/main" id="{F56B3564-13FC-A05F-C04C-335F28C8E6CB}"/>
              </a:ext>
            </a:extLst>
          </p:cNvPr>
          <p:cNvSpPr txBox="1"/>
          <p:nvPr/>
        </p:nvSpPr>
        <p:spPr>
          <a:xfrm>
            <a:off x="2821169" y="3731425"/>
            <a:ext cx="2860077" cy="2073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>
                <a:solidFill>
                  <a:srgbClr val="181818"/>
                </a:solidFill>
                <a:latin typeface="Times New Roman" panose="02020603050405020304" pitchFamily="18" charset="0"/>
              </a:rPr>
              <a:t>FP8 diffusion model</a:t>
            </a:r>
            <a:endParaRPr lang="zh-CN" altLang="en-US" sz="953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9" name="line_037">
            <a:extLst>
              <a:ext uri="{FF2B5EF4-FFF2-40B4-BE49-F238E27FC236}">
                <a16:creationId xmlns:a16="http://schemas.microsoft.com/office/drawing/2014/main" id="{199443F1-4283-6381-38E7-8D25ADD365A4}"/>
              </a:ext>
            </a:extLst>
          </p:cNvPr>
          <p:cNvCxnSpPr/>
          <p:nvPr/>
        </p:nvCxnSpPr>
        <p:spPr>
          <a:xfrm>
            <a:off x="2821169" y="4007928"/>
            <a:ext cx="2860077" cy="0"/>
          </a:xfrm>
          <a:prstGeom prst="line">
            <a:avLst/>
          </a:prstGeom>
          <a:ln w="4608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_038">
            <a:extLst>
              <a:ext uri="{FF2B5EF4-FFF2-40B4-BE49-F238E27FC236}">
                <a16:creationId xmlns:a16="http://schemas.microsoft.com/office/drawing/2014/main" id="{74BD0842-1246-5675-86A4-C4A250BFD5AB}"/>
              </a:ext>
            </a:extLst>
          </p:cNvPr>
          <p:cNvSpPr txBox="1"/>
          <p:nvPr/>
        </p:nvSpPr>
        <p:spPr>
          <a:xfrm>
            <a:off x="2829809" y="4094335"/>
            <a:ext cx="1201060" cy="2160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 b="1">
                <a:solidFill>
                  <a:srgbClr val="181818"/>
                </a:solidFill>
                <a:latin typeface="Times New Roman" panose="02020603050405020304" pitchFamily="18" charset="0"/>
              </a:rPr>
              <a:t>Standard path</a:t>
            </a:r>
            <a:endParaRPr lang="zh-CN" altLang="en-US" sz="953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_039">
            <a:extLst>
              <a:ext uri="{FF2B5EF4-FFF2-40B4-BE49-F238E27FC236}">
                <a16:creationId xmlns:a16="http://schemas.microsoft.com/office/drawing/2014/main" id="{8DB037BF-4158-9FCE-2A4A-18BED6BD5C24}"/>
              </a:ext>
            </a:extLst>
          </p:cNvPr>
          <p:cNvSpPr txBox="1"/>
          <p:nvPr/>
        </p:nvSpPr>
        <p:spPr>
          <a:xfrm>
            <a:off x="4246887" y="4094335"/>
            <a:ext cx="1417077" cy="2160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 b="1">
                <a:solidFill>
                  <a:srgbClr val="181818"/>
                </a:solidFill>
                <a:latin typeface="Times New Roman" panose="02020603050405020304" pitchFamily="18" charset="0"/>
              </a:rPr>
              <a:t>Lightning LoRA</a:t>
            </a:r>
            <a:endParaRPr lang="zh-CN" altLang="en-US" sz="953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text_040">
            <a:extLst>
              <a:ext uri="{FF2B5EF4-FFF2-40B4-BE49-F238E27FC236}">
                <a16:creationId xmlns:a16="http://schemas.microsoft.com/office/drawing/2014/main" id="{601C056E-087A-0F75-9D55-07269446522F}"/>
              </a:ext>
            </a:extLst>
          </p:cNvPr>
          <p:cNvSpPr txBox="1"/>
          <p:nvPr/>
        </p:nvSpPr>
        <p:spPr>
          <a:xfrm>
            <a:off x="4246887" y="4318993"/>
            <a:ext cx="1417077" cy="19873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17" i="1">
                <a:solidFill>
                  <a:srgbClr val="181818"/>
                </a:solidFill>
                <a:latin typeface="Times New Roman" panose="02020603050405020304" pitchFamily="18" charset="0"/>
              </a:rPr>
              <a:t>Optional four-step path</a:t>
            </a:r>
            <a:endParaRPr lang="zh-CN" altLang="en-US" sz="817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3" name="line_041">
            <a:extLst>
              <a:ext uri="{FF2B5EF4-FFF2-40B4-BE49-F238E27FC236}">
                <a16:creationId xmlns:a16="http://schemas.microsoft.com/office/drawing/2014/main" id="{E5F1C0D7-9D2D-C496-BE62-A5B34644F09A}"/>
              </a:ext>
            </a:extLst>
          </p:cNvPr>
          <p:cNvCxnSpPr/>
          <p:nvPr/>
        </p:nvCxnSpPr>
        <p:spPr>
          <a:xfrm>
            <a:off x="4117275" y="4085694"/>
            <a:ext cx="0" cy="466599"/>
          </a:xfrm>
          <a:prstGeom prst="line">
            <a:avLst/>
          </a:prstGeom>
          <a:ln w="4608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e_042">
            <a:extLst>
              <a:ext uri="{FF2B5EF4-FFF2-40B4-BE49-F238E27FC236}">
                <a16:creationId xmlns:a16="http://schemas.microsoft.com/office/drawing/2014/main" id="{52F04A9F-E8FC-E31C-5BD6-1C6B01B846CE}"/>
              </a:ext>
            </a:extLst>
          </p:cNvPr>
          <p:cNvCxnSpPr/>
          <p:nvPr/>
        </p:nvCxnSpPr>
        <p:spPr>
          <a:xfrm>
            <a:off x="3426019" y="4543652"/>
            <a:ext cx="0" cy="146893"/>
          </a:xfrm>
          <a:prstGeom prst="line">
            <a:avLst/>
          </a:prstGeom>
          <a:ln w="7681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e_043">
            <a:extLst>
              <a:ext uri="{FF2B5EF4-FFF2-40B4-BE49-F238E27FC236}">
                <a16:creationId xmlns:a16="http://schemas.microsoft.com/office/drawing/2014/main" id="{AFAE3F7C-C565-1FD4-BEA7-143A62F0EE85}"/>
              </a:ext>
            </a:extLst>
          </p:cNvPr>
          <p:cNvCxnSpPr/>
          <p:nvPr/>
        </p:nvCxnSpPr>
        <p:spPr>
          <a:xfrm>
            <a:off x="4955426" y="4543652"/>
            <a:ext cx="0" cy="146893"/>
          </a:xfrm>
          <a:prstGeom prst="line">
            <a:avLst/>
          </a:prstGeom>
          <a:ln w="7681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_044">
            <a:extLst>
              <a:ext uri="{FF2B5EF4-FFF2-40B4-BE49-F238E27FC236}">
                <a16:creationId xmlns:a16="http://schemas.microsoft.com/office/drawing/2014/main" id="{A8F36BD1-71A8-DF93-508A-D7625B566600}"/>
              </a:ext>
            </a:extLst>
          </p:cNvPr>
          <p:cNvSpPr/>
          <p:nvPr/>
        </p:nvSpPr>
        <p:spPr>
          <a:xfrm>
            <a:off x="2829809" y="4699186"/>
            <a:ext cx="2851436" cy="241939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47" name="text_045">
            <a:extLst>
              <a:ext uri="{FF2B5EF4-FFF2-40B4-BE49-F238E27FC236}">
                <a16:creationId xmlns:a16="http://schemas.microsoft.com/office/drawing/2014/main" id="{24CE39F3-3032-2F8A-2F4E-46E9C9B725D5}"/>
              </a:ext>
            </a:extLst>
          </p:cNvPr>
          <p:cNvSpPr txBox="1"/>
          <p:nvPr/>
        </p:nvSpPr>
        <p:spPr>
          <a:xfrm>
            <a:off x="2881653" y="4716466"/>
            <a:ext cx="2747748" cy="19873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782">
                <a:solidFill>
                  <a:srgbClr val="181818"/>
                </a:solidFill>
                <a:latin typeface="Arial" panose="020B0604020202020204" pitchFamily="34" charset="0"/>
              </a:rPr>
              <a:t>Model preparation: AuraFlow / CFGNorm</a:t>
            </a:r>
            <a:endParaRPr lang="zh-CN" altLang="en-US" sz="782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48" name="line_046">
            <a:extLst>
              <a:ext uri="{FF2B5EF4-FFF2-40B4-BE49-F238E27FC236}">
                <a16:creationId xmlns:a16="http://schemas.microsoft.com/office/drawing/2014/main" id="{7E084671-8CE6-AD8F-76A7-4AFDABF552DA}"/>
              </a:ext>
            </a:extLst>
          </p:cNvPr>
          <p:cNvCxnSpPr/>
          <p:nvPr/>
        </p:nvCxnSpPr>
        <p:spPr>
          <a:xfrm>
            <a:off x="4255527" y="5036174"/>
            <a:ext cx="0" cy="371551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_047">
            <a:extLst>
              <a:ext uri="{FF2B5EF4-FFF2-40B4-BE49-F238E27FC236}">
                <a16:creationId xmlns:a16="http://schemas.microsoft.com/office/drawing/2014/main" id="{27BF54B3-665F-3CDB-7C74-4DB0378516A9}"/>
              </a:ext>
            </a:extLst>
          </p:cNvPr>
          <p:cNvSpPr/>
          <p:nvPr/>
        </p:nvSpPr>
        <p:spPr>
          <a:xfrm>
            <a:off x="2605151" y="5407724"/>
            <a:ext cx="3205706" cy="406114"/>
          </a:xfrm>
          <a:prstGeom prst="rect">
            <a:avLst/>
          </a:prstGeom>
          <a:solidFill>
            <a:srgbClr val="FFFFFF"/>
          </a:solidFill>
          <a:ln w="9217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50" name="text_048">
            <a:extLst>
              <a:ext uri="{FF2B5EF4-FFF2-40B4-BE49-F238E27FC236}">
                <a16:creationId xmlns:a16="http://schemas.microsoft.com/office/drawing/2014/main" id="{4742AC18-2B25-D37D-708D-5414E8A44823}"/>
              </a:ext>
            </a:extLst>
          </p:cNvPr>
          <p:cNvSpPr txBox="1"/>
          <p:nvPr/>
        </p:nvSpPr>
        <p:spPr>
          <a:xfrm>
            <a:off x="2708839" y="5468209"/>
            <a:ext cx="2998329" cy="259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84" b="1">
                <a:solidFill>
                  <a:srgbClr val="202020"/>
                </a:solidFill>
                <a:latin typeface="Arial" panose="020B0604020202020204" pitchFamily="34" charset="0"/>
              </a:rPr>
              <a:t>Latent + conditioning + model</a:t>
            </a:r>
            <a:endParaRPr lang="zh-CN" altLang="en-US" sz="884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1" name="line_049">
            <a:extLst>
              <a:ext uri="{FF2B5EF4-FFF2-40B4-BE49-F238E27FC236}">
                <a16:creationId xmlns:a16="http://schemas.microsoft.com/office/drawing/2014/main" id="{2652B854-9D58-813F-FA2B-70AA62E3C214}"/>
              </a:ext>
            </a:extLst>
          </p:cNvPr>
          <p:cNvCxnSpPr/>
          <p:nvPr/>
        </p:nvCxnSpPr>
        <p:spPr>
          <a:xfrm>
            <a:off x="5810857" y="5615101"/>
            <a:ext cx="578928" cy="0"/>
          </a:xfrm>
          <a:prstGeom prst="line">
            <a:avLst/>
          </a:prstGeom>
          <a:ln w="1024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ine_050">
            <a:extLst>
              <a:ext uri="{FF2B5EF4-FFF2-40B4-BE49-F238E27FC236}">
                <a16:creationId xmlns:a16="http://schemas.microsoft.com/office/drawing/2014/main" id="{4AEEC1B3-655A-D04C-415C-D2007C8D8E0D}"/>
              </a:ext>
            </a:extLst>
          </p:cNvPr>
          <p:cNvCxnSpPr/>
          <p:nvPr/>
        </p:nvCxnSpPr>
        <p:spPr>
          <a:xfrm flipV="1">
            <a:off x="6389784" y="2504443"/>
            <a:ext cx="0" cy="3110658"/>
          </a:xfrm>
          <a:prstGeom prst="line">
            <a:avLst/>
          </a:prstGeom>
          <a:ln w="1024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ine_051">
            <a:extLst>
              <a:ext uri="{FF2B5EF4-FFF2-40B4-BE49-F238E27FC236}">
                <a16:creationId xmlns:a16="http://schemas.microsoft.com/office/drawing/2014/main" id="{8760D5A8-972D-55CE-8005-CBBA03422B28}"/>
              </a:ext>
            </a:extLst>
          </p:cNvPr>
          <p:cNvCxnSpPr/>
          <p:nvPr/>
        </p:nvCxnSpPr>
        <p:spPr>
          <a:xfrm>
            <a:off x="6389785" y="2504443"/>
            <a:ext cx="302425" cy="0"/>
          </a:xfrm>
          <a:prstGeom prst="line">
            <a:avLst/>
          </a:prstGeom>
          <a:ln w="1024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_052">
            <a:extLst>
              <a:ext uri="{FF2B5EF4-FFF2-40B4-BE49-F238E27FC236}">
                <a16:creationId xmlns:a16="http://schemas.microsoft.com/office/drawing/2014/main" id="{04D974CD-A98A-54F5-E222-FD457921C2E8}"/>
              </a:ext>
            </a:extLst>
          </p:cNvPr>
          <p:cNvSpPr txBox="1"/>
          <p:nvPr/>
        </p:nvSpPr>
        <p:spPr>
          <a:xfrm>
            <a:off x="2656995" y="5995292"/>
            <a:ext cx="3102017" cy="34562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 i="1">
                <a:solidFill>
                  <a:srgbClr val="181818"/>
                </a:solidFill>
                <a:latin typeface="Times New Roman" panose="02020603050405020304" pitchFamily="18" charset="0"/>
              </a:rPr>
              <a:t>Prepared inputs enter the denoising process.</a:t>
            </a:r>
            <a:endParaRPr lang="zh-CN" altLang="en-US" sz="953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rect_053">
            <a:extLst>
              <a:ext uri="{FF2B5EF4-FFF2-40B4-BE49-F238E27FC236}">
                <a16:creationId xmlns:a16="http://schemas.microsoft.com/office/drawing/2014/main" id="{2B50E85A-1BFE-EA4D-1B4C-CDB1D720C4E1}"/>
              </a:ext>
            </a:extLst>
          </p:cNvPr>
          <p:cNvSpPr/>
          <p:nvPr/>
        </p:nvSpPr>
        <p:spPr>
          <a:xfrm>
            <a:off x="6994634" y="914552"/>
            <a:ext cx="95048" cy="95048"/>
          </a:xfrm>
          <a:prstGeom prst="rect">
            <a:avLst/>
          </a:prstGeom>
          <a:solidFill>
            <a:srgbClr val="DCDC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56" name="rect_054">
            <a:extLst>
              <a:ext uri="{FF2B5EF4-FFF2-40B4-BE49-F238E27FC236}">
                <a16:creationId xmlns:a16="http://schemas.microsoft.com/office/drawing/2014/main" id="{6AA9DDDB-A45B-E17A-1E8E-92C3D175C67F}"/>
              </a:ext>
            </a:extLst>
          </p:cNvPr>
          <p:cNvSpPr/>
          <p:nvPr/>
        </p:nvSpPr>
        <p:spPr>
          <a:xfrm>
            <a:off x="7098323" y="914552"/>
            <a:ext cx="95048" cy="95048"/>
          </a:xfrm>
          <a:prstGeom prst="rect">
            <a:avLst/>
          </a:prstGeom>
          <a:solidFill>
            <a:srgbClr val="B0B0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57" name="rect_055">
            <a:extLst>
              <a:ext uri="{FF2B5EF4-FFF2-40B4-BE49-F238E27FC236}">
                <a16:creationId xmlns:a16="http://schemas.microsoft.com/office/drawing/2014/main" id="{B9F1D356-B910-CA05-1C6F-73B6E0DACE79}"/>
              </a:ext>
            </a:extLst>
          </p:cNvPr>
          <p:cNvSpPr/>
          <p:nvPr/>
        </p:nvSpPr>
        <p:spPr>
          <a:xfrm>
            <a:off x="7202012" y="914552"/>
            <a:ext cx="95048" cy="95048"/>
          </a:xfrm>
          <a:prstGeom prst="rect">
            <a:avLst/>
          </a:prstGeom>
          <a:solidFill>
            <a:srgbClr val="CECE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58" name="rect_056">
            <a:extLst>
              <a:ext uri="{FF2B5EF4-FFF2-40B4-BE49-F238E27FC236}">
                <a16:creationId xmlns:a16="http://schemas.microsoft.com/office/drawing/2014/main" id="{3AE86A5E-7DB8-0ADB-1AB2-75C026418CE8}"/>
              </a:ext>
            </a:extLst>
          </p:cNvPr>
          <p:cNvSpPr/>
          <p:nvPr/>
        </p:nvSpPr>
        <p:spPr>
          <a:xfrm>
            <a:off x="7305701" y="914552"/>
            <a:ext cx="95048" cy="95048"/>
          </a:xfrm>
          <a:prstGeom prst="rect">
            <a:avLst/>
          </a:prstGeom>
          <a:solidFill>
            <a:srgbClr val="EFEF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59" name="rect_057">
            <a:extLst>
              <a:ext uri="{FF2B5EF4-FFF2-40B4-BE49-F238E27FC236}">
                <a16:creationId xmlns:a16="http://schemas.microsoft.com/office/drawing/2014/main" id="{D723D903-D136-B385-14F5-69250453DBEF}"/>
              </a:ext>
            </a:extLst>
          </p:cNvPr>
          <p:cNvSpPr/>
          <p:nvPr/>
        </p:nvSpPr>
        <p:spPr>
          <a:xfrm>
            <a:off x="6994634" y="1018240"/>
            <a:ext cx="95048" cy="95048"/>
          </a:xfrm>
          <a:prstGeom prst="rect">
            <a:avLst/>
          </a:prstGeom>
          <a:solidFill>
            <a:srgbClr val="EFEF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0" name="rect_058">
            <a:extLst>
              <a:ext uri="{FF2B5EF4-FFF2-40B4-BE49-F238E27FC236}">
                <a16:creationId xmlns:a16="http://schemas.microsoft.com/office/drawing/2014/main" id="{172453A9-B54B-47C3-651C-735724596E1F}"/>
              </a:ext>
            </a:extLst>
          </p:cNvPr>
          <p:cNvSpPr/>
          <p:nvPr/>
        </p:nvSpPr>
        <p:spPr>
          <a:xfrm>
            <a:off x="7098323" y="1018240"/>
            <a:ext cx="95048" cy="95048"/>
          </a:xfrm>
          <a:prstGeom prst="rect">
            <a:avLst/>
          </a:prstGeom>
          <a:solidFill>
            <a:srgbClr val="DCDC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1" name="rect_059">
            <a:extLst>
              <a:ext uri="{FF2B5EF4-FFF2-40B4-BE49-F238E27FC236}">
                <a16:creationId xmlns:a16="http://schemas.microsoft.com/office/drawing/2014/main" id="{F705FA83-B579-2DC7-59CB-4BBE4EC1DFB2}"/>
              </a:ext>
            </a:extLst>
          </p:cNvPr>
          <p:cNvSpPr/>
          <p:nvPr/>
        </p:nvSpPr>
        <p:spPr>
          <a:xfrm>
            <a:off x="7202012" y="1018240"/>
            <a:ext cx="95048" cy="95048"/>
          </a:xfrm>
          <a:prstGeom prst="rect">
            <a:avLst/>
          </a:prstGeom>
          <a:solidFill>
            <a:srgbClr val="B0B0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2" name="rect_060">
            <a:extLst>
              <a:ext uri="{FF2B5EF4-FFF2-40B4-BE49-F238E27FC236}">
                <a16:creationId xmlns:a16="http://schemas.microsoft.com/office/drawing/2014/main" id="{1FC8F2D9-B43C-9F30-2C01-58D814BA0B79}"/>
              </a:ext>
            </a:extLst>
          </p:cNvPr>
          <p:cNvSpPr/>
          <p:nvPr/>
        </p:nvSpPr>
        <p:spPr>
          <a:xfrm>
            <a:off x="7305701" y="1018240"/>
            <a:ext cx="95048" cy="95048"/>
          </a:xfrm>
          <a:prstGeom prst="rect">
            <a:avLst/>
          </a:prstGeom>
          <a:solidFill>
            <a:srgbClr val="CECE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3" name="rect_061">
            <a:extLst>
              <a:ext uri="{FF2B5EF4-FFF2-40B4-BE49-F238E27FC236}">
                <a16:creationId xmlns:a16="http://schemas.microsoft.com/office/drawing/2014/main" id="{6D51DAFC-3E7B-E377-2A68-FE33FFE38F2A}"/>
              </a:ext>
            </a:extLst>
          </p:cNvPr>
          <p:cNvSpPr/>
          <p:nvPr/>
        </p:nvSpPr>
        <p:spPr>
          <a:xfrm>
            <a:off x="6994634" y="1121929"/>
            <a:ext cx="95048" cy="95048"/>
          </a:xfrm>
          <a:prstGeom prst="rect">
            <a:avLst/>
          </a:prstGeom>
          <a:solidFill>
            <a:srgbClr val="CECE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4" name="rect_062">
            <a:extLst>
              <a:ext uri="{FF2B5EF4-FFF2-40B4-BE49-F238E27FC236}">
                <a16:creationId xmlns:a16="http://schemas.microsoft.com/office/drawing/2014/main" id="{8799E4C2-6353-966C-8307-8B8EDAEC0019}"/>
              </a:ext>
            </a:extLst>
          </p:cNvPr>
          <p:cNvSpPr/>
          <p:nvPr/>
        </p:nvSpPr>
        <p:spPr>
          <a:xfrm>
            <a:off x="7098323" y="1121929"/>
            <a:ext cx="95048" cy="95048"/>
          </a:xfrm>
          <a:prstGeom prst="rect">
            <a:avLst/>
          </a:prstGeom>
          <a:solidFill>
            <a:srgbClr val="EFEF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5" name="rect_063">
            <a:extLst>
              <a:ext uri="{FF2B5EF4-FFF2-40B4-BE49-F238E27FC236}">
                <a16:creationId xmlns:a16="http://schemas.microsoft.com/office/drawing/2014/main" id="{2653B352-B127-BC82-73FA-926D64FD0B17}"/>
              </a:ext>
            </a:extLst>
          </p:cNvPr>
          <p:cNvSpPr/>
          <p:nvPr/>
        </p:nvSpPr>
        <p:spPr>
          <a:xfrm>
            <a:off x="7202012" y="1121929"/>
            <a:ext cx="95048" cy="95048"/>
          </a:xfrm>
          <a:prstGeom prst="rect">
            <a:avLst/>
          </a:prstGeom>
          <a:solidFill>
            <a:srgbClr val="DCDC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6" name="rect_064">
            <a:extLst>
              <a:ext uri="{FF2B5EF4-FFF2-40B4-BE49-F238E27FC236}">
                <a16:creationId xmlns:a16="http://schemas.microsoft.com/office/drawing/2014/main" id="{7CB25EFE-CD22-BDF0-60E7-53BE0505B178}"/>
              </a:ext>
            </a:extLst>
          </p:cNvPr>
          <p:cNvSpPr/>
          <p:nvPr/>
        </p:nvSpPr>
        <p:spPr>
          <a:xfrm>
            <a:off x="7305701" y="1121929"/>
            <a:ext cx="95048" cy="95048"/>
          </a:xfrm>
          <a:prstGeom prst="rect">
            <a:avLst/>
          </a:prstGeom>
          <a:solidFill>
            <a:srgbClr val="B0B0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7" name="rect_065">
            <a:extLst>
              <a:ext uri="{FF2B5EF4-FFF2-40B4-BE49-F238E27FC236}">
                <a16:creationId xmlns:a16="http://schemas.microsoft.com/office/drawing/2014/main" id="{8FF174DF-26A2-A1D1-9F81-4A7339931234}"/>
              </a:ext>
            </a:extLst>
          </p:cNvPr>
          <p:cNvSpPr/>
          <p:nvPr/>
        </p:nvSpPr>
        <p:spPr>
          <a:xfrm>
            <a:off x="6994634" y="1225618"/>
            <a:ext cx="95048" cy="95048"/>
          </a:xfrm>
          <a:prstGeom prst="rect">
            <a:avLst/>
          </a:prstGeom>
          <a:solidFill>
            <a:srgbClr val="B0B0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8" name="rect_066">
            <a:extLst>
              <a:ext uri="{FF2B5EF4-FFF2-40B4-BE49-F238E27FC236}">
                <a16:creationId xmlns:a16="http://schemas.microsoft.com/office/drawing/2014/main" id="{945C6F45-596E-30FA-91AA-172FD4CBAE7F}"/>
              </a:ext>
            </a:extLst>
          </p:cNvPr>
          <p:cNvSpPr/>
          <p:nvPr/>
        </p:nvSpPr>
        <p:spPr>
          <a:xfrm>
            <a:off x="7098323" y="1225618"/>
            <a:ext cx="95048" cy="95048"/>
          </a:xfrm>
          <a:prstGeom prst="rect">
            <a:avLst/>
          </a:prstGeom>
          <a:solidFill>
            <a:srgbClr val="CECE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9" name="rect_067">
            <a:extLst>
              <a:ext uri="{FF2B5EF4-FFF2-40B4-BE49-F238E27FC236}">
                <a16:creationId xmlns:a16="http://schemas.microsoft.com/office/drawing/2014/main" id="{2F1B4387-0680-FB19-2993-1AFD9562BFCC}"/>
              </a:ext>
            </a:extLst>
          </p:cNvPr>
          <p:cNvSpPr/>
          <p:nvPr/>
        </p:nvSpPr>
        <p:spPr>
          <a:xfrm>
            <a:off x="7202012" y="1225618"/>
            <a:ext cx="95048" cy="95048"/>
          </a:xfrm>
          <a:prstGeom prst="rect">
            <a:avLst/>
          </a:prstGeom>
          <a:solidFill>
            <a:srgbClr val="EFEF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70" name="rect_068">
            <a:extLst>
              <a:ext uri="{FF2B5EF4-FFF2-40B4-BE49-F238E27FC236}">
                <a16:creationId xmlns:a16="http://schemas.microsoft.com/office/drawing/2014/main" id="{F8B6B2D0-0956-7F25-20C1-434E5C1E0334}"/>
              </a:ext>
            </a:extLst>
          </p:cNvPr>
          <p:cNvSpPr/>
          <p:nvPr/>
        </p:nvSpPr>
        <p:spPr>
          <a:xfrm>
            <a:off x="7305701" y="1225618"/>
            <a:ext cx="95048" cy="95048"/>
          </a:xfrm>
          <a:prstGeom prst="rect">
            <a:avLst/>
          </a:prstGeom>
          <a:solidFill>
            <a:srgbClr val="DCDC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71" name="text_069">
            <a:extLst>
              <a:ext uri="{FF2B5EF4-FFF2-40B4-BE49-F238E27FC236}">
                <a16:creationId xmlns:a16="http://schemas.microsoft.com/office/drawing/2014/main" id="{8C2C71C4-07E2-58F6-9427-01E85FB031F0}"/>
              </a:ext>
            </a:extLst>
          </p:cNvPr>
          <p:cNvSpPr txBox="1"/>
          <p:nvPr/>
        </p:nvSpPr>
        <p:spPr>
          <a:xfrm>
            <a:off x="7659970" y="879990"/>
            <a:ext cx="2091053" cy="25058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24" b="1">
                <a:solidFill>
                  <a:srgbClr val="181818"/>
                </a:solidFill>
                <a:latin typeface="Times New Roman" panose="02020603050405020304" pitchFamily="18" charset="0"/>
              </a:rPr>
              <a:t>Noise latent</a:t>
            </a:r>
            <a:endParaRPr lang="zh-CN" altLang="en-US" sz="1224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text_070">
            <a:extLst>
              <a:ext uri="{FF2B5EF4-FFF2-40B4-BE49-F238E27FC236}">
                <a16:creationId xmlns:a16="http://schemas.microsoft.com/office/drawing/2014/main" id="{EED21DD7-577F-18B6-F435-D7845A45619D}"/>
              </a:ext>
            </a:extLst>
          </p:cNvPr>
          <p:cNvSpPr txBox="1"/>
          <p:nvPr/>
        </p:nvSpPr>
        <p:spPr>
          <a:xfrm>
            <a:off x="7659970" y="1173773"/>
            <a:ext cx="2091053" cy="2073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>
                <a:solidFill>
                  <a:srgbClr val="181818"/>
                </a:solidFill>
                <a:latin typeface="Times New Roman" panose="02020603050405020304" pitchFamily="18" charset="0"/>
              </a:rPr>
              <a:t>Target size and random seed</a:t>
            </a:r>
            <a:endParaRPr lang="zh-CN" altLang="en-US" sz="953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3" name="line_071">
            <a:extLst>
              <a:ext uri="{FF2B5EF4-FFF2-40B4-BE49-F238E27FC236}">
                <a16:creationId xmlns:a16="http://schemas.microsoft.com/office/drawing/2014/main" id="{01EB97A2-4046-4FAF-3EFA-D64250886CAC}"/>
              </a:ext>
            </a:extLst>
          </p:cNvPr>
          <p:cNvCxnSpPr/>
          <p:nvPr/>
        </p:nvCxnSpPr>
        <p:spPr>
          <a:xfrm>
            <a:off x="8290741" y="1476198"/>
            <a:ext cx="0" cy="397473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_072">
            <a:extLst>
              <a:ext uri="{FF2B5EF4-FFF2-40B4-BE49-F238E27FC236}">
                <a16:creationId xmlns:a16="http://schemas.microsoft.com/office/drawing/2014/main" id="{899BD7BC-0C99-AB60-964F-0D148ED6853C}"/>
              </a:ext>
            </a:extLst>
          </p:cNvPr>
          <p:cNvSpPr/>
          <p:nvPr/>
        </p:nvSpPr>
        <p:spPr>
          <a:xfrm>
            <a:off x="6692210" y="1873671"/>
            <a:ext cx="3171142" cy="1330671"/>
          </a:xfrm>
          <a:prstGeom prst="rect">
            <a:avLst/>
          </a:prstGeom>
          <a:solidFill>
            <a:srgbClr val="FFFFFF"/>
          </a:solidFill>
          <a:ln w="10241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75" name="text_073">
            <a:extLst>
              <a:ext uri="{FF2B5EF4-FFF2-40B4-BE49-F238E27FC236}">
                <a16:creationId xmlns:a16="http://schemas.microsoft.com/office/drawing/2014/main" id="{4ADA48B6-730C-9A3B-6EDF-9428D951A60C}"/>
              </a:ext>
            </a:extLst>
          </p:cNvPr>
          <p:cNvSpPr txBox="1"/>
          <p:nvPr/>
        </p:nvSpPr>
        <p:spPr>
          <a:xfrm>
            <a:off x="6839102" y="1960078"/>
            <a:ext cx="2877359" cy="2419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21" b="1">
                <a:solidFill>
                  <a:srgbClr val="202020"/>
                </a:solidFill>
                <a:latin typeface="Arial" panose="020B0604020202020204" pitchFamily="34" charset="0"/>
              </a:rPr>
              <a:t>Denoising / KSampler</a:t>
            </a:r>
            <a:endParaRPr lang="zh-CN" altLang="en-US" sz="1021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76" name="text_074">
            <a:extLst>
              <a:ext uri="{FF2B5EF4-FFF2-40B4-BE49-F238E27FC236}">
                <a16:creationId xmlns:a16="http://schemas.microsoft.com/office/drawing/2014/main" id="{57D5D4B4-1F99-0B47-0E98-41FB9B616B2F}"/>
              </a:ext>
            </a:extLst>
          </p:cNvPr>
          <p:cNvSpPr txBox="1"/>
          <p:nvPr/>
        </p:nvSpPr>
        <p:spPr>
          <a:xfrm>
            <a:off x="6839102" y="2271144"/>
            <a:ext cx="2877359" cy="2332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21">
                <a:solidFill>
                  <a:srgbClr val="181818"/>
                </a:solidFill>
                <a:latin typeface="Times New Roman" panose="02020603050405020304" pitchFamily="18" charset="0"/>
              </a:rPr>
              <a:t>Conditioned iterative sampling</a:t>
            </a:r>
            <a:endParaRPr lang="zh-CN" altLang="en-US" sz="102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" name="rect_075">
            <a:extLst>
              <a:ext uri="{FF2B5EF4-FFF2-40B4-BE49-F238E27FC236}">
                <a16:creationId xmlns:a16="http://schemas.microsoft.com/office/drawing/2014/main" id="{2C421283-8D29-5AAF-93D7-8C7E55B2D1E1}"/>
              </a:ext>
            </a:extLst>
          </p:cNvPr>
          <p:cNvSpPr/>
          <p:nvPr/>
        </p:nvSpPr>
        <p:spPr>
          <a:xfrm>
            <a:off x="6942790" y="2642695"/>
            <a:ext cx="432035" cy="336988"/>
          </a:xfrm>
          <a:prstGeom prst="rect">
            <a:avLst/>
          </a:prstGeom>
          <a:solidFill>
            <a:srgbClr val="FFFFFF"/>
          </a:solidFill>
          <a:ln w="6145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78" name="text_076">
            <a:extLst>
              <a:ext uri="{FF2B5EF4-FFF2-40B4-BE49-F238E27FC236}">
                <a16:creationId xmlns:a16="http://schemas.microsoft.com/office/drawing/2014/main" id="{F7F462F6-ED88-83C7-0149-FDB8AE167718}"/>
              </a:ext>
            </a:extLst>
          </p:cNvPr>
          <p:cNvSpPr txBox="1"/>
          <p:nvPr/>
        </p:nvSpPr>
        <p:spPr>
          <a:xfrm>
            <a:off x="7046479" y="2668617"/>
            <a:ext cx="190096" cy="259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565" i="1">
                <a:solidFill>
                  <a:srgbClr val="181818"/>
                </a:solidFill>
                <a:latin typeface="Times New Roman" panose="02020603050405020304" pitchFamily="18" charset="0"/>
              </a:rPr>
              <a:t>z</a:t>
            </a:r>
            <a:endParaRPr lang="zh-CN" altLang="en-US" sz="1565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" name="text_077">
            <a:extLst>
              <a:ext uri="{FF2B5EF4-FFF2-40B4-BE49-F238E27FC236}">
                <a16:creationId xmlns:a16="http://schemas.microsoft.com/office/drawing/2014/main" id="{ED130A69-00BD-C011-3F07-39FC5803DF78}"/>
              </a:ext>
            </a:extLst>
          </p:cNvPr>
          <p:cNvSpPr txBox="1"/>
          <p:nvPr/>
        </p:nvSpPr>
        <p:spPr>
          <a:xfrm>
            <a:off x="7184731" y="2789587"/>
            <a:ext cx="155533" cy="1555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17" i="1">
                <a:solidFill>
                  <a:srgbClr val="181818"/>
                </a:solidFill>
                <a:latin typeface="Times New Roman" panose="02020603050405020304" pitchFamily="18" charset="0"/>
              </a:rPr>
              <a:t>T</a:t>
            </a:r>
            <a:endParaRPr lang="zh-CN" altLang="en-US" sz="817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rect_078">
            <a:extLst>
              <a:ext uri="{FF2B5EF4-FFF2-40B4-BE49-F238E27FC236}">
                <a16:creationId xmlns:a16="http://schemas.microsoft.com/office/drawing/2014/main" id="{BD4FD5FE-FED2-A272-17B1-341FE86178D9}"/>
              </a:ext>
            </a:extLst>
          </p:cNvPr>
          <p:cNvSpPr/>
          <p:nvPr/>
        </p:nvSpPr>
        <p:spPr>
          <a:xfrm>
            <a:off x="8040162" y="2642695"/>
            <a:ext cx="432036" cy="336988"/>
          </a:xfrm>
          <a:prstGeom prst="rect">
            <a:avLst/>
          </a:prstGeom>
          <a:solidFill>
            <a:srgbClr val="FFFFFF"/>
          </a:solidFill>
          <a:ln w="6145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81" name="text_079">
            <a:extLst>
              <a:ext uri="{FF2B5EF4-FFF2-40B4-BE49-F238E27FC236}">
                <a16:creationId xmlns:a16="http://schemas.microsoft.com/office/drawing/2014/main" id="{64BFE842-63A7-AC67-DFA7-42B18A97438E}"/>
              </a:ext>
            </a:extLst>
          </p:cNvPr>
          <p:cNvSpPr txBox="1"/>
          <p:nvPr/>
        </p:nvSpPr>
        <p:spPr>
          <a:xfrm>
            <a:off x="8143850" y="2668617"/>
            <a:ext cx="190096" cy="259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565" i="1">
                <a:solidFill>
                  <a:srgbClr val="181818"/>
                </a:solidFill>
                <a:latin typeface="Times New Roman" panose="02020603050405020304" pitchFamily="18" charset="0"/>
              </a:rPr>
              <a:t>z</a:t>
            </a:r>
            <a:endParaRPr lang="zh-CN" altLang="en-US" sz="1565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" name="text_080">
            <a:extLst>
              <a:ext uri="{FF2B5EF4-FFF2-40B4-BE49-F238E27FC236}">
                <a16:creationId xmlns:a16="http://schemas.microsoft.com/office/drawing/2014/main" id="{F28FC03A-3FD5-E584-23E2-3F9E61DBD04D}"/>
              </a:ext>
            </a:extLst>
          </p:cNvPr>
          <p:cNvSpPr txBox="1"/>
          <p:nvPr/>
        </p:nvSpPr>
        <p:spPr>
          <a:xfrm>
            <a:off x="8282102" y="2789587"/>
            <a:ext cx="155533" cy="1555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17" i="1">
                <a:solidFill>
                  <a:srgbClr val="181818"/>
                </a:solidFill>
                <a:latin typeface="Times New Roman" panose="02020603050405020304" pitchFamily="18" charset="0"/>
              </a:rPr>
              <a:t>t</a:t>
            </a:r>
            <a:endParaRPr lang="zh-CN" altLang="en-US" sz="817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rect_081">
            <a:extLst>
              <a:ext uri="{FF2B5EF4-FFF2-40B4-BE49-F238E27FC236}">
                <a16:creationId xmlns:a16="http://schemas.microsoft.com/office/drawing/2014/main" id="{07952077-6711-F116-7B7E-23E4A648D6CC}"/>
              </a:ext>
            </a:extLst>
          </p:cNvPr>
          <p:cNvSpPr/>
          <p:nvPr/>
        </p:nvSpPr>
        <p:spPr>
          <a:xfrm>
            <a:off x="9198018" y="2642695"/>
            <a:ext cx="432035" cy="336988"/>
          </a:xfrm>
          <a:prstGeom prst="rect">
            <a:avLst/>
          </a:prstGeom>
          <a:solidFill>
            <a:srgbClr val="FFFFFF"/>
          </a:solidFill>
          <a:ln w="6145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84" name="text_082">
            <a:extLst>
              <a:ext uri="{FF2B5EF4-FFF2-40B4-BE49-F238E27FC236}">
                <a16:creationId xmlns:a16="http://schemas.microsoft.com/office/drawing/2014/main" id="{3367D6B9-58FD-82B7-6B06-27E5185A1226}"/>
              </a:ext>
            </a:extLst>
          </p:cNvPr>
          <p:cNvSpPr txBox="1"/>
          <p:nvPr/>
        </p:nvSpPr>
        <p:spPr>
          <a:xfrm>
            <a:off x="9301706" y="2668617"/>
            <a:ext cx="190096" cy="259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565" i="1">
                <a:solidFill>
                  <a:srgbClr val="181818"/>
                </a:solidFill>
                <a:latin typeface="Times New Roman" panose="02020603050405020304" pitchFamily="18" charset="0"/>
              </a:rPr>
              <a:t>z</a:t>
            </a:r>
            <a:endParaRPr lang="zh-CN" altLang="en-US" sz="1565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" name="text_083">
            <a:extLst>
              <a:ext uri="{FF2B5EF4-FFF2-40B4-BE49-F238E27FC236}">
                <a16:creationId xmlns:a16="http://schemas.microsoft.com/office/drawing/2014/main" id="{FF6F6A43-E5E5-0EC7-0D55-2F4939D07255}"/>
              </a:ext>
            </a:extLst>
          </p:cNvPr>
          <p:cNvSpPr txBox="1"/>
          <p:nvPr/>
        </p:nvSpPr>
        <p:spPr>
          <a:xfrm>
            <a:off x="9439957" y="2789587"/>
            <a:ext cx="155533" cy="1555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17" i="1">
                <a:solidFill>
                  <a:srgbClr val="181818"/>
                </a:solidFill>
                <a:latin typeface="Times New Roman" panose="02020603050405020304" pitchFamily="18" charset="0"/>
              </a:rPr>
              <a:t>0</a:t>
            </a:r>
            <a:endParaRPr lang="zh-CN" altLang="en-US" sz="817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6" name="line_084">
            <a:extLst>
              <a:ext uri="{FF2B5EF4-FFF2-40B4-BE49-F238E27FC236}">
                <a16:creationId xmlns:a16="http://schemas.microsoft.com/office/drawing/2014/main" id="{805E06BF-1EC9-DBB5-7A9A-60B72AC1D34D}"/>
              </a:ext>
            </a:extLst>
          </p:cNvPr>
          <p:cNvCxnSpPr/>
          <p:nvPr/>
        </p:nvCxnSpPr>
        <p:spPr>
          <a:xfrm>
            <a:off x="7374825" y="2815509"/>
            <a:ext cx="665336" cy="0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line_085">
            <a:extLst>
              <a:ext uri="{FF2B5EF4-FFF2-40B4-BE49-F238E27FC236}">
                <a16:creationId xmlns:a16="http://schemas.microsoft.com/office/drawing/2014/main" id="{DFE9452A-D954-9D80-36FD-C5FDD131737C}"/>
              </a:ext>
            </a:extLst>
          </p:cNvPr>
          <p:cNvCxnSpPr/>
          <p:nvPr/>
        </p:nvCxnSpPr>
        <p:spPr>
          <a:xfrm>
            <a:off x="8472198" y="2815509"/>
            <a:ext cx="725820" cy="0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line_086">
            <a:extLst>
              <a:ext uri="{FF2B5EF4-FFF2-40B4-BE49-F238E27FC236}">
                <a16:creationId xmlns:a16="http://schemas.microsoft.com/office/drawing/2014/main" id="{C82B5D58-1676-A906-876E-0DE37D77F4AF}"/>
              </a:ext>
            </a:extLst>
          </p:cNvPr>
          <p:cNvCxnSpPr/>
          <p:nvPr/>
        </p:nvCxnSpPr>
        <p:spPr>
          <a:xfrm>
            <a:off x="8290741" y="3204342"/>
            <a:ext cx="0" cy="276503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_087">
            <a:extLst>
              <a:ext uri="{FF2B5EF4-FFF2-40B4-BE49-F238E27FC236}">
                <a16:creationId xmlns:a16="http://schemas.microsoft.com/office/drawing/2014/main" id="{91D32AB3-76F9-ABF1-8222-D80EAD08C8C1}"/>
              </a:ext>
            </a:extLst>
          </p:cNvPr>
          <p:cNvSpPr/>
          <p:nvPr/>
        </p:nvSpPr>
        <p:spPr>
          <a:xfrm>
            <a:off x="6942790" y="3480844"/>
            <a:ext cx="2678622" cy="570287"/>
          </a:xfrm>
          <a:prstGeom prst="rect">
            <a:avLst/>
          </a:prstGeom>
          <a:solidFill>
            <a:srgbClr val="FFFFFF"/>
          </a:solidFill>
          <a:ln w="6657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90" name="text_088">
            <a:extLst>
              <a:ext uri="{FF2B5EF4-FFF2-40B4-BE49-F238E27FC236}">
                <a16:creationId xmlns:a16="http://schemas.microsoft.com/office/drawing/2014/main" id="{C3554E6E-E6B1-CBA2-035A-7485245C9230}"/>
              </a:ext>
            </a:extLst>
          </p:cNvPr>
          <p:cNvSpPr txBox="1"/>
          <p:nvPr/>
        </p:nvSpPr>
        <p:spPr>
          <a:xfrm>
            <a:off x="7046479" y="3541330"/>
            <a:ext cx="2471245" cy="21601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17" b="1">
                <a:solidFill>
                  <a:srgbClr val="202020"/>
                </a:solidFill>
                <a:latin typeface="Arial" panose="020B0604020202020204" pitchFamily="34" charset="0"/>
              </a:rPr>
              <a:t>VAE decode</a:t>
            </a:r>
            <a:endParaRPr lang="zh-CN" altLang="en-US" sz="817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91" name="text_089">
            <a:extLst>
              <a:ext uri="{FF2B5EF4-FFF2-40B4-BE49-F238E27FC236}">
                <a16:creationId xmlns:a16="http://schemas.microsoft.com/office/drawing/2014/main" id="{FA8572F3-263E-14F6-B4AC-7961B03EE905}"/>
              </a:ext>
            </a:extLst>
          </p:cNvPr>
          <p:cNvSpPr txBox="1"/>
          <p:nvPr/>
        </p:nvSpPr>
        <p:spPr>
          <a:xfrm>
            <a:off x="7046479" y="3783269"/>
            <a:ext cx="2471245" cy="22465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>
                <a:solidFill>
                  <a:srgbClr val="181818"/>
                </a:solidFill>
                <a:latin typeface="Times New Roman" panose="02020603050405020304" pitchFamily="18" charset="0"/>
              </a:rPr>
              <a:t>Qwen image VAE</a:t>
            </a:r>
            <a:endParaRPr lang="zh-CN" altLang="en-US" sz="953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2" name="line_090">
            <a:extLst>
              <a:ext uri="{FF2B5EF4-FFF2-40B4-BE49-F238E27FC236}">
                <a16:creationId xmlns:a16="http://schemas.microsoft.com/office/drawing/2014/main" id="{282D8124-C14C-D66E-D1A9-836EA189A8FD}"/>
              </a:ext>
            </a:extLst>
          </p:cNvPr>
          <p:cNvCxnSpPr/>
          <p:nvPr/>
        </p:nvCxnSpPr>
        <p:spPr>
          <a:xfrm>
            <a:off x="8290741" y="4051132"/>
            <a:ext cx="0" cy="250581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picture_091">
            <a:extLst>
              <a:ext uri="{FF2B5EF4-FFF2-40B4-BE49-F238E27FC236}">
                <a16:creationId xmlns:a16="http://schemas.microsoft.com/office/drawing/2014/main" id="{9D977919-9F6F-FC7E-C401-5F9B26D813B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664" y="4329094"/>
            <a:ext cx="1391156" cy="1033967"/>
          </a:xfrm>
          <a:prstGeom prst="rect">
            <a:avLst/>
          </a:prstGeom>
        </p:spPr>
      </p:pic>
      <p:sp>
        <p:nvSpPr>
          <p:cNvPr id="95" name="rect_092">
            <a:extLst>
              <a:ext uri="{FF2B5EF4-FFF2-40B4-BE49-F238E27FC236}">
                <a16:creationId xmlns:a16="http://schemas.microsoft.com/office/drawing/2014/main" id="{6588CD69-A4DC-CAFB-463B-266E5FF3A8BD}"/>
              </a:ext>
            </a:extLst>
          </p:cNvPr>
          <p:cNvSpPr/>
          <p:nvPr/>
        </p:nvSpPr>
        <p:spPr>
          <a:xfrm>
            <a:off x="6873664" y="4329094"/>
            <a:ext cx="1391156" cy="1033968"/>
          </a:xfrm>
          <a:prstGeom prst="rect">
            <a:avLst/>
          </a:prstGeom>
          <a:noFill/>
          <a:ln w="3584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96" name="text_093">
            <a:extLst>
              <a:ext uri="{FF2B5EF4-FFF2-40B4-BE49-F238E27FC236}">
                <a16:creationId xmlns:a16="http://schemas.microsoft.com/office/drawing/2014/main" id="{97603E08-5587-68DF-3E49-47751F8EACD0}"/>
              </a:ext>
            </a:extLst>
          </p:cNvPr>
          <p:cNvSpPr txBox="1"/>
          <p:nvPr/>
        </p:nvSpPr>
        <p:spPr>
          <a:xfrm>
            <a:off x="8515400" y="4396761"/>
            <a:ext cx="1304748" cy="259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57" b="1">
                <a:solidFill>
                  <a:srgbClr val="181818"/>
                </a:solidFill>
                <a:latin typeface="Times New Roman" panose="02020603050405020304" pitchFamily="18" charset="0"/>
              </a:rPr>
              <a:t>Generated edit</a:t>
            </a:r>
            <a:endParaRPr lang="zh-CN" altLang="en-US" sz="1157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" name="text_094">
            <a:extLst>
              <a:ext uri="{FF2B5EF4-FFF2-40B4-BE49-F238E27FC236}">
                <a16:creationId xmlns:a16="http://schemas.microsoft.com/office/drawing/2014/main" id="{0E395BD5-5148-FB64-B563-4A15A6E19282}"/>
              </a:ext>
            </a:extLst>
          </p:cNvPr>
          <p:cNvSpPr txBox="1"/>
          <p:nvPr/>
        </p:nvSpPr>
        <p:spPr>
          <a:xfrm>
            <a:off x="8515400" y="4742388"/>
            <a:ext cx="1304748" cy="5702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53">
                <a:solidFill>
                  <a:srgbClr val="181818"/>
                </a:solidFill>
                <a:latin typeface="Times New Roman" panose="02020603050405020304" pitchFamily="18" charset="0"/>
              </a:rPr>
              <a:t>Scene content
Safety state
Image quality</a:t>
            </a:r>
            <a:endParaRPr lang="zh-CN" altLang="en-US" sz="953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8" name="line_095">
            <a:extLst>
              <a:ext uri="{FF2B5EF4-FFF2-40B4-BE49-F238E27FC236}">
                <a16:creationId xmlns:a16="http://schemas.microsoft.com/office/drawing/2014/main" id="{0C3A43A8-159B-D6A3-C618-2BC1761BBC23}"/>
              </a:ext>
            </a:extLst>
          </p:cNvPr>
          <p:cNvCxnSpPr/>
          <p:nvPr/>
        </p:nvCxnSpPr>
        <p:spPr>
          <a:xfrm>
            <a:off x="8290741" y="5381802"/>
            <a:ext cx="0" cy="216018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_096">
            <a:extLst>
              <a:ext uri="{FF2B5EF4-FFF2-40B4-BE49-F238E27FC236}">
                <a16:creationId xmlns:a16="http://schemas.microsoft.com/office/drawing/2014/main" id="{2D52C73C-7DE7-3A10-BAE5-6A83208A05B0}"/>
              </a:ext>
            </a:extLst>
          </p:cNvPr>
          <p:cNvSpPr txBox="1"/>
          <p:nvPr/>
        </p:nvSpPr>
        <p:spPr>
          <a:xfrm>
            <a:off x="6847743" y="5597819"/>
            <a:ext cx="2903280" cy="2419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51" b="1">
                <a:solidFill>
                  <a:srgbClr val="181818"/>
                </a:solidFill>
                <a:latin typeface="Arial" panose="020B0604020202020204" pitchFamily="34" charset="0"/>
              </a:rPr>
              <a:t>Human review and YOLO annotation</a:t>
            </a:r>
            <a:endParaRPr lang="zh-CN" altLang="en-US" sz="851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100" name="line_097">
            <a:extLst>
              <a:ext uri="{FF2B5EF4-FFF2-40B4-BE49-F238E27FC236}">
                <a16:creationId xmlns:a16="http://schemas.microsoft.com/office/drawing/2014/main" id="{D2E527F4-D46B-7B84-AD19-B1C4F424F72F}"/>
              </a:ext>
            </a:extLst>
          </p:cNvPr>
          <p:cNvCxnSpPr/>
          <p:nvPr/>
        </p:nvCxnSpPr>
        <p:spPr>
          <a:xfrm>
            <a:off x="8290741" y="5891604"/>
            <a:ext cx="0" cy="164174"/>
          </a:xfrm>
          <a:prstGeom prst="line">
            <a:avLst/>
          </a:prstGeom>
          <a:ln w="7681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_098">
            <a:extLst>
              <a:ext uri="{FF2B5EF4-FFF2-40B4-BE49-F238E27FC236}">
                <a16:creationId xmlns:a16="http://schemas.microsoft.com/office/drawing/2014/main" id="{9066A4B9-3B98-42FE-3627-4B96F75099E4}"/>
              </a:ext>
            </a:extLst>
          </p:cNvPr>
          <p:cNvSpPr txBox="1"/>
          <p:nvPr/>
        </p:nvSpPr>
        <p:spPr>
          <a:xfrm>
            <a:off x="6856383" y="6064418"/>
            <a:ext cx="2972406" cy="2678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61" b="1">
                <a:solidFill>
                  <a:srgbClr val="202020"/>
                </a:solidFill>
                <a:latin typeface="Times New Roman" panose="02020603050405020304" pitchFamily="18" charset="0"/>
              </a:rPr>
              <a:t>Arm C: 1,085 retained images</a:t>
            </a:r>
            <a:endParaRPr lang="zh-CN" altLang="en-US" sz="1361" b="1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2" name="line_099">
            <a:extLst>
              <a:ext uri="{FF2B5EF4-FFF2-40B4-BE49-F238E27FC236}">
                <a16:creationId xmlns:a16="http://schemas.microsoft.com/office/drawing/2014/main" id="{BF3201D1-AB44-AC9E-9807-3834C879153A}"/>
              </a:ext>
            </a:extLst>
          </p:cNvPr>
          <p:cNvCxnSpPr/>
          <p:nvPr/>
        </p:nvCxnSpPr>
        <p:spPr>
          <a:xfrm>
            <a:off x="6856383" y="6366843"/>
            <a:ext cx="2963766" cy="0"/>
          </a:xfrm>
          <a:prstGeom prst="line">
            <a:avLst/>
          </a:prstGeom>
          <a:ln w="10241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26834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D168B88F-FFD7-3A86-AA08-A982E7AA6872}"/>
              </a:ext>
            </a:extLst>
          </p:cNvPr>
          <p:cNvSpPr txBox="1"/>
          <p:nvPr/>
        </p:nvSpPr>
        <p:spPr>
          <a:xfrm>
            <a:off x="2344001" y="273249"/>
            <a:ext cx="3417519" cy="2254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45" b="1">
                <a:solidFill>
                  <a:srgbClr val="181818"/>
                </a:solidFill>
                <a:latin typeface="Times New Roman" panose="02020603050405020304" pitchFamily="18" charset="0"/>
              </a:rPr>
              <a:t>(a) LoRA fitting on real93</a:t>
            </a:r>
            <a:endParaRPr lang="zh-CN" altLang="en-US" sz="1145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_002">
            <a:extLst>
              <a:ext uri="{FF2B5EF4-FFF2-40B4-BE49-F238E27FC236}">
                <a16:creationId xmlns:a16="http://schemas.microsoft.com/office/drawing/2014/main" id="{8319C931-70B4-4C4A-4269-F31063F6C799}"/>
              </a:ext>
            </a:extLst>
          </p:cNvPr>
          <p:cNvSpPr txBox="1"/>
          <p:nvPr/>
        </p:nvSpPr>
        <p:spPr>
          <a:xfrm>
            <a:off x="6445024" y="273249"/>
            <a:ext cx="3402976" cy="2254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45" b="1">
                <a:solidFill>
                  <a:srgbClr val="181818"/>
                </a:solidFill>
                <a:latin typeface="Times New Roman" panose="02020603050405020304" pitchFamily="18" charset="0"/>
              </a:rPr>
              <a:t>(b) Text-to-image generation</a:t>
            </a:r>
            <a:endParaRPr lang="zh-CN" altLang="en-US" sz="1145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line_003">
            <a:extLst>
              <a:ext uri="{FF2B5EF4-FFF2-40B4-BE49-F238E27FC236}">
                <a16:creationId xmlns:a16="http://schemas.microsoft.com/office/drawing/2014/main" id="{7C2DB544-86AA-3AA1-8891-1725D413461D}"/>
              </a:ext>
            </a:extLst>
          </p:cNvPr>
          <p:cNvCxnSpPr/>
          <p:nvPr/>
        </p:nvCxnSpPr>
        <p:spPr>
          <a:xfrm>
            <a:off x="2344001" y="564101"/>
            <a:ext cx="3417518" cy="0"/>
          </a:xfrm>
          <a:prstGeom prst="line">
            <a:avLst/>
          </a:prstGeom>
          <a:ln w="8618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line_004">
            <a:extLst>
              <a:ext uri="{FF2B5EF4-FFF2-40B4-BE49-F238E27FC236}">
                <a16:creationId xmlns:a16="http://schemas.microsoft.com/office/drawing/2014/main" id="{F05C5555-F64C-0ECC-0020-F586B40D907E}"/>
              </a:ext>
            </a:extLst>
          </p:cNvPr>
          <p:cNvCxnSpPr/>
          <p:nvPr/>
        </p:nvCxnSpPr>
        <p:spPr>
          <a:xfrm>
            <a:off x="6445023" y="564101"/>
            <a:ext cx="3402977" cy="0"/>
          </a:xfrm>
          <a:prstGeom prst="line">
            <a:avLst/>
          </a:prstGeom>
          <a:ln w="8618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_005">
            <a:extLst>
              <a:ext uri="{FF2B5EF4-FFF2-40B4-BE49-F238E27FC236}">
                <a16:creationId xmlns:a16="http://schemas.microsoft.com/office/drawing/2014/main" id="{0251B96B-D418-D347-D05C-80DD78A711B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453" y="724070"/>
            <a:ext cx="921033" cy="690775"/>
          </a:xfrm>
          <a:prstGeom prst="rect">
            <a:avLst/>
          </a:prstGeom>
        </p:spPr>
      </p:pic>
      <p:sp>
        <p:nvSpPr>
          <p:cNvPr id="8" name="rect_006">
            <a:extLst>
              <a:ext uri="{FF2B5EF4-FFF2-40B4-BE49-F238E27FC236}">
                <a16:creationId xmlns:a16="http://schemas.microsoft.com/office/drawing/2014/main" id="{659D2E4D-D5C9-E2F7-36C9-168B49EEE117}"/>
              </a:ext>
            </a:extLst>
          </p:cNvPr>
          <p:cNvSpPr/>
          <p:nvPr/>
        </p:nvSpPr>
        <p:spPr>
          <a:xfrm>
            <a:off x="2512453" y="724070"/>
            <a:ext cx="921033" cy="690775"/>
          </a:xfrm>
          <a:prstGeom prst="rect">
            <a:avLst/>
          </a:prstGeom>
          <a:noFill/>
          <a:ln w="3016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9" name="text_007">
            <a:extLst>
              <a:ext uri="{FF2B5EF4-FFF2-40B4-BE49-F238E27FC236}">
                <a16:creationId xmlns:a16="http://schemas.microsoft.com/office/drawing/2014/main" id="{44F5EEF9-14A0-BF5B-D3CC-4D577381B101}"/>
              </a:ext>
            </a:extLst>
          </p:cNvPr>
          <p:cNvSpPr txBox="1"/>
          <p:nvPr/>
        </p:nvSpPr>
        <p:spPr>
          <a:xfrm>
            <a:off x="3703737" y="694985"/>
            <a:ext cx="2014154" cy="2108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74" b="1">
                <a:solidFill>
                  <a:srgbClr val="181818"/>
                </a:solidFill>
                <a:latin typeface="Times New Roman" panose="02020603050405020304" pitchFamily="18" charset="0"/>
              </a:rPr>
              <a:t>93 reviewed image–caption pairs</a:t>
            </a:r>
            <a:endParaRPr lang="zh-CN" altLang="en-US" sz="974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ext_008">
            <a:extLst>
              <a:ext uri="{FF2B5EF4-FFF2-40B4-BE49-F238E27FC236}">
                <a16:creationId xmlns:a16="http://schemas.microsoft.com/office/drawing/2014/main" id="{02AD706A-8EFC-56CE-CDE7-7A61B984FD98}"/>
              </a:ext>
            </a:extLst>
          </p:cNvPr>
          <p:cNvSpPr txBox="1"/>
          <p:nvPr/>
        </p:nvSpPr>
        <p:spPr>
          <a:xfrm>
            <a:off x="3703737" y="971294"/>
            <a:ext cx="618062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Source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_009">
            <a:extLst>
              <a:ext uri="{FF2B5EF4-FFF2-40B4-BE49-F238E27FC236}">
                <a16:creationId xmlns:a16="http://schemas.microsoft.com/office/drawing/2014/main" id="{8EE0CC09-A284-AC8D-848B-50749E664508}"/>
              </a:ext>
            </a:extLst>
          </p:cNvPr>
          <p:cNvSpPr txBox="1"/>
          <p:nvPr/>
        </p:nvSpPr>
        <p:spPr>
          <a:xfrm>
            <a:off x="4394512" y="971294"/>
            <a:ext cx="1316108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real93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_010">
            <a:extLst>
              <a:ext uri="{FF2B5EF4-FFF2-40B4-BE49-F238E27FC236}">
                <a16:creationId xmlns:a16="http://schemas.microsoft.com/office/drawing/2014/main" id="{D1CFAC9C-ACD5-F519-BE98-5AD36F01E6E9}"/>
              </a:ext>
            </a:extLst>
          </p:cNvPr>
          <p:cNvSpPr txBox="1"/>
          <p:nvPr/>
        </p:nvSpPr>
        <p:spPr>
          <a:xfrm>
            <a:off x="3703737" y="1211248"/>
            <a:ext cx="618062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Trigger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_011">
            <a:extLst>
              <a:ext uri="{FF2B5EF4-FFF2-40B4-BE49-F238E27FC236}">
                <a16:creationId xmlns:a16="http://schemas.microsoft.com/office/drawing/2014/main" id="{D348F847-E861-8B66-7958-3EF6DD9B908A}"/>
              </a:ext>
            </a:extLst>
          </p:cNvPr>
          <p:cNvSpPr txBox="1"/>
          <p:nvPr/>
        </p:nvSpPr>
        <p:spPr>
          <a:xfrm>
            <a:off x="4394512" y="1211248"/>
            <a:ext cx="1316108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cylsite93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4" name="line_012">
            <a:extLst>
              <a:ext uri="{FF2B5EF4-FFF2-40B4-BE49-F238E27FC236}">
                <a16:creationId xmlns:a16="http://schemas.microsoft.com/office/drawing/2014/main" id="{B99D6CAF-B13A-B27B-098E-C7D8FBCCC38C}"/>
              </a:ext>
            </a:extLst>
          </p:cNvPr>
          <p:cNvCxnSpPr/>
          <p:nvPr/>
        </p:nvCxnSpPr>
        <p:spPr>
          <a:xfrm>
            <a:off x="2976605" y="1451203"/>
            <a:ext cx="0" cy="225410"/>
          </a:xfrm>
          <a:prstGeom prst="line">
            <a:avLst/>
          </a:prstGeom>
          <a:ln w="6463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_013">
            <a:extLst>
              <a:ext uri="{FF2B5EF4-FFF2-40B4-BE49-F238E27FC236}">
                <a16:creationId xmlns:a16="http://schemas.microsoft.com/office/drawing/2014/main" id="{C64D052E-236F-B122-7650-3B87DFFD9380}"/>
              </a:ext>
            </a:extLst>
          </p:cNvPr>
          <p:cNvCxnSpPr/>
          <p:nvPr/>
        </p:nvCxnSpPr>
        <p:spPr>
          <a:xfrm>
            <a:off x="4758077" y="1451203"/>
            <a:ext cx="0" cy="225410"/>
          </a:xfrm>
          <a:prstGeom prst="line">
            <a:avLst/>
          </a:prstGeom>
          <a:ln w="6463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_014">
            <a:extLst>
              <a:ext uri="{FF2B5EF4-FFF2-40B4-BE49-F238E27FC236}">
                <a16:creationId xmlns:a16="http://schemas.microsoft.com/office/drawing/2014/main" id="{36CD4F5C-E893-2734-1EDB-9DA466444853}"/>
              </a:ext>
            </a:extLst>
          </p:cNvPr>
          <p:cNvSpPr/>
          <p:nvPr/>
        </p:nvSpPr>
        <p:spPr>
          <a:xfrm>
            <a:off x="2453071" y="1676612"/>
            <a:ext cx="1316108" cy="305395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17" name="text_015">
            <a:extLst>
              <a:ext uri="{FF2B5EF4-FFF2-40B4-BE49-F238E27FC236}">
                <a16:creationId xmlns:a16="http://schemas.microsoft.com/office/drawing/2014/main" id="{777635DA-6261-9BFA-F01F-AD8AD84F3660}"/>
              </a:ext>
            </a:extLst>
          </p:cNvPr>
          <p:cNvSpPr txBox="1"/>
          <p:nvPr/>
        </p:nvSpPr>
        <p:spPr>
          <a:xfrm>
            <a:off x="2511240" y="1742055"/>
            <a:ext cx="1199767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716" b="1">
                <a:solidFill>
                  <a:srgbClr val="181818"/>
                </a:solidFill>
                <a:latin typeface="Arial" panose="020B0604020202020204" pitchFamily="34" charset="0"/>
              </a:rPr>
              <a:t>Image VAE encoder</a:t>
            </a:r>
            <a:endParaRPr lang="zh-CN" altLang="en-US" sz="716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_016">
            <a:extLst>
              <a:ext uri="{FF2B5EF4-FFF2-40B4-BE49-F238E27FC236}">
                <a16:creationId xmlns:a16="http://schemas.microsoft.com/office/drawing/2014/main" id="{328A2DED-93BB-F993-198E-84C810A6ACD9}"/>
              </a:ext>
            </a:extLst>
          </p:cNvPr>
          <p:cNvSpPr/>
          <p:nvPr/>
        </p:nvSpPr>
        <p:spPr>
          <a:xfrm>
            <a:off x="4154559" y="1676612"/>
            <a:ext cx="1599690" cy="305395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19" name="text_017">
            <a:extLst>
              <a:ext uri="{FF2B5EF4-FFF2-40B4-BE49-F238E27FC236}">
                <a16:creationId xmlns:a16="http://schemas.microsoft.com/office/drawing/2014/main" id="{B5DA391F-CCAE-D4DB-465C-31CD1CE0B8BC}"/>
              </a:ext>
            </a:extLst>
          </p:cNvPr>
          <p:cNvSpPr txBox="1"/>
          <p:nvPr/>
        </p:nvSpPr>
        <p:spPr>
          <a:xfrm>
            <a:off x="4212729" y="1742055"/>
            <a:ext cx="1483349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716" b="1">
                <a:solidFill>
                  <a:srgbClr val="181818"/>
                </a:solidFill>
                <a:latin typeface="Arial" panose="020B0604020202020204" pitchFamily="34" charset="0"/>
              </a:rPr>
              <a:t>Text encoder</a:t>
            </a:r>
            <a:endParaRPr lang="zh-CN" altLang="en-US" sz="716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20" name="line_018">
            <a:extLst>
              <a:ext uri="{FF2B5EF4-FFF2-40B4-BE49-F238E27FC236}">
                <a16:creationId xmlns:a16="http://schemas.microsoft.com/office/drawing/2014/main" id="{49CF2776-F28B-FC0D-A59D-964DA213DAC1}"/>
              </a:ext>
            </a:extLst>
          </p:cNvPr>
          <p:cNvCxnSpPr/>
          <p:nvPr/>
        </p:nvCxnSpPr>
        <p:spPr>
          <a:xfrm>
            <a:off x="3114760" y="1982007"/>
            <a:ext cx="0" cy="138156"/>
          </a:xfrm>
          <a:prstGeom prst="line">
            <a:avLst/>
          </a:prstGeom>
          <a:ln w="646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ne_019">
            <a:extLst>
              <a:ext uri="{FF2B5EF4-FFF2-40B4-BE49-F238E27FC236}">
                <a16:creationId xmlns:a16="http://schemas.microsoft.com/office/drawing/2014/main" id="{D5C9C41B-1703-A43B-4EFA-A613813C1223}"/>
              </a:ext>
            </a:extLst>
          </p:cNvPr>
          <p:cNvCxnSpPr/>
          <p:nvPr/>
        </p:nvCxnSpPr>
        <p:spPr>
          <a:xfrm>
            <a:off x="3114761" y="2120163"/>
            <a:ext cx="967084" cy="0"/>
          </a:xfrm>
          <a:prstGeom prst="line">
            <a:avLst/>
          </a:prstGeom>
          <a:ln w="646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ne_020">
            <a:extLst>
              <a:ext uri="{FF2B5EF4-FFF2-40B4-BE49-F238E27FC236}">
                <a16:creationId xmlns:a16="http://schemas.microsoft.com/office/drawing/2014/main" id="{C3738A05-1171-B68A-2344-1EEF9B41F178}"/>
              </a:ext>
            </a:extLst>
          </p:cNvPr>
          <p:cNvCxnSpPr/>
          <p:nvPr/>
        </p:nvCxnSpPr>
        <p:spPr>
          <a:xfrm>
            <a:off x="4954404" y="1982007"/>
            <a:ext cx="0" cy="138156"/>
          </a:xfrm>
          <a:prstGeom prst="line">
            <a:avLst/>
          </a:prstGeom>
          <a:ln w="646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ne_021">
            <a:extLst>
              <a:ext uri="{FF2B5EF4-FFF2-40B4-BE49-F238E27FC236}">
                <a16:creationId xmlns:a16="http://schemas.microsoft.com/office/drawing/2014/main" id="{4FD14EE5-1C61-B9CD-AE2A-89C3961AC561}"/>
              </a:ext>
            </a:extLst>
          </p:cNvPr>
          <p:cNvCxnSpPr/>
          <p:nvPr/>
        </p:nvCxnSpPr>
        <p:spPr>
          <a:xfrm flipH="1">
            <a:off x="4081845" y="2120163"/>
            <a:ext cx="872559" cy="0"/>
          </a:xfrm>
          <a:prstGeom prst="line">
            <a:avLst/>
          </a:prstGeom>
          <a:ln w="646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ne_022">
            <a:extLst>
              <a:ext uri="{FF2B5EF4-FFF2-40B4-BE49-F238E27FC236}">
                <a16:creationId xmlns:a16="http://schemas.microsoft.com/office/drawing/2014/main" id="{CBED7C9E-BA5C-7937-3C97-2742CFEC8589}"/>
              </a:ext>
            </a:extLst>
          </p:cNvPr>
          <p:cNvCxnSpPr/>
          <p:nvPr/>
        </p:nvCxnSpPr>
        <p:spPr>
          <a:xfrm>
            <a:off x="4081845" y="2120163"/>
            <a:ext cx="0" cy="189054"/>
          </a:xfrm>
          <a:prstGeom prst="line">
            <a:avLst/>
          </a:prstGeom>
          <a:ln w="6463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_023">
            <a:extLst>
              <a:ext uri="{FF2B5EF4-FFF2-40B4-BE49-F238E27FC236}">
                <a16:creationId xmlns:a16="http://schemas.microsoft.com/office/drawing/2014/main" id="{F6590287-4F72-FFF7-9FDE-38DE646F23AB}"/>
              </a:ext>
            </a:extLst>
          </p:cNvPr>
          <p:cNvSpPr/>
          <p:nvPr/>
        </p:nvSpPr>
        <p:spPr>
          <a:xfrm>
            <a:off x="2453071" y="2309218"/>
            <a:ext cx="3301178" cy="1345193"/>
          </a:xfrm>
          <a:prstGeom prst="rect">
            <a:avLst/>
          </a:prstGeom>
          <a:noFill/>
          <a:ln w="6463" cap="flat" cmpd="sng" algn="ctr">
            <a:solidFill>
              <a:srgbClr val="62626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26" name="text_024">
            <a:extLst>
              <a:ext uri="{FF2B5EF4-FFF2-40B4-BE49-F238E27FC236}">
                <a16:creationId xmlns:a16="http://schemas.microsoft.com/office/drawing/2014/main" id="{376D3850-85B7-B670-0605-B8312F91DD01}"/>
              </a:ext>
            </a:extLst>
          </p:cNvPr>
          <p:cNvSpPr txBox="1"/>
          <p:nvPr/>
        </p:nvSpPr>
        <p:spPr>
          <a:xfrm>
            <a:off x="2569411" y="2352845"/>
            <a:ext cx="3068496" cy="2035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88" b="1">
                <a:solidFill>
                  <a:srgbClr val="181818"/>
                </a:solidFill>
                <a:latin typeface="Times New Roman" panose="02020603050405020304" pitchFamily="18" charset="0"/>
              </a:rPr>
              <a:t>Qwen-Image-2.1 DiT</a:t>
            </a:r>
            <a:endParaRPr lang="zh-CN" altLang="en-US" sz="1088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_025">
            <a:extLst>
              <a:ext uri="{FF2B5EF4-FFF2-40B4-BE49-F238E27FC236}">
                <a16:creationId xmlns:a16="http://schemas.microsoft.com/office/drawing/2014/main" id="{F4DB0CC4-AAAF-4DAF-0A7C-D8AD89C473FE}"/>
              </a:ext>
            </a:extLst>
          </p:cNvPr>
          <p:cNvSpPr txBox="1"/>
          <p:nvPr/>
        </p:nvSpPr>
        <p:spPr>
          <a:xfrm>
            <a:off x="2729381" y="2621884"/>
            <a:ext cx="1061612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687" b="1">
                <a:solidFill>
                  <a:srgbClr val="181818"/>
                </a:solidFill>
                <a:latin typeface="Arial" panose="020B0604020202020204" pitchFamily="34" charset="0"/>
              </a:rPr>
              <a:t>Frozen base</a:t>
            </a:r>
            <a:endParaRPr lang="zh-CN" altLang="en-US" sz="687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_026">
            <a:extLst>
              <a:ext uri="{FF2B5EF4-FFF2-40B4-BE49-F238E27FC236}">
                <a16:creationId xmlns:a16="http://schemas.microsoft.com/office/drawing/2014/main" id="{817B54EB-AF80-748F-A2B7-9B2409CD4FF9}"/>
              </a:ext>
            </a:extLst>
          </p:cNvPr>
          <p:cNvSpPr txBox="1"/>
          <p:nvPr/>
        </p:nvSpPr>
        <p:spPr>
          <a:xfrm>
            <a:off x="4285442" y="2621884"/>
            <a:ext cx="1185225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687" b="1">
                <a:solidFill>
                  <a:srgbClr val="202020"/>
                </a:solidFill>
                <a:latin typeface="Arial" panose="020B0604020202020204" pitchFamily="34" charset="0"/>
              </a:rPr>
              <a:t>Trainable adapter</a:t>
            </a:r>
            <a:endParaRPr lang="zh-CN" altLang="en-US" sz="687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_027">
            <a:extLst>
              <a:ext uri="{FF2B5EF4-FFF2-40B4-BE49-F238E27FC236}">
                <a16:creationId xmlns:a16="http://schemas.microsoft.com/office/drawing/2014/main" id="{CE5178A5-7C3C-BDA5-A370-A65663853CB2}"/>
              </a:ext>
            </a:extLst>
          </p:cNvPr>
          <p:cNvSpPr/>
          <p:nvPr/>
        </p:nvSpPr>
        <p:spPr>
          <a:xfrm>
            <a:off x="3049318" y="2854566"/>
            <a:ext cx="429008" cy="429008"/>
          </a:xfrm>
          <a:prstGeom prst="rect">
            <a:avLst/>
          </a:prstGeom>
          <a:solidFill>
            <a:srgbClr val="E8E8E8"/>
          </a:solidFill>
          <a:ln w="474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30" name="text_028">
            <a:extLst>
              <a:ext uri="{FF2B5EF4-FFF2-40B4-BE49-F238E27FC236}">
                <a16:creationId xmlns:a16="http://schemas.microsoft.com/office/drawing/2014/main" id="{D8D1242C-F61A-9BB0-4AFB-F76E4BD0867D}"/>
              </a:ext>
            </a:extLst>
          </p:cNvPr>
          <p:cNvSpPr txBox="1"/>
          <p:nvPr/>
        </p:nvSpPr>
        <p:spPr>
          <a:xfrm>
            <a:off x="3049318" y="2927278"/>
            <a:ext cx="429008" cy="28358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3" i="1">
                <a:solidFill>
                  <a:srgbClr val="181818"/>
                </a:solidFill>
                <a:latin typeface="Times New Roman" panose="02020603050405020304" pitchFamily="18" charset="0"/>
              </a:rPr>
              <a:t>W</a:t>
            </a:r>
            <a:endParaRPr lang="zh-CN" altLang="en-US" sz="1603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_029">
            <a:extLst>
              <a:ext uri="{FF2B5EF4-FFF2-40B4-BE49-F238E27FC236}">
                <a16:creationId xmlns:a16="http://schemas.microsoft.com/office/drawing/2014/main" id="{696734D9-1D51-2717-ED12-D6D0ADA0AE43}"/>
              </a:ext>
            </a:extLst>
          </p:cNvPr>
          <p:cNvSpPr txBox="1"/>
          <p:nvPr/>
        </p:nvSpPr>
        <p:spPr>
          <a:xfrm>
            <a:off x="3798264" y="2920007"/>
            <a:ext cx="349023" cy="30539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46">
                <a:solidFill>
                  <a:srgbClr val="181818"/>
                </a:solidFill>
                <a:latin typeface="Times New Roman" panose="02020603050405020304" pitchFamily="18" charset="0"/>
              </a:rPr>
              <a:t>+</a:t>
            </a:r>
            <a:endParaRPr lang="zh-CN" altLang="en-US" sz="1546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rect_030">
            <a:extLst>
              <a:ext uri="{FF2B5EF4-FFF2-40B4-BE49-F238E27FC236}">
                <a16:creationId xmlns:a16="http://schemas.microsoft.com/office/drawing/2014/main" id="{4A80D0D5-B508-8789-71E9-706B9C750FE5}"/>
              </a:ext>
            </a:extLst>
          </p:cNvPr>
          <p:cNvSpPr/>
          <p:nvPr/>
        </p:nvSpPr>
        <p:spPr>
          <a:xfrm>
            <a:off x="4438139" y="2883652"/>
            <a:ext cx="101798" cy="399922"/>
          </a:xfrm>
          <a:prstGeom prst="rect">
            <a:avLst/>
          </a:prstGeom>
          <a:solidFill>
            <a:srgbClr val="E8E8E8"/>
          </a:solidFill>
          <a:ln w="5602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33" name="rect_031">
            <a:extLst>
              <a:ext uri="{FF2B5EF4-FFF2-40B4-BE49-F238E27FC236}">
                <a16:creationId xmlns:a16="http://schemas.microsoft.com/office/drawing/2014/main" id="{966F4F40-82BA-5B3A-76B0-C9ABC94DFD3D}"/>
              </a:ext>
            </a:extLst>
          </p:cNvPr>
          <p:cNvSpPr/>
          <p:nvPr/>
        </p:nvSpPr>
        <p:spPr>
          <a:xfrm>
            <a:off x="4707179" y="2883652"/>
            <a:ext cx="399923" cy="101798"/>
          </a:xfrm>
          <a:prstGeom prst="rect">
            <a:avLst/>
          </a:prstGeom>
          <a:solidFill>
            <a:srgbClr val="E8E8E8"/>
          </a:solidFill>
          <a:ln w="5602">
            <a:solidFill>
              <a:srgbClr val="626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34" name="text_032">
            <a:extLst>
              <a:ext uri="{FF2B5EF4-FFF2-40B4-BE49-F238E27FC236}">
                <a16:creationId xmlns:a16="http://schemas.microsoft.com/office/drawing/2014/main" id="{570ED607-E829-77C5-E259-EC7BCFA3CC65}"/>
              </a:ext>
            </a:extLst>
          </p:cNvPr>
          <p:cNvSpPr txBox="1"/>
          <p:nvPr/>
        </p:nvSpPr>
        <p:spPr>
          <a:xfrm>
            <a:off x="4561753" y="2999993"/>
            <a:ext cx="130883" cy="2035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16">
                <a:solidFill>
                  <a:srgbClr val="202020"/>
                </a:solidFill>
                <a:latin typeface="Times New Roman" panose="02020603050405020304" pitchFamily="18" charset="0"/>
              </a:rPr>
              <a:t>×</a:t>
            </a:r>
            <a:endParaRPr lang="zh-CN" altLang="en-US" sz="916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_033">
            <a:extLst>
              <a:ext uri="{FF2B5EF4-FFF2-40B4-BE49-F238E27FC236}">
                <a16:creationId xmlns:a16="http://schemas.microsoft.com/office/drawing/2014/main" id="{C72CB79D-D985-CE8F-359D-CB72032AE18F}"/>
              </a:ext>
            </a:extLst>
          </p:cNvPr>
          <p:cNvSpPr txBox="1"/>
          <p:nvPr/>
        </p:nvSpPr>
        <p:spPr>
          <a:xfrm>
            <a:off x="4358155" y="3312659"/>
            <a:ext cx="327210" cy="2035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30" i="1">
                <a:solidFill>
                  <a:srgbClr val="202020"/>
                </a:solidFill>
                <a:latin typeface="Times New Roman" panose="02020603050405020304" pitchFamily="18" charset="0"/>
              </a:rPr>
              <a:t>B</a:t>
            </a:r>
            <a:endParaRPr lang="zh-CN" altLang="en-US" sz="1030" i="1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_034">
            <a:extLst>
              <a:ext uri="{FF2B5EF4-FFF2-40B4-BE49-F238E27FC236}">
                <a16:creationId xmlns:a16="http://schemas.microsoft.com/office/drawing/2014/main" id="{1544177E-26F5-EAC5-B356-E7F1673843D4}"/>
              </a:ext>
            </a:extLst>
          </p:cNvPr>
          <p:cNvSpPr txBox="1"/>
          <p:nvPr/>
        </p:nvSpPr>
        <p:spPr>
          <a:xfrm>
            <a:off x="4736265" y="3007263"/>
            <a:ext cx="334480" cy="2035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30" i="1">
                <a:solidFill>
                  <a:srgbClr val="202020"/>
                </a:solidFill>
                <a:latin typeface="Times New Roman" panose="02020603050405020304" pitchFamily="18" charset="0"/>
              </a:rPr>
              <a:t>A</a:t>
            </a:r>
            <a:endParaRPr lang="zh-CN" altLang="en-US" sz="1030" i="1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_035">
            <a:extLst>
              <a:ext uri="{FF2B5EF4-FFF2-40B4-BE49-F238E27FC236}">
                <a16:creationId xmlns:a16="http://schemas.microsoft.com/office/drawing/2014/main" id="{24F00F62-4B99-D9CD-26CE-34467BF0E299}"/>
              </a:ext>
            </a:extLst>
          </p:cNvPr>
          <p:cNvSpPr txBox="1"/>
          <p:nvPr/>
        </p:nvSpPr>
        <p:spPr>
          <a:xfrm>
            <a:off x="5078016" y="3109062"/>
            <a:ext cx="574434" cy="1963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4">
                <a:solidFill>
                  <a:srgbClr val="202020"/>
                </a:solidFill>
                <a:latin typeface="Times New Roman" panose="02020603050405020304" pitchFamily="18" charset="0"/>
              </a:rPr>
              <a:t>rank 16</a:t>
            </a:r>
            <a:endParaRPr lang="zh-CN" altLang="en-US" sz="744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8" name="line_036">
            <a:extLst>
              <a:ext uri="{FF2B5EF4-FFF2-40B4-BE49-F238E27FC236}">
                <a16:creationId xmlns:a16="http://schemas.microsoft.com/office/drawing/2014/main" id="{8DEA0318-55E8-CA08-2807-22723D3602DF}"/>
              </a:ext>
            </a:extLst>
          </p:cNvPr>
          <p:cNvCxnSpPr/>
          <p:nvPr/>
        </p:nvCxnSpPr>
        <p:spPr>
          <a:xfrm>
            <a:off x="4081845" y="3654411"/>
            <a:ext cx="0" cy="189055"/>
          </a:xfrm>
          <a:prstGeom prst="line">
            <a:avLst/>
          </a:prstGeom>
          <a:ln w="6463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_037">
            <a:extLst>
              <a:ext uri="{FF2B5EF4-FFF2-40B4-BE49-F238E27FC236}">
                <a16:creationId xmlns:a16="http://schemas.microsoft.com/office/drawing/2014/main" id="{BF245C8F-308F-BFAA-31FF-F44B0EBAF6EF}"/>
              </a:ext>
            </a:extLst>
          </p:cNvPr>
          <p:cNvSpPr txBox="1"/>
          <p:nvPr/>
        </p:nvSpPr>
        <p:spPr>
          <a:xfrm>
            <a:off x="2453071" y="3850737"/>
            <a:ext cx="3301178" cy="2035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74" b="1">
                <a:solidFill>
                  <a:srgbClr val="181818"/>
                </a:solidFill>
                <a:latin typeface="Times New Roman" panose="02020603050405020304" pitchFamily="18" charset="0"/>
              </a:rPr>
              <a:t>Optimization settings</a:t>
            </a:r>
            <a:endParaRPr lang="zh-CN" altLang="en-US" sz="974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0" name="line_038">
            <a:extLst>
              <a:ext uri="{FF2B5EF4-FFF2-40B4-BE49-F238E27FC236}">
                <a16:creationId xmlns:a16="http://schemas.microsoft.com/office/drawing/2014/main" id="{E3FAE469-7A7C-8286-101F-0B84E9F3BB15}"/>
              </a:ext>
            </a:extLst>
          </p:cNvPr>
          <p:cNvCxnSpPr/>
          <p:nvPr/>
        </p:nvCxnSpPr>
        <p:spPr>
          <a:xfrm>
            <a:off x="2453071" y="4097961"/>
            <a:ext cx="3301178" cy="0"/>
          </a:xfrm>
          <a:prstGeom prst="line">
            <a:avLst/>
          </a:prstGeom>
          <a:ln w="5602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_039">
            <a:extLst>
              <a:ext uri="{FF2B5EF4-FFF2-40B4-BE49-F238E27FC236}">
                <a16:creationId xmlns:a16="http://schemas.microsoft.com/office/drawing/2014/main" id="{CD039C6B-0CED-786F-C9A0-4F6CDE1211AC}"/>
              </a:ext>
            </a:extLst>
          </p:cNvPr>
          <p:cNvSpPr txBox="1"/>
          <p:nvPr/>
        </p:nvSpPr>
        <p:spPr>
          <a:xfrm>
            <a:off x="2518512" y="4156132"/>
            <a:ext cx="10252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Framework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_040">
            <a:extLst>
              <a:ext uri="{FF2B5EF4-FFF2-40B4-BE49-F238E27FC236}">
                <a16:creationId xmlns:a16="http://schemas.microsoft.com/office/drawing/2014/main" id="{96731138-373C-614B-6D72-5E7BB270F4E2}"/>
              </a:ext>
            </a:extLst>
          </p:cNvPr>
          <p:cNvSpPr txBox="1"/>
          <p:nvPr/>
        </p:nvSpPr>
        <p:spPr>
          <a:xfrm>
            <a:off x="3616481" y="4156132"/>
            <a:ext cx="2057783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DiffSynth-Studio SFT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3" name="line_041">
            <a:extLst>
              <a:ext uri="{FF2B5EF4-FFF2-40B4-BE49-F238E27FC236}">
                <a16:creationId xmlns:a16="http://schemas.microsoft.com/office/drawing/2014/main" id="{FB3BC638-075C-79E8-39F5-E45797019E82}"/>
              </a:ext>
            </a:extLst>
          </p:cNvPr>
          <p:cNvCxnSpPr/>
          <p:nvPr/>
        </p:nvCxnSpPr>
        <p:spPr>
          <a:xfrm>
            <a:off x="2518512" y="4366999"/>
            <a:ext cx="3148481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_042">
            <a:extLst>
              <a:ext uri="{FF2B5EF4-FFF2-40B4-BE49-F238E27FC236}">
                <a16:creationId xmlns:a16="http://schemas.microsoft.com/office/drawing/2014/main" id="{C3A49470-51C9-F43D-3410-B79F273137D6}"/>
              </a:ext>
            </a:extLst>
          </p:cNvPr>
          <p:cNvSpPr txBox="1"/>
          <p:nvPr/>
        </p:nvSpPr>
        <p:spPr>
          <a:xfrm>
            <a:off x="2518512" y="4381542"/>
            <a:ext cx="10252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Loss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_043">
            <a:extLst>
              <a:ext uri="{FF2B5EF4-FFF2-40B4-BE49-F238E27FC236}">
                <a16:creationId xmlns:a16="http://schemas.microsoft.com/office/drawing/2014/main" id="{5E4F0A67-1833-5AD3-E201-60F7AD11A0B5}"/>
              </a:ext>
            </a:extLst>
          </p:cNvPr>
          <p:cNvSpPr txBox="1"/>
          <p:nvPr/>
        </p:nvSpPr>
        <p:spPr>
          <a:xfrm>
            <a:off x="3616481" y="4381542"/>
            <a:ext cx="2057783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FlowMatchSFTLoss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6" name="line_044">
            <a:extLst>
              <a:ext uri="{FF2B5EF4-FFF2-40B4-BE49-F238E27FC236}">
                <a16:creationId xmlns:a16="http://schemas.microsoft.com/office/drawing/2014/main" id="{7B859B2F-1FE8-2CD0-8C48-E15D8246CA11}"/>
              </a:ext>
            </a:extLst>
          </p:cNvPr>
          <p:cNvCxnSpPr/>
          <p:nvPr/>
        </p:nvCxnSpPr>
        <p:spPr>
          <a:xfrm>
            <a:off x="2518512" y="4592411"/>
            <a:ext cx="3148481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_045">
            <a:extLst>
              <a:ext uri="{FF2B5EF4-FFF2-40B4-BE49-F238E27FC236}">
                <a16:creationId xmlns:a16="http://schemas.microsoft.com/office/drawing/2014/main" id="{534BBAC8-C289-DC2D-24BD-64BDF15B9C54}"/>
              </a:ext>
            </a:extLst>
          </p:cNvPr>
          <p:cNvSpPr txBox="1"/>
          <p:nvPr/>
        </p:nvSpPr>
        <p:spPr>
          <a:xfrm>
            <a:off x="2518512" y="4606953"/>
            <a:ext cx="10252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Optimizer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_046">
            <a:extLst>
              <a:ext uri="{FF2B5EF4-FFF2-40B4-BE49-F238E27FC236}">
                <a16:creationId xmlns:a16="http://schemas.microsoft.com/office/drawing/2014/main" id="{C9CA1B71-AAD8-E029-5F42-76D63D6E2D0A}"/>
              </a:ext>
            </a:extLst>
          </p:cNvPr>
          <p:cNvSpPr txBox="1"/>
          <p:nvPr/>
        </p:nvSpPr>
        <p:spPr>
          <a:xfrm>
            <a:off x="3616481" y="4606953"/>
            <a:ext cx="2057783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AdamW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9" name="line_047">
            <a:extLst>
              <a:ext uri="{FF2B5EF4-FFF2-40B4-BE49-F238E27FC236}">
                <a16:creationId xmlns:a16="http://schemas.microsoft.com/office/drawing/2014/main" id="{0F929F4E-05E5-1795-A5F9-CB124AAE0A79}"/>
              </a:ext>
            </a:extLst>
          </p:cNvPr>
          <p:cNvCxnSpPr/>
          <p:nvPr/>
        </p:nvCxnSpPr>
        <p:spPr>
          <a:xfrm>
            <a:off x="2518512" y="4817822"/>
            <a:ext cx="3148481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_048">
            <a:extLst>
              <a:ext uri="{FF2B5EF4-FFF2-40B4-BE49-F238E27FC236}">
                <a16:creationId xmlns:a16="http://schemas.microsoft.com/office/drawing/2014/main" id="{EA8EC03F-7F46-E039-D166-1362240EE456}"/>
              </a:ext>
            </a:extLst>
          </p:cNvPr>
          <p:cNvSpPr txBox="1"/>
          <p:nvPr/>
        </p:nvSpPr>
        <p:spPr>
          <a:xfrm>
            <a:off x="2518512" y="4832364"/>
            <a:ext cx="10252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Learning rate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1" name="text_049">
            <a:extLst>
              <a:ext uri="{FF2B5EF4-FFF2-40B4-BE49-F238E27FC236}">
                <a16:creationId xmlns:a16="http://schemas.microsoft.com/office/drawing/2014/main" id="{FABB044F-2DA3-6034-5995-0863D577AAE4}"/>
              </a:ext>
            </a:extLst>
          </p:cNvPr>
          <p:cNvSpPr txBox="1"/>
          <p:nvPr/>
        </p:nvSpPr>
        <p:spPr>
          <a:xfrm>
            <a:off x="3616481" y="4832364"/>
            <a:ext cx="2057783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1e-4  (constant)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2" name="line_050">
            <a:extLst>
              <a:ext uri="{FF2B5EF4-FFF2-40B4-BE49-F238E27FC236}">
                <a16:creationId xmlns:a16="http://schemas.microsoft.com/office/drawing/2014/main" id="{F9B78A6A-4E37-0E09-6BCE-061D8DBD9CAD}"/>
              </a:ext>
            </a:extLst>
          </p:cNvPr>
          <p:cNvCxnSpPr/>
          <p:nvPr/>
        </p:nvCxnSpPr>
        <p:spPr>
          <a:xfrm>
            <a:off x="2518512" y="5043232"/>
            <a:ext cx="3148481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_051">
            <a:extLst>
              <a:ext uri="{FF2B5EF4-FFF2-40B4-BE49-F238E27FC236}">
                <a16:creationId xmlns:a16="http://schemas.microsoft.com/office/drawing/2014/main" id="{B14D8BDC-3AB1-6810-8536-13DAFB1F034C}"/>
              </a:ext>
            </a:extLst>
          </p:cNvPr>
          <p:cNvSpPr txBox="1"/>
          <p:nvPr/>
        </p:nvSpPr>
        <p:spPr>
          <a:xfrm>
            <a:off x="2518512" y="5057775"/>
            <a:ext cx="10252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Batch / max pixels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4" name="text_052">
            <a:extLst>
              <a:ext uri="{FF2B5EF4-FFF2-40B4-BE49-F238E27FC236}">
                <a16:creationId xmlns:a16="http://schemas.microsoft.com/office/drawing/2014/main" id="{71AC4B52-6723-C296-DE77-514979655BF2}"/>
              </a:ext>
            </a:extLst>
          </p:cNvPr>
          <p:cNvSpPr txBox="1"/>
          <p:nvPr/>
        </p:nvSpPr>
        <p:spPr>
          <a:xfrm>
            <a:off x="3616481" y="5057775"/>
            <a:ext cx="2057783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1 / 1,048,576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5" name="line_053">
            <a:extLst>
              <a:ext uri="{FF2B5EF4-FFF2-40B4-BE49-F238E27FC236}">
                <a16:creationId xmlns:a16="http://schemas.microsoft.com/office/drawing/2014/main" id="{B326934D-2877-1FA3-CC98-7F0568F085D3}"/>
              </a:ext>
            </a:extLst>
          </p:cNvPr>
          <p:cNvCxnSpPr/>
          <p:nvPr/>
        </p:nvCxnSpPr>
        <p:spPr>
          <a:xfrm>
            <a:off x="2518512" y="5268643"/>
            <a:ext cx="3148481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_054">
            <a:extLst>
              <a:ext uri="{FF2B5EF4-FFF2-40B4-BE49-F238E27FC236}">
                <a16:creationId xmlns:a16="http://schemas.microsoft.com/office/drawing/2014/main" id="{E30C001E-4086-BE40-EA2E-FD0AA7D269C0}"/>
              </a:ext>
            </a:extLst>
          </p:cNvPr>
          <p:cNvSpPr txBox="1"/>
          <p:nvPr/>
        </p:nvSpPr>
        <p:spPr>
          <a:xfrm>
            <a:off x="2518512" y="5348628"/>
            <a:ext cx="3097581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 b="1">
                <a:solidFill>
                  <a:srgbClr val="181818"/>
                </a:solidFill>
                <a:latin typeface="Arial" panose="020B0604020202020204" pitchFamily="34" charset="0"/>
              </a:rPr>
              <a:t>Images × repeats × epochs</a:t>
            </a:r>
            <a:endParaRPr lang="zh-CN" altLang="en-US" sz="658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_055">
            <a:extLst>
              <a:ext uri="{FF2B5EF4-FFF2-40B4-BE49-F238E27FC236}">
                <a16:creationId xmlns:a16="http://schemas.microsoft.com/office/drawing/2014/main" id="{2A560D0C-8404-9AF0-CDC4-D988D9A8AABC}"/>
              </a:ext>
            </a:extLst>
          </p:cNvPr>
          <p:cNvSpPr txBox="1"/>
          <p:nvPr/>
        </p:nvSpPr>
        <p:spPr>
          <a:xfrm>
            <a:off x="2518512" y="5537682"/>
            <a:ext cx="3126666" cy="2399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45">
                <a:solidFill>
                  <a:srgbClr val="202020"/>
                </a:solidFill>
                <a:latin typeface="Times New Roman" panose="02020603050405020304" pitchFamily="18" charset="0"/>
              </a:rPr>
              <a:t>93 × 5 × 4 = 1,860 optimizer steps</a:t>
            </a:r>
            <a:endParaRPr lang="zh-CN" altLang="en-US" sz="1145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8" name="line_056">
            <a:extLst>
              <a:ext uri="{FF2B5EF4-FFF2-40B4-BE49-F238E27FC236}">
                <a16:creationId xmlns:a16="http://schemas.microsoft.com/office/drawing/2014/main" id="{6C8AABEF-CF14-6C2B-9554-984E19778721}"/>
              </a:ext>
            </a:extLst>
          </p:cNvPr>
          <p:cNvCxnSpPr/>
          <p:nvPr/>
        </p:nvCxnSpPr>
        <p:spPr>
          <a:xfrm>
            <a:off x="4081845" y="5813992"/>
            <a:ext cx="0" cy="181783"/>
          </a:xfrm>
          <a:prstGeom prst="line">
            <a:avLst/>
          </a:prstGeom>
          <a:ln w="6463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_057">
            <a:extLst>
              <a:ext uri="{FF2B5EF4-FFF2-40B4-BE49-F238E27FC236}">
                <a16:creationId xmlns:a16="http://schemas.microsoft.com/office/drawing/2014/main" id="{6D985B18-20B1-B6B8-3522-4A47764C5B91}"/>
              </a:ext>
            </a:extLst>
          </p:cNvPr>
          <p:cNvSpPr/>
          <p:nvPr/>
        </p:nvSpPr>
        <p:spPr>
          <a:xfrm>
            <a:off x="2453071" y="5995775"/>
            <a:ext cx="3301178" cy="450822"/>
          </a:xfrm>
          <a:prstGeom prst="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60" name="text_058">
            <a:extLst>
              <a:ext uri="{FF2B5EF4-FFF2-40B4-BE49-F238E27FC236}">
                <a16:creationId xmlns:a16="http://schemas.microsoft.com/office/drawing/2014/main" id="{57A8E3FF-71C8-D3C6-07E5-26EAE1CD4A63}"/>
              </a:ext>
            </a:extLst>
          </p:cNvPr>
          <p:cNvSpPr txBox="1"/>
          <p:nvPr/>
        </p:nvSpPr>
        <p:spPr>
          <a:xfrm>
            <a:off x="2562140" y="6024860"/>
            <a:ext cx="3083039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29" b="1">
                <a:solidFill>
                  <a:srgbClr val="202020"/>
                </a:solidFill>
                <a:latin typeface="Arial" panose="020B0604020202020204" pitchFamily="34" charset="0"/>
              </a:rPr>
              <a:t>FINAL LORA CHECKPOINT</a:t>
            </a:r>
            <a:endParaRPr lang="zh-CN" altLang="en-US" sz="629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61" name="text_059">
            <a:extLst>
              <a:ext uri="{FF2B5EF4-FFF2-40B4-BE49-F238E27FC236}">
                <a16:creationId xmlns:a16="http://schemas.microsoft.com/office/drawing/2014/main" id="{FECFE440-FE45-C7D3-2A01-52637B686BDB}"/>
              </a:ext>
            </a:extLst>
          </p:cNvPr>
          <p:cNvSpPr txBox="1"/>
          <p:nvPr/>
        </p:nvSpPr>
        <p:spPr>
          <a:xfrm>
            <a:off x="2562140" y="6235729"/>
            <a:ext cx="3083039" cy="17451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16">
                <a:solidFill>
                  <a:srgbClr val="181818"/>
                </a:solidFill>
                <a:latin typeface="Times New Roman" panose="02020603050405020304" pitchFamily="18" charset="0"/>
              </a:rPr>
              <a:t>step-1860.safetensors</a:t>
            </a:r>
            <a:endParaRPr lang="zh-CN" altLang="en-US" sz="916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2" name="line_060">
            <a:extLst>
              <a:ext uri="{FF2B5EF4-FFF2-40B4-BE49-F238E27FC236}">
                <a16:creationId xmlns:a16="http://schemas.microsoft.com/office/drawing/2014/main" id="{E74355F5-A182-AD92-75D7-ACC810C65820}"/>
              </a:ext>
            </a:extLst>
          </p:cNvPr>
          <p:cNvCxnSpPr/>
          <p:nvPr/>
        </p:nvCxnSpPr>
        <p:spPr>
          <a:xfrm>
            <a:off x="5754249" y="6221186"/>
            <a:ext cx="414464" cy="0"/>
          </a:xfrm>
          <a:prstGeom prst="line">
            <a:avLst/>
          </a:prstGeom>
          <a:ln w="7756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line_061">
            <a:extLst>
              <a:ext uri="{FF2B5EF4-FFF2-40B4-BE49-F238E27FC236}">
                <a16:creationId xmlns:a16="http://schemas.microsoft.com/office/drawing/2014/main" id="{EC940542-AC99-503A-3C26-F4FD5334C6C2}"/>
              </a:ext>
            </a:extLst>
          </p:cNvPr>
          <p:cNvCxnSpPr/>
          <p:nvPr/>
        </p:nvCxnSpPr>
        <p:spPr>
          <a:xfrm flipV="1">
            <a:off x="6168713" y="2512814"/>
            <a:ext cx="0" cy="3708372"/>
          </a:xfrm>
          <a:prstGeom prst="line">
            <a:avLst/>
          </a:prstGeom>
          <a:ln w="7756">
            <a:solidFill>
              <a:srgbClr val="6262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line_062">
            <a:extLst>
              <a:ext uri="{FF2B5EF4-FFF2-40B4-BE49-F238E27FC236}">
                <a16:creationId xmlns:a16="http://schemas.microsoft.com/office/drawing/2014/main" id="{CEBF6018-7EAF-D6FB-BBFF-23919DA92AA8}"/>
              </a:ext>
            </a:extLst>
          </p:cNvPr>
          <p:cNvCxnSpPr/>
          <p:nvPr/>
        </p:nvCxnSpPr>
        <p:spPr>
          <a:xfrm>
            <a:off x="6168713" y="2512814"/>
            <a:ext cx="276310" cy="0"/>
          </a:xfrm>
          <a:prstGeom prst="line">
            <a:avLst/>
          </a:prstGeom>
          <a:ln w="7756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_063">
            <a:extLst>
              <a:ext uri="{FF2B5EF4-FFF2-40B4-BE49-F238E27FC236}">
                <a16:creationId xmlns:a16="http://schemas.microsoft.com/office/drawing/2014/main" id="{1EBF2196-BE45-743E-5748-BA4A8A421938}"/>
              </a:ext>
            </a:extLst>
          </p:cNvPr>
          <p:cNvSpPr txBox="1"/>
          <p:nvPr/>
        </p:nvSpPr>
        <p:spPr>
          <a:xfrm>
            <a:off x="6532280" y="680442"/>
            <a:ext cx="1425178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687" b="1">
                <a:solidFill>
                  <a:srgbClr val="181818"/>
                </a:solidFill>
                <a:latin typeface="Arial" panose="020B0604020202020204" pitchFamily="34" charset="0"/>
              </a:rPr>
              <a:t>real93 prompts</a:t>
            </a:r>
            <a:endParaRPr lang="zh-CN" altLang="en-US" sz="687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66" name="text_064">
            <a:extLst>
              <a:ext uri="{FF2B5EF4-FFF2-40B4-BE49-F238E27FC236}">
                <a16:creationId xmlns:a16="http://schemas.microsoft.com/office/drawing/2014/main" id="{4ED72513-6956-BB6A-BC1E-0E199928CF9C}"/>
              </a:ext>
            </a:extLst>
          </p:cNvPr>
          <p:cNvSpPr txBox="1"/>
          <p:nvPr/>
        </p:nvSpPr>
        <p:spPr>
          <a:xfrm>
            <a:off x="6532280" y="898582"/>
            <a:ext cx="1425178" cy="2617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3">
                <a:solidFill>
                  <a:srgbClr val="202020"/>
                </a:solidFill>
                <a:latin typeface="Times New Roman" panose="02020603050405020304" pitchFamily="18" charset="0"/>
              </a:rPr>
              <a:t>558</a:t>
            </a:r>
            <a:endParaRPr lang="zh-CN" altLang="en-US" sz="1603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" name="text_065">
            <a:extLst>
              <a:ext uri="{FF2B5EF4-FFF2-40B4-BE49-F238E27FC236}">
                <a16:creationId xmlns:a16="http://schemas.microsoft.com/office/drawing/2014/main" id="{D0201082-C258-8CF0-75B2-ED4C6DCB30F0}"/>
              </a:ext>
            </a:extLst>
          </p:cNvPr>
          <p:cNvSpPr txBox="1"/>
          <p:nvPr/>
        </p:nvSpPr>
        <p:spPr>
          <a:xfrm>
            <a:off x="6532280" y="1203977"/>
            <a:ext cx="1425178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93 prompts × 6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text_066">
            <a:extLst>
              <a:ext uri="{FF2B5EF4-FFF2-40B4-BE49-F238E27FC236}">
                <a16:creationId xmlns:a16="http://schemas.microsoft.com/office/drawing/2014/main" id="{135C0423-AA40-8849-998B-0282CCDE9BCD}"/>
              </a:ext>
            </a:extLst>
          </p:cNvPr>
          <p:cNvSpPr txBox="1"/>
          <p:nvPr/>
        </p:nvSpPr>
        <p:spPr>
          <a:xfrm>
            <a:off x="8342837" y="680442"/>
            <a:ext cx="1425178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687" b="1">
                <a:solidFill>
                  <a:srgbClr val="181818"/>
                </a:solidFill>
                <a:latin typeface="Arial" panose="020B0604020202020204" pitchFamily="34" charset="0"/>
              </a:rPr>
              <a:t>new150 prompts</a:t>
            </a:r>
            <a:endParaRPr lang="zh-CN" altLang="en-US" sz="687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69" name="text_067">
            <a:extLst>
              <a:ext uri="{FF2B5EF4-FFF2-40B4-BE49-F238E27FC236}">
                <a16:creationId xmlns:a16="http://schemas.microsoft.com/office/drawing/2014/main" id="{7DE6437E-B66F-EE8C-84DE-64A74DF5AAF5}"/>
              </a:ext>
            </a:extLst>
          </p:cNvPr>
          <p:cNvSpPr txBox="1"/>
          <p:nvPr/>
        </p:nvSpPr>
        <p:spPr>
          <a:xfrm>
            <a:off x="8342837" y="898582"/>
            <a:ext cx="1425178" cy="2617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3">
                <a:solidFill>
                  <a:srgbClr val="202020"/>
                </a:solidFill>
                <a:latin typeface="Times New Roman" panose="02020603050405020304" pitchFamily="18" charset="0"/>
              </a:rPr>
              <a:t>750</a:t>
            </a:r>
            <a:endParaRPr lang="zh-CN" altLang="en-US" sz="1603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text_068">
            <a:extLst>
              <a:ext uri="{FF2B5EF4-FFF2-40B4-BE49-F238E27FC236}">
                <a16:creationId xmlns:a16="http://schemas.microsoft.com/office/drawing/2014/main" id="{5D05B145-E68E-96C3-4683-305F5387958B}"/>
              </a:ext>
            </a:extLst>
          </p:cNvPr>
          <p:cNvSpPr txBox="1"/>
          <p:nvPr/>
        </p:nvSpPr>
        <p:spPr>
          <a:xfrm>
            <a:off x="8342837" y="1203977"/>
            <a:ext cx="1425178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150 prompts × 5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1" name="line_069">
            <a:extLst>
              <a:ext uri="{FF2B5EF4-FFF2-40B4-BE49-F238E27FC236}">
                <a16:creationId xmlns:a16="http://schemas.microsoft.com/office/drawing/2014/main" id="{11B5BA91-5FF6-6190-999E-9E918A131DBB}"/>
              </a:ext>
            </a:extLst>
          </p:cNvPr>
          <p:cNvCxnSpPr/>
          <p:nvPr/>
        </p:nvCxnSpPr>
        <p:spPr>
          <a:xfrm>
            <a:off x="8197410" y="702257"/>
            <a:ext cx="0" cy="683503"/>
          </a:xfrm>
          <a:prstGeom prst="line">
            <a:avLst/>
          </a:prstGeom>
          <a:ln w="4309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line_070">
            <a:extLst>
              <a:ext uri="{FF2B5EF4-FFF2-40B4-BE49-F238E27FC236}">
                <a16:creationId xmlns:a16="http://schemas.microsoft.com/office/drawing/2014/main" id="{7FEDB6C9-161B-F1D9-EB76-25E02F8761FA}"/>
              </a:ext>
            </a:extLst>
          </p:cNvPr>
          <p:cNvCxnSpPr/>
          <p:nvPr/>
        </p:nvCxnSpPr>
        <p:spPr>
          <a:xfrm>
            <a:off x="7244869" y="1414845"/>
            <a:ext cx="0" cy="72713"/>
          </a:xfrm>
          <a:prstGeom prst="line">
            <a:avLst/>
          </a:prstGeom>
          <a:ln w="646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line_071">
            <a:extLst>
              <a:ext uri="{FF2B5EF4-FFF2-40B4-BE49-F238E27FC236}">
                <a16:creationId xmlns:a16="http://schemas.microsoft.com/office/drawing/2014/main" id="{DE72BB5D-FCF8-304A-4DBC-B0A40E6D34CD}"/>
              </a:ext>
            </a:extLst>
          </p:cNvPr>
          <p:cNvCxnSpPr/>
          <p:nvPr/>
        </p:nvCxnSpPr>
        <p:spPr>
          <a:xfrm>
            <a:off x="7244869" y="1487558"/>
            <a:ext cx="952541" cy="0"/>
          </a:xfrm>
          <a:prstGeom prst="line">
            <a:avLst/>
          </a:prstGeom>
          <a:ln w="646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line_072">
            <a:extLst>
              <a:ext uri="{FF2B5EF4-FFF2-40B4-BE49-F238E27FC236}">
                <a16:creationId xmlns:a16="http://schemas.microsoft.com/office/drawing/2014/main" id="{B805C482-A46E-27EF-5FE0-C6C56A4C51DD}"/>
              </a:ext>
            </a:extLst>
          </p:cNvPr>
          <p:cNvCxnSpPr/>
          <p:nvPr/>
        </p:nvCxnSpPr>
        <p:spPr>
          <a:xfrm>
            <a:off x="9055426" y="1414845"/>
            <a:ext cx="0" cy="72713"/>
          </a:xfrm>
          <a:prstGeom prst="line">
            <a:avLst/>
          </a:prstGeom>
          <a:ln w="646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line_073">
            <a:extLst>
              <a:ext uri="{FF2B5EF4-FFF2-40B4-BE49-F238E27FC236}">
                <a16:creationId xmlns:a16="http://schemas.microsoft.com/office/drawing/2014/main" id="{8A9CEEE4-8016-33BC-E202-5C6618535159}"/>
              </a:ext>
            </a:extLst>
          </p:cNvPr>
          <p:cNvCxnSpPr/>
          <p:nvPr/>
        </p:nvCxnSpPr>
        <p:spPr>
          <a:xfrm flipH="1">
            <a:off x="8197410" y="1487558"/>
            <a:ext cx="858016" cy="0"/>
          </a:xfrm>
          <a:prstGeom prst="line">
            <a:avLst/>
          </a:prstGeom>
          <a:ln w="6463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ine_074">
            <a:extLst>
              <a:ext uri="{FF2B5EF4-FFF2-40B4-BE49-F238E27FC236}">
                <a16:creationId xmlns:a16="http://schemas.microsoft.com/office/drawing/2014/main" id="{B5690DCF-F2CD-2D2D-4E60-C73EDC8F0550}"/>
              </a:ext>
            </a:extLst>
          </p:cNvPr>
          <p:cNvCxnSpPr/>
          <p:nvPr/>
        </p:nvCxnSpPr>
        <p:spPr>
          <a:xfrm>
            <a:off x="8197410" y="1487558"/>
            <a:ext cx="0" cy="130884"/>
          </a:xfrm>
          <a:prstGeom prst="line">
            <a:avLst/>
          </a:prstGeom>
          <a:ln w="6463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_075">
            <a:extLst>
              <a:ext uri="{FF2B5EF4-FFF2-40B4-BE49-F238E27FC236}">
                <a16:creationId xmlns:a16="http://schemas.microsoft.com/office/drawing/2014/main" id="{B695EE77-E295-8C66-B061-D9F250C121A2}"/>
              </a:ext>
            </a:extLst>
          </p:cNvPr>
          <p:cNvSpPr/>
          <p:nvPr/>
        </p:nvSpPr>
        <p:spPr>
          <a:xfrm>
            <a:off x="6546822" y="1618442"/>
            <a:ext cx="3192108" cy="40719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78" name="text_076">
            <a:extLst>
              <a:ext uri="{FF2B5EF4-FFF2-40B4-BE49-F238E27FC236}">
                <a16:creationId xmlns:a16="http://schemas.microsoft.com/office/drawing/2014/main" id="{44D6C4E3-A53B-DE4A-F976-8DD621CFA157}"/>
              </a:ext>
            </a:extLst>
          </p:cNvPr>
          <p:cNvSpPr txBox="1"/>
          <p:nvPr/>
        </p:nvSpPr>
        <p:spPr>
          <a:xfrm>
            <a:off x="6641350" y="1647528"/>
            <a:ext cx="3003054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87" b="1">
                <a:solidFill>
                  <a:srgbClr val="181818"/>
                </a:solidFill>
                <a:latin typeface="Arial" panose="020B0604020202020204" pitchFamily="34" charset="0"/>
              </a:rPr>
              <a:t>Text conditioning</a:t>
            </a:r>
            <a:endParaRPr lang="zh-CN" altLang="en-US" sz="687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79" name="text_077">
            <a:extLst>
              <a:ext uri="{FF2B5EF4-FFF2-40B4-BE49-F238E27FC236}">
                <a16:creationId xmlns:a16="http://schemas.microsoft.com/office/drawing/2014/main" id="{7AD3CD45-DCE1-6AE5-96A7-6306E4F86CA4}"/>
              </a:ext>
            </a:extLst>
          </p:cNvPr>
          <p:cNvSpPr txBox="1"/>
          <p:nvPr/>
        </p:nvSpPr>
        <p:spPr>
          <a:xfrm>
            <a:off x="6641350" y="1836582"/>
            <a:ext cx="3003054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59">
                <a:solidFill>
                  <a:srgbClr val="181818"/>
                </a:solidFill>
                <a:latin typeface="Times New Roman" panose="02020603050405020304" pitchFamily="18" charset="0"/>
              </a:rPr>
              <a:t>Qwen3VL 8B (INT8)</a:t>
            </a:r>
            <a:endParaRPr lang="zh-CN" altLang="en-US" sz="859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0" name="line_078">
            <a:extLst>
              <a:ext uri="{FF2B5EF4-FFF2-40B4-BE49-F238E27FC236}">
                <a16:creationId xmlns:a16="http://schemas.microsoft.com/office/drawing/2014/main" id="{C52CF2C7-34A6-CE3E-0C53-78A26C05F6CB}"/>
              </a:ext>
            </a:extLst>
          </p:cNvPr>
          <p:cNvCxnSpPr/>
          <p:nvPr/>
        </p:nvCxnSpPr>
        <p:spPr>
          <a:xfrm>
            <a:off x="8197410" y="2025636"/>
            <a:ext cx="0" cy="196325"/>
          </a:xfrm>
          <a:prstGeom prst="line">
            <a:avLst/>
          </a:prstGeom>
          <a:ln w="6463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_079">
            <a:extLst>
              <a:ext uri="{FF2B5EF4-FFF2-40B4-BE49-F238E27FC236}">
                <a16:creationId xmlns:a16="http://schemas.microsoft.com/office/drawing/2014/main" id="{2AC83C16-9A7E-85DE-77DF-DA3B657A2742}"/>
              </a:ext>
            </a:extLst>
          </p:cNvPr>
          <p:cNvSpPr/>
          <p:nvPr/>
        </p:nvSpPr>
        <p:spPr>
          <a:xfrm>
            <a:off x="6445024" y="2221962"/>
            <a:ext cx="3402976" cy="647147"/>
          </a:xfrm>
          <a:prstGeom prst="rect">
            <a:avLst/>
          </a:prstGeom>
          <a:noFill/>
          <a:ln w="6463" cap="flat" cmpd="sng" algn="ctr">
            <a:solidFill>
              <a:srgbClr val="62626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82" name="text_080">
            <a:extLst>
              <a:ext uri="{FF2B5EF4-FFF2-40B4-BE49-F238E27FC236}">
                <a16:creationId xmlns:a16="http://schemas.microsoft.com/office/drawing/2014/main" id="{D112D505-4035-2F67-CCFA-2BF2E8105800}"/>
              </a:ext>
            </a:extLst>
          </p:cNvPr>
          <p:cNvSpPr txBox="1"/>
          <p:nvPr/>
        </p:nvSpPr>
        <p:spPr>
          <a:xfrm>
            <a:off x="6561365" y="2265590"/>
            <a:ext cx="3170294" cy="2108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88" b="1">
                <a:solidFill>
                  <a:srgbClr val="181818"/>
                </a:solidFill>
                <a:latin typeface="Times New Roman" panose="02020603050405020304" pitchFamily="18" charset="0"/>
              </a:rPr>
              <a:t>Qwen-Image-2.1 + LoRA</a:t>
            </a:r>
            <a:endParaRPr lang="zh-CN" altLang="en-US" sz="1088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text_081">
            <a:extLst>
              <a:ext uri="{FF2B5EF4-FFF2-40B4-BE49-F238E27FC236}">
                <a16:creationId xmlns:a16="http://schemas.microsoft.com/office/drawing/2014/main" id="{8A82EAD1-BCEE-40CB-D5FC-180D49A30A74}"/>
              </a:ext>
            </a:extLst>
          </p:cNvPr>
          <p:cNvSpPr txBox="1"/>
          <p:nvPr/>
        </p:nvSpPr>
        <p:spPr>
          <a:xfrm>
            <a:off x="6561364" y="2541899"/>
            <a:ext cx="836202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Base / adapter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84" name="text_082">
            <a:extLst>
              <a:ext uri="{FF2B5EF4-FFF2-40B4-BE49-F238E27FC236}">
                <a16:creationId xmlns:a16="http://schemas.microsoft.com/office/drawing/2014/main" id="{B6D2584D-A869-5289-A699-3A7B8587AAC4}"/>
              </a:ext>
            </a:extLst>
          </p:cNvPr>
          <p:cNvSpPr txBox="1"/>
          <p:nvPr/>
        </p:nvSpPr>
        <p:spPr>
          <a:xfrm>
            <a:off x="7470279" y="2541899"/>
            <a:ext cx="2268651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INT8 convrot / step-1860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5" name="line_083">
            <a:extLst>
              <a:ext uri="{FF2B5EF4-FFF2-40B4-BE49-F238E27FC236}">
                <a16:creationId xmlns:a16="http://schemas.microsoft.com/office/drawing/2014/main" id="{77669065-0475-32B0-04C4-7CB8549612C0}"/>
              </a:ext>
            </a:extLst>
          </p:cNvPr>
          <p:cNvCxnSpPr/>
          <p:nvPr/>
        </p:nvCxnSpPr>
        <p:spPr>
          <a:xfrm>
            <a:off x="8197410" y="2869109"/>
            <a:ext cx="0" cy="189054"/>
          </a:xfrm>
          <a:prstGeom prst="line">
            <a:avLst/>
          </a:prstGeom>
          <a:ln w="6463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_084">
            <a:extLst>
              <a:ext uri="{FF2B5EF4-FFF2-40B4-BE49-F238E27FC236}">
                <a16:creationId xmlns:a16="http://schemas.microsoft.com/office/drawing/2014/main" id="{032E5BC2-57BB-D3E8-6FFE-12A291996A92}"/>
              </a:ext>
            </a:extLst>
          </p:cNvPr>
          <p:cNvSpPr txBox="1"/>
          <p:nvPr/>
        </p:nvSpPr>
        <p:spPr>
          <a:xfrm>
            <a:off x="6546822" y="3072705"/>
            <a:ext cx="3192108" cy="2035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74" b="1">
                <a:solidFill>
                  <a:srgbClr val="181818"/>
                </a:solidFill>
                <a:latin typeface="Times New Roman" panose="02020603050405020304" pitchFamily="18" charset="0"/>
              </a:rPr>
              <a:t>Generation settings</a:t>
            </a:r>
            <a:endParaRPr lang="zh-CN" altLang="en-US" sz="974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7" name="line_085">
            <a:extLst>
              <a:ext uri="{FF2B5EF4-FFF2-40B4-BE49-F238E27FC236}">
                <a16:creationId xmlns:a16="http://schemas.microsoft.com/office/drawing/2014/main" id="{2CACCA16-E778-AB4C-7A60-4B701DBC16C1}"/>
              </a:ext>
            </a:extLst>
          </p:cNvPr>
          <p:cNvCxnSpPr/>
          <p:nvPr/>
        </p:nvCxnSpPr>
        <p:spPr>
          <a:xfrm>
            <a:off x="6546821" y="3319930"/>
            <a:ext cx="3192109" cy="0"/>
          </a:xfrm>
          <a:prstGeom prst="line">
            <a:avLst/>
          </a:prstGeom>
          <a:ln w="5602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_086">
            <a:extLst>
              <a:ext uri="{FF2B5EF4-FFF2-40B4-BE49-F238E27FC236}">
                <a16:creationId xmlns:a16="http://schemas.microsoft.com/office/drawing/2014/main" id="{5C453F89-408A-67DF-FAC4-A41BE6C66E61}"/>
              </a:ext>
            </a:extLst>
          </p:cNvPr>
          <p:cNvSpPr txBox="1"/>
          <p:nvPr/>
        </p:nvSpPr>
        <p:spPr>
          <a:xfrm>
            <a:off x="6597721" y="3370829"/>
            <a:ext cx="1090698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Adapter strength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89" name="text_087">
            <a:extLst>
              <a:ext uri="{FF2B5EF4-FFF2-40B4-BE49-F238E27FC236}">
                <a16:creationId xmlns:a16="http://schemas.microsoft.com/office/drawing/2014/main" id="{C395B9B0-5E05-6988-5BD8-3E5FFF8EA446}"/>
              </a:ext>
            </a:extLst>
          </p:cNvPr>
          <p:cNvSpPr txBox="1"/>
          <p:nvPr/>
        </p:nvSpPr>
        <p:spPr>
          <a:xfrm>
            <a:off x="7761132" y="3370829"/>
            <a:ext cx="19123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0.8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0" name="line_088">
            <a:extLst>
              <a:ext uri="{FF2B5EF4-FFF2-40B4-BE49-F238E27FC236}">
                <a16:creationId xmlns:a16="http://schemas.microsoft.com/office/drawing/2014/main" id="{2FCBCB4D-EA00-8C2A-3D68-35F3420C61F3}"/>
              </a:ext>
            </a:extLst>
          </p:cNvPr>
          <p:cNvCxnSpPr/>
          <p:nvPr/>
        </p:nvCxnSpPr>
        <p:spPr>
          <a:xfrm>
            <a:off x="6597721" y="3581698"/>
            <a:ext cx="3097582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_089">
            <a:extLst>
              <a:ext uri="{FF2B5EF4-FFF2-40B4-BE49-F238E27FC236}">
                <a16:creationId xmlns:a16="http://schemas.microsoft.com/office/drawing/2014/main" id="{6709ADA3-F902-4861-813F-95D70E0C5D85}"/>
              </a:ext>
            </a:extLst>
          </p:cNvPr>
          <p:cNvSpPr txBox="1"/>
          <p:nvPr/>
        </p:nvSpPr>
        <p:spPr>
          <a:xfrm>
            <a:off x="6597721" y="3596240"/>
            <a:ext cx="1090698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Sampler / schedule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92" name="text_090">
            <a:extLst>
              <a:ext uri="{FF2B5EF4-FFF2-40B4-BE49-F238E27FC236}">
                <a16:creationId xmlns:a16="http://schemas.microsoft.com/office/drawing/2014/main" id="{CDC5082F-AF86-C5E9-4237-EE00C97753E0}"/>
              </a:ext>
            </a:extLst>
          </p:cNvPr>
          <p:cNvSpPr txBox="1"/>
          <p:nvPr/>
        </p:nvSpPr>
        <p:spPr>
          <a:xfrm>
            <a:off x="7761132" y="3596240"/>
            <a:ext cx="19123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Euler / simple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3" name="line_091">
            <a:extLst>
              <a:ext uri="{FF2B5EF4-FFF2-40B4-BE49-F238E27FC236}">
                <a16:creationId xmlns:a16="http://schemas.microsoft.com/office/drawing/2014/main" id="{B43685E4-2E06-1E17-6BD2-79BB141AF3ED}"/>
              </a:ext>
            </a:extLst>
          </p:cNvPr>
          <p:cNvCxnSpPr/>
          <p:nvPr/>
        </p:nvCxnSpPr>
        <p:spPr>
          <a:xfrm>
            <a:off x="6597721" y="3807108"/>
            <a:ext cx="3097582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_092">
            <a:extLst>
              <a:ext uri="{FF2B5EF4-FFF2-40B4-BE49-F238E27FC236}">
                <a16:creationId xmlns:a16="http://schemas.microsoft.com/office/drawing/2014/main" id="{7AA48882-5293-BD9A-6C5A-770264E38DEB}"/>
              </a:ext>
            </a:extLst>
          </p:cNvPr>
          <p:cNvSpPr txBox="1"/>
          <p:nvPr/>
        </p:nvSpPr>
        <p:spPr>
          <a:xfrm>
            <a:off x="6597721" y="3821651"/>
            <a:ext cx="1090698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Steps / CFG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95" name="text_093">
            <a:extLst>
              <a:ext uri="{FF2B5EF4-FFF2-40B4-BE49-F238E27FC236}">
                <a16:creationId xmlns:a16="http://schemas.microsoft.com/office/drawing/2014/main" id="{9772BCC6-1029-E4C5-9913-2C3315E72613}"/>
              </a:ext>
            </a:extLst>
          </p:cNvPr>
          <p:cNvSpPr txBox="1"/>
          <p:nvPr/>
        </p:nvSpPr>
        <p:spPr>
          <a:xfrm>
            <a:off x="7761132" y="3821651"/>
            <a:ext cx="19123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25 / 1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6" name="line_094">
            <a:extLst>
              <a:ext uri="{FF2B5EF4-FFF2-40B4-BE49-F238E27FC236}">
                <a16:creationId xmlns:a16="http://schemas.microsoft.com/office/drawing/2014/main" id="{0A7D9E1A-EB74-53FB-4262-E6681DF58BC5}"/>
              </a:ext>
            </a:extLst>
          </p:cNvPr>
          <p:cNvCxnSpPr/>
          <p:nvPr/>
        </p:nvCxnSpPr>
        <p:spPr>
          <a:xfrm>
            <a:off x="6597721" y="4032519"/>
            <a:ext cx="3097582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_095">
            <a:extLst>
              <a:ext uri="{FF2B5EF4-FFF2-40B4-BE49-F238E27FC236}">
                <a16:creationId xmlns:a16="http://schemas.microsoft.com/office/drawing/2014/main" id="{496C76BF-3903-CAB7-DC4D-3B6A23696159}"/>
              </a:ext>
            </a:extLst>
          </p:cNvPr>
          <p:cNvSpPr txBox="1"/>
          <p:nvPr/>
        </p:nvSpPr>
        <p:spPr>
          <a:xfrm>
            <a:off x="6597721" y="4047062"/>
            <a:ext cx="1090698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Seed / denoise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98" name="text_096">
            <a:extLst>
              <a:ext uri="{FF2B5EF4-FFF2-40B4-BE49-F238E27FC236}">
                <a16:creationId xmlns:a16="http://schemas.microsoft.com/office/drawing/2014/main" id="{CA66C359-2540-A137-053B-4C8427E54ED5}"/>
              </a:ext>
            </a:extLst>
          </p:cNvPr>
          <p:cNvSpPr txBox="1"/>
          <p:nvPr/>
        </p:nvSpPr>
        <p:spPr>
          <a:xfrm>
            <a:off x="7761132" y="4047062"/>
            <a:ext cx="19123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Random / 1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9" name="line_097">
            <a:extLst>
              <a:ext uri="{FF2B5EF4-FFF2-40B4-BE49-F238E27FC236}">
                <a16:creationId xmlns:a16="http://schemas.microsoft.com/office/drawing/2014/main" id="{B71C9F57-3C9D-29AE-7327-A211ABD4B469}"/>
              </a:ext>
            </a:extLst>
          </p:cNvPr>
          <p:cNvCxnSpPr/>
          <p:nvPr/>
        </p:nvCxnSpPr>
        <p:spPr>
          <a:xfrm>
            <a:off x="6597721" y="4257930"/>
            <a:ext cx="3097582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_098">
            <a:extLst>
              <a:ext uri="{FF2B5EF4-FFF2-40B4-BE49-F238E27FC236}">
                <a16:creationId xmlns:a16="http://schemas.microsoft.com/office/drawing/2014/main" id="{9DE14088-3FCE-760F-1909-D618E5964A01}"/>
              </a:ext>
            </a:extLst>
          </p:cNvPr>
          <p:cNvSpPr txBox="1"/>
          <p:nvPr/>
        </p:nvSpPr>
        <p:spPr>
          <a:xfrm>
            <a:off x="6597721" y="4272473"/>
            <a:ext cx="1090698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Size / batch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101" name="text_099">
            <a:extLst>
              <a:ext uri="{FF2B5EF4-FFF2-40B4-BE49-F238E27FC236}">
                <a16:creationId xmlns:a16="http://schemas.microsoft.com/office/drawing/2014/main" id="{CDBE799D-99A0-A868-BEE4-EA7E1E5F4FFD}"/>
              </a:ext>
            </a:extLst>
          </p:cNvPr>
          <p:cNvSpPr txBox="1"/>
          <p:nvPr/>
        </p:nvSpPr>
        <p:spPr>
          <a:xfrm>
            <a:off x="7761132" y="4272473"/>
            <a:ext cx="19123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1184 × 896 / 1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2" name="line_100">
            <a:extLst>
              <a:ext uri="{FF2B5EF4-FFF2-40B4-BE49-F238E27FC236}">
                <a16:creationId xmlns:a16="http://schemas.microsoft.com/office/drawing/2014/main" id="{D8A775B4-4153-98B6-8306-66DE401F0914}"/>
              </a:ext>
            </a:extLst>
          </p:cNvPr>
          <p:cNvCxnSpPr/>
          <p:nvPr/>
        </p:nvCxnSpPr>
        <p:spPr>
          <a:xfrm>
            <a:off x="6597721" y="4483341"/>
            <a:ext cx="3097582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_101">
            <a:extLst>
              <a:ext uri="{FF2B5EF4-FFF2-40B4-BE49-F238E27FC236}">
                <a16:creationId xmlns:a16="http://schemas.microsoft.com/office/drawing/2014/main" id="{36A4264E-C7B1-E455-43EF-31A3F176E30E}"/>
              </a:ext>
            </a:extLst>
          </p:cNvPr>
          <p:cNvSpPr txBox="1"/>
          <p:nvPr/>
        </p:nvSpPr>
        <p:spPr>
          <a:xfrm>
            <a:off x="6597721" y="4497883"/>
            <a:ext cx="1090698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658">
                <a:solidFill>
                  <a:srgbClr val="181818"/>
                </a:solidFill>
                <a:latin typeface="Arial" panose="020B0604020202020204" pitchFamily="34" charset="0"/>
              </a:rPr>
              <a:t>Negative prompt</a:t>
            </a:r>
            <a:endParaRPr lang="zh-CN" altLang="en-US" sz="658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_102">
            <a:extLst>
              <a:ext uri="{FF2B5EF4-FFF2-40B4-BE49-F238E27FC236}">
                <a16:creationId xmlns:a16="http://schemas.microsoft.com/office/drawing/2014/main" id="{ED47CB45-2D96-B3A9-DCD3-66770525DB15}"/>
              </a:ext>
            </a:extLst>
          </p:cNvPr>
          <p:cNvSpPr txBox="1"/>
          <p:nvPr/>
        </p:nvSpPr>
        <p:spPr>
          <a:xfrm>
            <a:off x="7761132" y="4497883"/>
            <a:ext cx="1912356" cy="1817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02">
                <a:solidFill>
                  <a:srgbClr val="181818"/>
                </a:solidFill>
                <a:latin typeface="Times New Roman" panose="02020603050405020304" pitchFamily="18" charset="0"/>
              </a:rPr>
              <a:t>Empty</a:t>
            </a:r>
            <a:endParaRPr lang="zh-CN" altLang="en-US" sz="802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5" name="line_103">
            <a:extLst>
              <a:ext uri="{FF2B5EF4-FFF2-40B4-BE49-F238E27FC236}">
                <a16:creationId xmlns:a16="http://schemas.microsoft.com/office/drawing/2014/main" id="{26C41E37-0885-4B58-D33C-73A567B9033D}"/>
              </a:ext>
            </a:extLst>
          </p:cNvPr>
          <p:cNvCxnSpPr/>
          <p:nvPr/>
        </p:nvCxnSpPr>
        <p:spPr>
          <a:xfrm>
            <a:off x="6597721" y="4708752"/>
            <a:ext cx="3097582" cy="0"/>
          </a:xfrm>
          <a:prstGeom prst="line">
            <a:avLst/>
          </a:prstGeom>
          <a:ln w="3016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line_104">
            <a:extLst>
              <a:ext uri="{FF2B5EF4-FFF2-40B4-BE49-F238E27FC236}">
                <a16:creationId xmlns:a16="http://schemas.microsoft.com/office/drawing/2014/main" id="{4115296E-014D-D583-FE0F-FCFD7229E298}"/>
              </a:ext>
            </a:extLst>
          </p:cNvPr>
          <p:cNvCxnSpPr/>
          <p:nvPr/>
        </p:nvCxnSpPr>
        <p:spPr>
          <a:xfrm>
            <a:off x="8197410" y="4737837"/>
            <a:ext cx="0" cy="152698"/>
          </a:xfrm>
          <a:prstGeom prst="line">
            <a:avLst/>
          </a:prstGeom>
          <a:ln w="6463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_105">
            <a:extLst>
              <a:ext uri="{FF2B5EF4-FFF2-40B4-BE49-F238E27FC236}">
                <a16:creationId xmlns:a16="http://schemas.microsoft.com/office/drawing/2014/main" id="{B2C92534-D260-9254-F021-5B4A64D85A6D}"/>
              </a:ext>
            </a:extLst>
          </p:cNvPr>
          <p:cNvSpPr txBox="1"/>
          <p:nvPr/>
        </p:nvSpPr>
        <p:spPr>
          <a:xfrm>
            <a:off x="6568635" y="4912349"/>
            <a:ext cx="3184837" cy="2035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16" b="1">
                <a:solidFill>
                  <a:srgbClr val="181818"/>
                </a:solidFill>
                <a:latin typeface="Arial" panose="020B0604020202020204" pitchFamily="34" charset="0"/>
              </a:rPr>
              <a:t>VAE decode → PNG with metadata</a:t>
            </a:r>
            <a:endParaRPr lang="zh-CN" altLang="en-US" sz="716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108" name="text_106">
            <a:extLst>
              <a:ext uri="{FF2B5EF4-FFF2-40B4-BE49-F238E27FC236}">
                <a16:creationId xmlns:a16="http://schemas.microsoft.com/office/drawing/2014/main" id="{57522F53-17FA-0984-D505-9B280230C4B7}"/>
              </a:ext>
            </a:extLst>
          </p:cNvPr>
          <p:cNvSpPr txBox="1"/>
          <p:nvPr/>
        </p:nvSpPr>
        <p:spPr>
          <a:xfrm>
            <a:off x="6568635" y="5123217"/>
            <a:ext cx="3184837" cy="16724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4">
                <a:solidFill>
                  <a:srgbClr val="181818"/>
                </a:solidFill>
                <a:latin typeface="Times New Roman" panose="02020603050405020304" pitchFamily="18" charset="0"/>
              </a:rPr>
              <a:t>Qwen-Image-2.1 VAE</a:t>
            </a:r>
            <a:endParaRPr lang="zh-CN" altLang="en-US" sz="744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9" name="line_107">
            <a:extLst>
              <a:ext uri="{FF2B5EF4-FFF2-40B4-BE49-F238E27FC236}">
                <a16:creationId xmlns:a16="http://schemas.microsoft.com/office/drawing/2014/main" id="{2F20D7A0-C110-CCD3-E88B-0DC86827942B}"/>
              </a:ext>
            </a:extLst>
          </p:cNvPr>
          <p:cNvCxnSpPr/>
          <p:nvPr/>
        </p:nvCxnSpPr>
        <p:spPr>
          <a:xfrm>
            <a:off x="8197410" y="5304999"/>
            <a:ext cx="0" cy="138156"/>
          </a:xfrm>
          <a:prstGeom prst="line">
            <a:avLst/>
          </a:prstGeom>
          <a:ln w="6463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picture_108">
            <a:extLst>
              <a:ext uri="{FF2B5EF4-FFF2-40B4-BE49-F238E27FC236}">
                <a16:creationId xmlns:a16="http://schemas.microsoft.com/office/drawing/2014/main" id="{30E8D173-8804-59D8-A666-0BCA3680E54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183" y="5479512"/>
            <a:ext cx="749465" cy="567163"/>
          </a:xfrm>
          <a:prstGeom prst="rect">
            <a:avLst/>
          </a:prstGeom>
        </p:spPr>
      </p:pic>
      <p:sp>
        <p:nvSpPr>
          <p:cNvPr id="112" name="rect_109">
            <a:extLst>
              <a:ext uri="{FF2B5EF4-FFF2-40B4-BE49-F238E27FC236}">
                <a16:creationId xmlns:a16="http://schemas.microsoft.com/office/drawing/2014/main" id="{09272BEE-C0E0-59EE-2225-0EB493CBE35C}"/>
              </a:ext>
            </a:extLst>
          </p:cNvPr>
          <p:cNvSpPr/>
          <p:nvPr/>
        </p:nvSpPr>
        <p:spPr>
          <a:xfrm>
            <a:off x="6630183" y="5479512"/>
            <a:ext cx="749465" cy="567162"/>
          </a:xfrm>
          <a:prstGeom prst="rect">
            <a:avLst/>
          </a:prstGeom>
          <a:noFill/>
          <a:ln w="3016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pic>
        <p:nvPicPr>
          <p:cNvPr id="114" name="picture_110">
            <a:extLst>
              <a:ext uri="{FF2B5EF4-FFF2-40B4-BE49-F238E27FC236}">
                <a16:creationId xmlns:a16="http://schemas.microsoft.com/office/drawing/2014/main" id="{CF3F9C01-E71F-0CAD-E8A4-BE6ACF4156D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353" y="5479512"/>
            <a:ext cx="749465" cy="567163"/>
          </a:xfrm>
          <a:prstGeom prst="rect">
            <a:avLst/>
          </a:prstGeom>
        </p:spPr>
      </p:pic>
      <p:sp>
        <p:nvSpPr>
          <p:cNvPr id="115" name="rect_111">
            <a:extLst>
              <a:ext uri="{FF2B5EF4-FFF2-40B4-BE49-F238E27FC236}">
                <a16:creationId xmlns:a16="http://schemas.microsoft.com/office/drawing/2014/main" id="{FEB14C7E-A929-A92C-75BE-6FA58CAECEB6}"/>
              </a:ext>
            </a:extLst>
          </p:cNvPr>
          <p:cNvSpPr/>
          <p:nvPr/>
        </p:nvSpPr>
        <p:spPr>
          <a:xfrm>
            <a:off x="7626353" y="5479512"/>
            <a:ext cx="749465" cy="567162"/>
          </a:xfrm>
          <a:prstGeom prst="rect">
            <a:avLst/>
          </a:prstGeom>
          <a:noFill/>
          <a:ln w="3016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19"/>
          </a:p>
        </p:txBody>
      </p:sp>
      <p:sp>
        <p:nvSpPr>
          <p:cNvPr id="116" name="text_112">
            <a:extLst>
              <a:ext uri="{FF2B5EF4-FFF2-40B4-BE49-F238E27FC236}">
                <a16:creationId xmlns:a16="http://schemas.microsoft.com/office/drawing/2014/main" id="{55D3D9B0-5591-8409-9254-D50CABD2DD29}"/>
              </a:ext>
            </a:extLst>
          </p:cNvPr>
          <p:cNvSpPr txBox="1"/>
          <p:nvPr/>
        </p:nvSpPr>
        <p:spPr>
          <a:xfrm>
            <a:off x="8611875" y="5457698"/>
            <a:ext cx="1207038" cy="25449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31" b="1">
                <a:solidFill>
                  <a:srgbClr val="202020"/>
                </a:solidFill>
                <a:latin typeface="Times New Roman" panose="02020603050405020304" pitchFamily="18" charset="0"/>
              </a:rPr>
              <a:t>1,308</a:t>
            </a:r>
            <a:endParaRPr lang="zh-CN" altLang="en-US" sz="1431" b="1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" name="text_113">
            <a:extLst>
              <a:ext uri="{FF2B5EF4-FFF2-40B4-BE49-F238E27FC236}">
                <a16:creationId xmlns:a16="http://schemas.microsoft.com/office/drawing/2014/main" id="{07FDC6FE-1B7B-363C-F4D5-08772E4B4B7F}"/>
              </a:ext>
            </a:extLst>
          </p:cNvPr>
          <p:cNvSpPr txBox="1"/>
          <p:nvPr/>
        </p:nvSpPr>
        <p:spPr>
          <a:xfrm>
            <a:off x="8611875" y="5741277"/>
            <a:ext cx="1207038" cy="31266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4">
                <a:solidFill>
                  <a:srgbClr val="181818"/>
                </a:solidFill>
                <a:latin typeface="Times New Roman" panose="02020603050405020304" pitchFamily="18" charset="0"/>
              </a:rPr>
              <a:t>Generated candidates
Unscreened examples</a:t>
            </a:r>
            <a:endParaRPr lang="zh-CN" altLang="en-US" sz="744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18" name="line_114">
            <a:extLst>
              <a:ext uri="{FF2B5EF4-FFF2-40B4-BE49-F238E27FC236}">
                <a16:creationId xmlns:a16="http://schemas.microsoft.com/office/drawing/2014/main" id="{761D1EE1-C228-A76F-3929-A38AC83D6867}"/>
              </a:ext>
            </a:extLst>
          </p:cNvPr>
          <p:cNvCxnSpPr/>
          <p:nvPr/>
        </p:nvCxnSpPr>
        <p:spPr>
          <a:xfrm>
            <a:off x="8197410" y="6068488"/>
            <a:ext cx="0" cy="159969"/>
          </a:xfrm>
          <a:prstGeom prst="line">
            <a:avLst/>
          </a:prstGeom>
          <a:ln w="6463">
            <a:solidFill>
              <a:srgbClr val="6262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line_115">
            <a:extLst>
              <a:ext uri="{FF2B5EF4-FFF2-40B4-BE49-F238E27FC236}">
                <a16:creationId xmlns:a16="http://schemas.microsoft.com/office/drawing/2014/main" id="{18A78862-4461-04FC-9F71-FF0601B27F7A}"/>
              </a:ext>
            </a:extLst>
          </p:cNvPr>
          <p:cNvCxnSpPr/>
          <p:nvPr/>
        </p:nvCxnSpPr>
        <p:spPr>
          <a:xfrm>
            <a:off x="6546821" y="6228457"/>
            <a:ext cx="3192109" cy="0"/>
          </a:xfrm>
          <a:prstGeom prst="line">
            <a:avLst/>
          </a:prstGeom>
          <a:ln w="5602">
            <a:solidFill>
              <a:srgbClr val="6262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_116">
            <a:extLst>
              <a:ext uri="{FF2B5EF4-FFF2-40B4-BE49-F238E27FC236}">
                <a16:creationId xmlns:a16="http://schemas.microsoft.com/office/drawing/2014/main" id="{D6FC3B9E-9691-6D56-81FF-6E4ED2A2DBB2}"/>
              </a:ext>
            </a:extLst>
          </p:cNvPr>
          <p:cNvSpPr txBox="1"/>
          <p:nvPr/>
        </p:nvSpPr>
        <p:spPr>
          <a:xfrm>
            <a:off x="6546822" y="6272085"/>
            <a:ext cx="3192108" cy="1890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16" b="1">
                <a:solidFill>
                  <a:srgbClr val="181818"/>
                </a:solidFill>
                <a:latin typeface="Times New Roman" panose="02020603050405020304" pitchFamily="18" charset="0"/>
              </a:rPr>
              <a:t>Review + annotation: target 465 + 620 = 1,085</a:t>
            </a:r>
            <a:endParaRPr lang="zh-CN" altLang="en-US" sz="916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31741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GUREINDEX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GURENUMB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GURENUMB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GURENUMBER" val="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Microsoft Office PowerPoint</Application>
  <PresentationFormat>宽屏</PresentationFormat>
  <Paragraphs>173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2026-10-08T03:21:41Z</dcterms:created>
  <dcterms:modified xsi:type="dcterms:W3CDTF">2026-10-08T03:22:15Z</dcterms:modified>
</cp:coreProperties>
</file>