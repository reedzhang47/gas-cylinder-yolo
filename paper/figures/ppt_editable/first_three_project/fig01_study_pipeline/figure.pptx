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6891000" cy="5181600"/>
  <p:notesSz cx="6858000" cy="9144000"/>
  <p:embeddedFontLst>
    <p:embeddedFont>
      <p:font typeface="等线" panose="02010600030101010101" pitchFamily="2" charset="-122"/>
      <p:regular r:id="rId4"/>
      <p:bold r:id="rId5"/>
    </p:embeddedFont>
    <p:embeddedFont>
      <p:font typeface="等线 Light" panose="02010600030101010101" pitchFamily="2" charset="-122"/>
      <p:regular r:id="rId6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2DE4EA-BB14-4190-99B5-6FB2E642AABC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600200" y="1143000"/>
            <a:ext cx="10058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3E04F9-2BF7-46A4-922C-7A13219493C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5517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z="1000">
                <a:latin typeface="Arial" panose="020B0604020202020204" pitchFamily="34" charset="0"/>
              </a:rPr>
              <a:t>Four-arm study overview updated 2026-10-09. A=93; B/C/D=1085. D image review, annotation, six 300-epoch detector runs and evaluation are complete. Source photographs: real_photo_30 (front/top), real_photo_14 (middle), real_photo_7 (back/bottom). Six detectors: yolov8s/m, yolo11s/m, yolo26s/m. dev61 is a development benchmark, not a frozen external test. Evidence: EXPERIMENTS.md; experiments/v5_d/acceptance.md. Candidate checkpoint labels retain the existing zero-based filename convention.</a:t>
            </a:r>
            <a:endParaRPr lang="zh-CN" altLang="en-US" sz="1000">
              <a:latin typeface="Arial" panose="020B060402020202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3E04F9-2BF7-46A4-922C-7A13219493CF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5892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80A2E1-A031-7716-1763-F7C086367E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11375" y="848008"/>
            <a:ext cx="12668250" cy="1803964"/>
          </a:xfrm>
        </p:spPr>
        <p:txBody>
          <a:bodyPr anchor="b"/>
          <a:lstStyle>
            <a:lvl1pPr algn="ctr">
              <a:defRPr sz="453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D7C8FBB-EE5B-7ED2-ED9B-DA2A48EAA4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11375" y="2721540"/>
            <a:ext cx="12668250" cy="1251020"/>
          </a:xfrm>
        </p:spPr>
        <p:txBody>
          <a:bodyPr/>
          <a:lstStyle>
            <a:lvl1pPr marL="0" indent="0" algn="ctr">
              <a:buNone/>
              <a:defRPr sz="1813"/>
            </a:lvl1pPr>
            <a:lvl2pPr marL="345460" indent="0" algn="ctr">
              <a:buNone/>
              <a:defRPr sz="1511"/>
            </a:lvl2pPr>
            <a:lvl3pPr marL="690921" indent="0" algn="ctr">
              <a:buNone/>
              <a:defRPr sz="1360"/>
            </a:lvl3pPr>
            <a:lvl4pPr marL="1036381" indent="0" algn="ctr">
              <a:buNone/>
              <a:defRPr sz="1209"/>
            </a:lvl4pPr>
            <a:lvl5pPr marL="1381841" indent="0" algn="ctr">
              <a:buNone/>
              <a:defRPr sz="1209"/>
            </a:lvl5pPr>
            <a:lvl6pPr marL="1727302" indent="0" algn="ctr">
              <a:buNone/>
              <a:defRPr sz="1209"/>
            </a:lvl6pPr>
            <a:lvl7pPr marL="2072762" indent="0" algn="ctr">
              <a:buNone/>
              <a:defRPr sz="1209"/>
            </a:lvl7pPr>
            <a:lvl8pPr marL="2418222" indent="0" algn="ctr">
              <a:buNone/>
              <a:defRPr sz="1209"/>
            </a:lvl8pPr>
            <a:lvl9pPr marL="2763683" indent="0" algn="ctr">
              <a:buNone/>
              <a:defRPr sz="1209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66745E-6920-CA26-20AB-FB2D54E2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46D5F7F-22B6-4C72-4721-3E3EB70C3E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D5994C-617F-0953-A0B4-8DC228BC5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435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69FD12-B38A-5A9E-D9F3-BF3BC0BC7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D95B67E-EAC0-AC85-B8B2-BD8DEDD3F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E23F378-51B6-DFD4-CFAB-5C9FE5B92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5A9E65-B224-B094-12DB-44A4439B2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210FD0A-6E77-5459-09C5-9D8F66FD7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08985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38C6C2-D3E4-8772-7131-2F4C706BC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459" y="1291803"/>
            <a:ext cx="14568488" cy="2155401"/>
          </a:xfrm>
        </p:spPr>
        <p:txBody>
          <a:bodyPr anchor="b"/>
          <a:lstStyle>
            <a:lvl1pPr>
              <a:defRPr sz="4534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1BA90B-699C-0885-DAA9-13D008554E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52459" y="3467595"/>
            <a:ext cx="14568488" cy="1133475"/>
          </a:xfrm>
        </p:spPr>
        <p:txBody>
          <a:bodyPr/>
          <a:lstStyle>
            <a:lvl1pPr marL="0" indent="0">
              <a:buNone/>
              <a:defRPr sz="1813">
                <a:solidFill>
                  <a:schemeClr val="tx1">
                    <a:tint val="82000"/>
                  </a:schemeClr>
                </a:solidFill>
              </a:defRPr>
            </a:lvl1pPr>
            <a:lvl2pPr marL="345460" indent="0">
              <a:buNone/>
              <a:defRPr sz="1511">
                <a:solidFill>
                  <a:schemeClr val="tx1">
                    <a:tint val="82000"/>
                  </a:schemeClr>
                </a:solidFill>
              </a:defRPr>
            </a:lvl2pPr>
            <a:lvl3pPr marL="690921" indent="0">
              <a:buNone/>
              <a:defRPr sz="1360">
                <a:solidFill>
                  <a:schemeClr val="tx1">
                    <a:tint val="82000"/>
                  </a:schemeClr>
                </a:solidFill>
              </a:defRPr>
            </a:lvl3pPr>
            <a:lvl4pPr marL="1036381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4pPr>
            <a:lvl5pPr marL="1381841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5pPr>
            <a:lvl6pPr marL="1727302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6pPr>
            <a:lvl7pPr marL="2072762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7pPr>
            <a:lvl8pPr marL="2418222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8pPr>
            <a:lvl9pPr marL="2763683" indent="0">
              <a:buNone/>
              <a:defRPr sz="120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A89F8E-8E24-4E59-36F0-474C91313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F8EEA9-6E0D-A1BE-01E3-BF206868C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EC7097E-AD43-A99E-0FCC-06630F908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426797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A5089-6FA0-F27B-3B75-7C29A54EA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BBE36AC-7101-8A07-E653-B1188AA09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61257" y="1379361"/>
            <a:ext cx="7178675" cy="32876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0A5B562-3268-7E3C-F0F0-94F912DDA2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51070" y="1379361"/>
            <a:ext cx="7178675" cy="32876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8621067-5078-ECAD-823A-94B024DC9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70E771-6680-195A-7348-1D435DD5E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0AD16E-7480-654E-D34E-13F15BC36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3658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B8AC48-8EE8-9C65-288A-04C455249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456" y="275874"/>
            <a:ext cx="14568488" cy="100153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DB3083-CD99-1BE2-BBDD-4FAC1D784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3457" y="1270212"/>
            <a:ext cx="7145684" cy="622511"/>
          </a:xfrm>
        </p:spPr>
        <p:txBody>
          <a:bodyPr anchor="b"/>
          <a:lstStyle>
            <a:lvl1pPr marL="0" indent="0">
              <a:buNone/>
              <a:defRPr sz="1813" b="1"/>
            </a:lvl1pPr>
            <a:lvl2pPr marL="345460" indent="0">
              <a:buNone/>
              <a:defRPr sz="1511" b="1"/>
            </a:lvl2pPr>
            <a:lvl3pPr marL="690921" indent="0">
              <a:buNone/>
              <a:defRPr sz="1360" b="1"/>
            </a:lvl3pPr>
            <a:lvl4pPr marL="1036381" indent="0">
              <a:buNone/>
              <a:defRPr sz="1209" b="1"/>
            </a:lvl4pPr>
            <a:lvl5pPr marL="1381841" indent="0">
              <a:buNone/>
              <a:defRPr sz="1209" b="1"/>
            </a:lvl5pPr>
            <a:lvl6pPr marL="1727302" indent="0">
              <a:buNone/>
              <a:defRPr sz="1209" b="1"/>
            </a:lvl6pPr>
            <a:lvl7pPr marL="2072762" indent="0">
              <a:buNone/>
              <a:defRPr sz="1209" b="1"/>
            </a:lvl7pPr>
            <a:lvl8pPr marL="2418222" indent="0">
              <a:buNone/>
              <a:defRPr sz="1209" b="1"/>
            </a:lvl8pPr>
            <a:lvl9pPr marL="2763683" indent="0">
              <a:buNone/>
              <a:defRPr sz="12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B9FB847-E78B-1790-A705-05B059F00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63457" y="1892723"/>
            <a:ext cx="7145684" cy="27839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4C0D08F-F578-86D5-3C2E-08324E98AE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551070" y="1270212"/>
            <a:ext cx="7180875" cy="622511"/>
          </a:xfrm>
        </p:spPr>
        <p:txBody>
          <a:bodyPr anchor="b"/>
          <a:lstStyle>
            <a:lvl1pPr marL="0" indent="0">
              <a:buNone/>
              <a:defRPr sz="1813" b="1"/>
            </a:lvl1pPr>
            <a:lvl2pPr marL="345460" indent="0">
              <a:buNone/>
              <a:defRPr sz="1511" b="1"/>
            </a:lvl2pPr>
            <a:lvl3pPr marL="690921" indent="0">
              <a:buNone/>
              <a:defRPr sz="1360" b="1"/>
            </a:lvl3pPr>
            <a:lvl4pPr marL="1036381" indent="0">
              <a:buNone/>
              <a:defRPr sz="1209" b="1"/>
            </a:lvl4pPr>
            <a:lvl5pPr marL="1381841" indent="0">
              <a:buNone/>
              <a:defRPr sz="1209" b="1"/>
            </a:lvl5pPr>
            <a:lvl6pPr marL="1727302" indent="0">
              <a:buNone/>
              <a:defRPr sz="1209" b="1"/>
            </a:lvl6pPr>
            <a:lvl7pPr marL="2072762" indent="0">
              <a:buNone/>
              <a:defRPr sz="1209" b="1"/>
            </a:lvl7pPr>
            <a:lvl8pPr marL="2418222" indent="0">
              <a:buNone/>
              <a:defRPr sz="1209" b="1"/>
            </a:lvl8pPr>
            <a:lvl9pPr marL="2763683" indent="0">
              <a:buNone/>
              <a:defRPr sz="1209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2E3CCFA-6834-CBAB-B244-2F08601823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551070" y="1892723"/>
            <a:ext cx="7180875" cy="278391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8168E08-F300-5FB9-A859-0A065BBE5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F6680C2-52D5-815F-538F-9F36C72D4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B7D09F2-CF5D-2524-6C2C-AC8A530BF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19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82597C-EF23-6A8A-1928-E1B94BA6C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346BE9E-8D4D-AE84-010B-50D92497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0616CFB-E3F0-88F4-C44D-5E44483DA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A7E9B98-B177-0647-1BFF-7340FE376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3999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39F60EE-517A-34BF-3B9B-93C5C731B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7C1000-40A0-8373-BC92-88DFAF149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66C3BED-9B09-2607-F1B0-AB2F8A633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8916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0F0E6-C9F6-7A69-C189-A7C3C3C4B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458" y="345440"/>
            <a:ext cx="5447787" cy="1209040"/>
          </a:xfrm>
        </p:spPr>
        <p:txBody>
          <a:bodyPr anchor="b"/>
          <a:lstStyle>
            <a:lvl1pPr>
              <a:defRPr sz="241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DCFB905-B1D4-048B-CE58-EDBC91C26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80876" y="746056"/>
            <a:ext cx="8551069" cy="3682294"/>
          </a:xfrm>
        </p:spPr>
        <p:txBody>
          <a:bodyPr/>
          <a:lstStyle>
            <a:lvl1pPr>
              <a:defRPr sz="2418"/>
            </a:lvl1pPr>
            <a:lvl2pPr>
              <a:defRPr sz="2116"/>
            </a:lvl2pPr>
            <a:lvl3pPr>
              <a:defRPr sz="1813"/>
            </a:lvl3pPr>
            <a:lvl4pPr>
              <a:defRPr sz="1511"/>
            </a:lvl4pPr>
            <a:lvl5pPr>
              <a:defRPr sz="1511"/>
            </a:lvl5pPr>
            <a:lvl6pPr>
              <a:defRPr sz="1511"/>
            </a:lvl6pPr>
            <a:lvl7pPr>
              <a:defRPr sz="1511"/>
            </a:lvl7pPr>
            <a:lvl8pPr>
              <a:defRPr sz="1511"/>
            </a:lvl8pPr>
            <a:lvl9pPr>
              <a:defRPr sz="1511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996336-759C-0AD2-3B95-A2F142A8D6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3458" y="1554480"/>
            <a:ext cx="5447787" cy="2879866"/>
          </a:xfrm>
        </p:spPr>
        <p:txBody>
          <a:bodyPr/>
          <a:lstStyle>
            <a:lvl1pPr marL="0" indent="0">
              <a:buNone/>
              <a:defRPr sz="1209"/>
            </a:lvl1pPr>
            <a:lvl2pPr marL="345460" indent="0">
              <a:buNone/>
              <a:defRPr sz="1058"/>
            </a:lvl2pPr>
            <a:lvl3pPr marL="690921" indent="0">
              <a:buNone/>
              <a:defRPr sz="907"/>
            </a:lvl3pPr>
            <a:lvl4pPr marL="1036381" indent="0">
              <a:buNone/>
              <a:defRPr sz="756"/>
            </a:lvl4pPr>
            <a:lvl5pPr marL="1381841" indent="0">
              <a:buNone/>
              <a:defRPr sz="756"/>
            </a:lvl5pPr>
            <a:lvl6pPr marL="1727302" indent="0">
              <a:buNone/>
              <a:defRPr sz="756"/>
            </a:lvl6pPr>
            <a:lvl7pPr marL="2072762" indent="0">
              <a:buNone/>
              <a:defRPr sz="756"/>
            </a:lvl7pPr>
            <a:lvl8pPr marL="2418222" indent="0">
              <a:buNone/>
              <a:defRPr sz="756"/>
            </a:lvl8pPr>
            <a:lvl9pPr marL="2763683" indent="0">
              <a:buNone/>
              <a:defRPr sz="7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F9A78A-8394-ECE8-A594-E7FA785FB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AE8031-CC1D-EF5A-292E-32158874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350084-38B6-245C-5D4A-434BAEEBE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6199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32B8E3-1483-2EFE-6C34-E99EAF683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458" y="345440"/>
            <a:ext cx="5447787" cy="1209040"/>
          </a:xfrm>
        </p:spPr>
        <p:txBody>
          <a:bodyPr anchor="b"/>
          <a:lstStyle>
            <a:lvl1pPr>
              <a:defRPr sz="2418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355BC70-04B5-C3CB-56A7-1487D8B7776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180876" y="746056"/>
            <a:ext cx="8551069" cy="3682294"/>
          </a:xfrm>
        </p:spPr>
        <p:txBody>
          <a:bodyPr/>
          <a:lstStyle>
            <a:lvl1pPr marL="0" indent="0">
              <a:buNone/>
              <a:defRPr sz="2418"/>
            </a:lvl1pPr>
            <a:lvl2pPr marL="345460" indent="0">
              <a:buNone/>
              <a:defRPr sz="2116"/>
            </a:lvl2pPr>
            <a:lvl3pPr marL="690921" indent="0">
              <a:buNone/>
              <a:defRPr sz="1813"/>
            </a:lvl3pPr>
            <a:lvl4pPr marL="1036381" indent="0">
              <a:buNone/>
              <a:defRPr sz="1511"/>
            </a:lvl4pPr>
            <a:lvl5pPr marL="1381841" indent="0">
              <a:buNone/>
              <a:defRPr sz="1511"/>
            </a:lvl5pPr>
            <a:lvl6pPr marL="1727302" indent="0">
              <a:buNone/>
              <a:defRPr sz="1511"/>
            </a:lvl6pPr>
            <a:lvl7pPr marL="2072762" indent="0">
              <a:buNone/>
              <a:defRPr sz="1511"/>
            </a:lvl7pPr>
            <a:lvl8pPr marL="2418222" indent="0">
              <a:buNone/>
              <a:defRPr sz="1511"/>
            </a:lvl8pPr>
            <a:lvl9pPr marL="2763683" indent="0">
              <a:buNone/>
              <a:defRPr sz="1511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DD8E7D3-76DA-3394-C149-8D8091271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63458" y="1554480"/>
            <a:ext cx="5447787" cy="2879866"/>
          </a:xfrm>
        </p:spPr>
        <p:txBody>
          <a:bodyPr/>
          <a:lstStyle>
            <a:lvl1pPr marL="0" indent="0">
              <a:buNone/>
              <a:defRPr sz="1209"/>
            </a:lvl1pPr>
            <a:lvl2pPr marL="345460" indent="0">
              <a:buNone/>
              <a:defRPr sz="1058"/>
            </a:lvl2pPr>
            <a:lvl3pPr marL="690921" indent="0">
              <a:buNone/>
              <a:defRPr sz="907"/>
            </a:lvl3pPr>
            <a:lvl4pPr marL="1036381" indent="0">
              <a:buNone/>
              <a:defRPr sz="756"/>
            </a:lvl4pPr>
            <a:lvl5pPr marL="1381841" indent="0">
              <a:buNone/>
              <a:defRPr sz="756"/>
            </a:lvl5pPr>
            <a:lvl6pPr marL="1727302" indent="0">
              <a:buNone/>
              <a:defRPr sz="756"/>
            </a:lvl6pPr>
            <a:lvl7pPr marL="2072762" indent="0">
              <a:buNone/>
              <a:defRPr sz="756"/>
            </a:lvl7pPr>
            <a:lvl8pPr marL="2418222" indent="0">
              <a:buNone/>
              <a:defRPr sz="756"/>
            </a:lvl8pPr>
            <a:lvl9pPr marL="2763683" indent="0">
              <a:buNone/>
              <a:defRPr sz="756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E61D9EA-96FF-C70B-9112-A2AC3FD0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14BBFC7-1578-87F7-0209-7132AB21A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5E6A5E0-5725-23F1-FCC2-10D1E0798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8760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F8E93C-3F8B-8935-B86D-2937E80B9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024F16B-8C13-2575-E860-B3E8882A2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BEC4CB-7106-0ABE-781A-EAA77125F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73D35B7-988B-D324-C5EF-BCB83BCA6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C10B6BF-EEFD-84A8-A2CF-161C1B4D0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0079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30AA9C1-5801-C880-499A-25D957C265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2087622" y="275872"/>
            <a:ext cx="3642122" cy="439116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3FAB688-5F9E-9B65-797A-89C5FC05C8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61256" y="275872"/>
            <a:ext cx="10715228" cy="439116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55E7C5-2F65-E967-D167-46717CF38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56E468-DBCF-E238-5AED-3A8A190C1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AFE27B5-3875-A33C-6A17-5AFB7CAD8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0301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97AB969-2250-A843-8CC0-67C9A922D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1256" y="275874"/>
            <a:ext cx="14568488" cy="10015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2F7009-B188-92E9-1AB2-2836FB2C7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61256" y="1379361"/>
            <a:ext cx="14568488" cy="32876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C8D189-B6DC-66F2-2B16-6A60EAA2DD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61257" y="4802577"/>
            <a:ext cx="3800475" cy="275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F1C279-A902-4C94-B8E2-292E359CEDA6}" type="datetimeFigureOut">
              <a:rPr lang="zh-CN" altLang="en-US" smtClean="0"/>
              <a:t>2026/10/9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DEDECB-5114-1D95-7D58-5B5BC3C820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595145" y="4802577"/>
            <a:ext cx="5700713" cy="275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3ED5DD-9DC9-1F3D-8FA6-E17003FC44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929270" y="4802577"/>
            <a:ext cx="3800475" cy="2758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7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62D76F-41C9-499E-8123-31AB04E7191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67763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90921" rtl="0" eaLnBrk="1" latinLnBrk="0" hangingPunct="1">
        <a:lnSpc>
          <a:spcPct val="90000"/>
        </a:lnSpc>
        <a:spcBef>
          <a:spcPct val="0"/>
        </a:spcBef>
        <a:buNone/>
        <a:defRPr sz="332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2730" indent="-172730" algn="l" defTabSz="690921" rtl="0" eaLnBrk="1" latinLnBrk="0" hangingPunct="1">
        <a:lnSpc>
          <a:spcPct val="90000"/>
        </a:lnSpc>
        <a:spcBef>
          <a:spcPts val="756"/>
        </a:spcBef>
        <a:buFont typeface="Arial" panose="020B0604020202020204" pitchFamily="34" charset="0"/>
        <a:buChar char="•"/>
        <a:defRPr sz="2116" kern="1200">
          <a:solidFill>
            <a:schemeClr val="tx1"/>
          </a:solidFill>
          <a:latin typeface="+mn-lt"/>
          <a:ea typeface="+mn-ea"/>
          <a:cs typeface="+mn-cs"/>
        </a:defRPr>
      </a:lvl1pPr>
      <a:lvl2pPr marL="518190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813" kern="1200">
          <a:solidFill>
            <a:schemeClr val="tx1"/>
          </a:solidFill>
          <a:latin typeface="+mn-lt"/>
          <a:ea typeface="+mn-ea"/>
          <a:cs typeface="+mn-cs"/>
        </a:defRPr>
      </a:lvl2pPr>
      <a:lvl3pPr marL="863651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511" kern="1200">
          <a:solidFill>
            <a:schemeClr val="tx1"/>
          </a:solidFill>
          <a:latin typeface="+mn-lt"/>
          <a:ea typeface="+mn-ea"/>
          <a:cs typeface="+mn-cs"/>
        </a:defRPr>
      </a:lvl3pPr>
      <a:lvl4pPr marL="1209111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4pPr>
      <a:lvl5pPr marL="1554571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5pPr>
      <a:lvl6pPr marL="1900032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6pPr>
      <a:lvl7pPr marL="2245492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7pPr>
      <a:lvl8pPr marL="2590952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8pPr>
      <a:lvl9pPr marL="2936413" indent="-172730" algn="l" defTabSz="690921" rtl="0" eaLnBrk="1" latinLnBrk="0" hangingPunct="1">
        <a:lnSpc>
          <a:spcPct val="90000"/>
        </a:lnSpc>
        <a:spcBef>
          <a:spcPts val="378"/>
        </a:spcBef>
        <a:buFont typeface="Arial" panose="020B0604020202020204" pitchFamily="34" charset="0"/>
        <a:buChar char="•"/>
        <a:defRPr sz="13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1pPr>
      <a:lvl2pPr marL="345460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2pPr>
      <a:lvl3pPr marL="690921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3pPr>
      <a:lvl4pPr marL="1036381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4pPr>
      <a:lvl5pPr marL="1381841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5pPr>
      <a:lvl6pPr marL="1727302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6pPr>
      <a:lvl7pPr marL="2072762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7pPr>
      <a:lvl8pPr marL="2418222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8pPr>
      <a:lvl9pPr marL="2763683" algn="l" defTabSz="690921" rtl="0" eaLnBrk="1" latinLnBrk="0" hangingPunct="1">
        <a:defRPr sz="13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_001">
            <a:extLst>
              <a:ext uri="{FF2B5EF4-FFF2-40B4-BE49-F238E27FC236}">
                <a16:creationId xmlns:a16="http://schemas.microsoft.com/office/drawing/2014/main" id="{47DB71E2-4C4B-BB86-A69F-A89502F56B1D}"/>
              </a:ext>
            </a:extLst>
          </p:cNvPr>
          <p:cNvSpPr txBox="1"/>
          <p:nvPr/>
        </p:nvSpPr>
        <p:spPr>
          <a:xfrm>
            <a:off x="304800" y="190499"/>
            <a:ext cx="69850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(a) Data construction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" name="line_002">
            <a:extLst>
              <a:ext uri="{FF2B5EF4-FFF2-40B4-BE49-F238E27FC236}">
                <a16:creationId xmlns:a16="http://schemas.microsoft.com/office/drawing/2014/main" id="{B18C30D5-8649-F8C4-7E63-E7C563A9F55A}"/>
              </a:ext>
            </a:extLst>
          </p:cNvPr>
          <p:cNvCxnSpPr/>
          <p:nvPr/>
        </p:nvCxnSpPr>
        <p:spPr>
          <a:xfrm>
            <a:off x="304800" y="660400"/>
            <a:ext cx="6985000" cy="0"/>
          </a:xfrm>
          <a:prstGeom prst="line">
            <a:avLst/>
          </a:prstGeom>
          <a:ln w="1016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_003">
            <a:extLst>
              <a:ext uri="{FF2B5EF4-FFF2-40B4-BE49-F238E27FC236}">
                <a16:creationId xmlns:a16="http://schemas.microsoft.com/office/drawing/2014/main" id="{A17D5C01-A04F-A01C-D1E5-ED9BAB7ED78A}"/>
              </a:ext>
            </a:extLst>
          </p:cNvPr>
          <p:cNvSpPr txBox="1"/>
          <p:nvPr/>
        </p:nvSpPr>
        <p:spPr>
          <a:xfrm>
            <a:off x="8051800" y="190499"/>
            <a:ext cx="32258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(b) Controlled training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" name="line_004">
            <a:extLst>
              <a:ext uri="{FF2B5EF4-FFF2-40B4-BE49-F238E27FC236}">
                <a16:creationId xmlns:a16="http://schemas.microsoft.com/office/drawing/2014/main" id="{693BF4FE-006B-1746-EEB4-A60C92405350}"/>
              </a:ext>
            </a:extLst>
          </p:cNvPr>
          <p:cNvCxnSpPr/>
          <p:nvPr/>
        </p:nvCxnSpPr>
        <p:spPr>
          <a:xfrm>
            <a:off x="8051800" y="660400"/>
            <a:ext cx="3225800" cy="0"/>
          </a:xfrm>
          <a:prstGeom prst="line">
            <a:avLst/>
          </a:prstGeom>
          <a:ln w="1016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_005">
            <a:extLst>
              <a:ext uri="{FF2B5EF4-FFF2-40B4-BE49-F238E27FC236}">
                <a16:creationId xmlns:a16="http://schemas.microsoft.com/office/drawing/2014/main" id="{4BCE752A-5E03-F745-B3E0-FD1DBBE13DC7}"/>
              </a:ext>
            </a:extLst>
          </p:cNvPr>
          <p:cNvSpPr txBox="1"/>
          <p:nvPr/>
        </p:nvSpPr>
        <p:spPr>
          <a:xfrm>
            <a:off x="12065000" y="190499"/>
            <a:ext cx="45212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b="1">
                <a:solidFill>
                  <a:srgbClr val="181818"/>
                </a:solidFill>
                <a:latin typeface="Times New Roman" panose="02020603050405020304" pitchFamily="18" charset="0"/>
              </a:rPr>
              <a:t>(c) Development evaluation</a:t>
            </a:r>
            <a:endParaRPr lang="zh-CN" altLang="en-US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" name="line_006">
            <a:extLst>
              <a:ext uri="{FF2B5EF4-FFF2-40B4-BE49-F238E27FC236}">
                <a16:creationId xmlns:a16="http://schemas.microsoft.com/office/drawing/2014/main" id="{96E7EDDC-59C2-9F25-8628-C7208AF599AB}"/>
              </a:ext>
            </a:extLst>
          </p:cNvPr>
          <p:cNvCxnSpPr/>
          <p:nvPr/>
        </p:nvCxnSpPr>
        <p:spPr>
          <a:xfrm>
            <a:off x="12065000" y="660400"/>
            <a:ext cx="4521200" cy="0"/>
          </a:xfrm>
          <a:prstGeom prst="line">
            <a:avLst/>
          </a:prstGeom>
          <a:ln w="10160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_007">
            <a:extLst>
              <a:ext uri="{FF2B5EF4-FFF2-40B4-BE49-F238E27FC236}">
                <a16:creationId xmlns:a16="http://schemas.microsoft.com/office/drawing/2014/main" id="{CD139105-BE81-E12E-8612-AC2BE26B68E7}"/>
              </a:ext>
            </a:extLst>
          </p:cNvPr>
          <p:cNvSpPr txBox="1"/>
          <p:nvPr/>
        </p:nvSpPr>
        <p:spPr>
          <a:xfrm>
            <a:off x="304800" y="1346199"/>
            <a:ext cx="1993900" cy="381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2200" b="1">
                <a:solidFill>
                  <a:srgbClr val="181818"/>
                </a:solidFill>
                <a:latin typeface="Times New Roman" panose="02020603050405020304" pitchFamily="18" charset="0"/>
              </a:rPr>
              <a:t>real93</a:t>
            </a:r>
            <a:endParaRPr lang="zh-CN" altLang="en-US" sz="22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9" name="rect_008">
            <a:extLst>
              <a:ext uri="{FF2B5EF4-FFF2-40B4-BE49-F238E27FC236}">
                <a16:creationId xmlns:a16="http://schemas.microsoft.com/office/drawing/2014/main" id="{8B1AD0BC-B640-EAA8-C222-78D14C4CA8FD}"/>
              </a:ext>
            </a:extLst>
          </p:cNvPr>
          <p:cNvSpPr/>
          <p:nvPr/>
        </p:nvSpPr>
        <p:spPr>
          <a:xfrm rot="-300000">
            <a:off x="330200" y="2578100"/>
            <a:ext cx="16510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  <a:effectLst>
            <a:outerShdw blurRad="50800" dist="45790" dir="3378598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picture_009">
            <a:extLst>
              <a:ext uri="{FF2B5EF4-FFF2-40B4-BE49-F238E27FC236}">
                <a16:creationId xmlns:a16="http://schemas.microsoft.com/office/drawing/2014/main" id="{6F555802-E95C-9C2D-19F6-3A4D64E3E0DE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300000">
            <a:off x="368300" y="2622781"/>
            <a:ext cx="1574800" cy="1180638"/>
          </a:xfrm>
          <a:prstGeom prst="rect">
            <a:avLst/>
          </a:prstGeom>
        </p:spPr>
      </p:pic>
      <p:sp>
        <p:nvSpPr>
          <p:cNvPr id="12" name="rect_010">
            <a:extLst>
              <a:ext uri="{FF2B5EF4-FFF2-40B4-BE49-F238E27FC236}">
                <a16:creationId xmlns:a16="http://schemas.microsoft.com/office/drawing/2014/main" id="{7915C03C-735A-EC89-EDDF-AF2976A608EC}"/>
              </a:ext>
            </a:extLst>
          </p:cNvPr>
          <p:cNvSpPr/>
          <p:nvPr/>
        </p:nvSpPr>
        <p:spPr>
          <a:xfrm rot="-120000">
            <a:off x="444500" y="2298700"/>
            <a:ext cx="16510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  <a:effectLst>
            <a:outerShdw blurRad="50800" dist="45790" dir="3378598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4" name="picture_011">
            <a:extLst>
              <a:ext uri="{FF2B5EF4-FFF2-40B4-BE49-F238E27FC236}">
                <a16:creationId xmlns:a16="http://schemas.microsoft.com/office/drawing/2014/main" id="{F777809F-16A5-CE5C-05A9-0F357DE2DE96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-120000">
            <a:off x="482600" y="2343381"/>
            <a:ext cx="1574800" cy="1180638"/>
          </a:xfrm>
          <a:prstGeom prst="rect">
            <a:avLst/>
          </a:prstGeom>
        </p:spPr>
      </p:pic>
      <p:sp>
        <p:nvSpPr>
          <p:cNvPr id="15" name="rect_012">
            <a:extLst>
              <a:ext uri="{FF2B5EF4-FFF2-40B4-BE49-F238E27FC236}">
                <a16:creationId xmlns:a16="http://schemas.microsoft.com/office/drawing/2014/main" id="{2D44B965-5C1D-DDEA-1D1C-683714F7BD01}"/>
              </a:ext>
            </a:extLst>
          </p:cNvPr>
          <p:cNvSpPr/>
          <p:nvPr/>
        </p:nvSpPr>
        <p:spPr>
          <a:xfrm rot="120000">
            <a:off x="558800" y="2019300"/>
            <a:ext cx="1651000" cy="1270000"/>
          </a:xfrm>
          <a:prstGeom prst="rect">
            <a:avLst/>
          </a:prstGeom>
          <a:solidFill>
            <a:srgbClr val="FFFFFF"/>
          </a:solidFill>
          <a:ln w="6350">
            <a:solidFill>
              <a:srgbClr val="888888"/>
            </a:solidFill>
          </a:ln>
          <a:effectLst>
            <a:outerShdw blurRad="50800" dist="45790" dir="3378598" rotWithShape="0">
              <a:srgbClr val="000000">
                <a:alpha val="18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picture_013">
            <a:extLst>
              <a:ext uri="{FF2B5EF4-FFF2-40B4-BE49-F238E27FC236}">
                <a16:creationId xmlns:a16="http://schemas.microsoft.com/office/drawing/2014/main" id="{88E93946-DD94-4B71-F2F0-65A514F2BDAA}"/>
              </a:ext>
            </a:extLst>
          </p:cNvPr>
          <p:cNvPicPr>
            <a:picLocks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20000">
            <a:off x="596900" y="2063981"/>
            <a:ext cx="1574800" cy="1180638"/>
          </a:xfrm>
          <a:prstGeom prst="rect">
            <a:avLst/>
          </a:prstGeom>
        </p:spPr>
      </p:pic>
      <p:sp>
        <p:nvSpPr>
          <p:cNvPr id="18" name="text_014">
            <a:extLst>
              <a:ext uri="{FF2B5EF4-FFF2-40B4-BE49-F238E27FC236}">
                <a16:creationId xmlns:a16="http://schemas.microsoft.com/office/drawing/2014/main" id="{B388E200-BDBF-38E1-CD37-4006A69062D9}"/>
              </a:ext>
            </a:extLst>
          </p:cNvPr>
          <p:cNvSpPr txBox="1"/>
          <p:nvPr/>
        </p:nvSpPr>
        <p:spPr>
          <a:xfrm>
            <a:off x="304800" y="4000499"/>
            <a:ext cx="19939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93 real photographs
On-site and web sources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19" name="line_015">
            <a:extLst>
              <a:ext uri="{FF2B5EF4-FFF2-40B4-BE49-F238E27FC236}">
                <a16:creationId xmlns:a16="http://schemas.microsoft.com/office/drawing/2014/main" id="{C8425BD9-44CB-C121-8980-A6AE2F2D72ED}"/>
              </a:ext>
            </a:extLst>
          </p:cNvPr>
          <p:cNvCxnSpPr/>
          <p:nvPr/>
        </p:nvCxnSpPr>
        <p:spPr>
          <a:xfrm>
            <a:off x="2298700" y="2730500"/>
            <a:ext cx="254000" cy="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line_016">
            <a:extLst>
              <a:ext uri="{FF2B5EF4-FFF2-40B4-BE49-F238E27FC236}">
                <a16:creationId xmlns:a16="http://schemas.microsoft.com/office/drawing/2014/main" id="{1E162B1A-63BA-5630-868F-BA5D055ABD17}"/>
              </a:ext>
            </a:extLst>
          </p:cNvPr>
          <p:cNvCxnSpPr/>
          <p:nvPr/>
        </p:nvCxnSpPr>
        <p:spPr>
          <a:xfrm>
            <a:off x="2552700" y="1409700"/>
            <a:ext cx="0" cy="285750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line_017">
            <a:extLst>
              <a:ext uri="{FF2B5EF4-FFF2-40B4-BE49-F238E27FC236}">
                <a16:creationId xmlns:a16="http://schemas.microsoft.com/office/drawing/2014/main" id="{0AC05C11-FF8B-7195-D795-EA8E8498B742}"/>
              </a:ext>
            </a:extLst>
          </p:cNvPr>
          <p:cNvCxnSpPr/>
          <p:nvPr/>
        </p:nvCxnSpPr>
        <p:spPr>
          <a:xfrm>
            <a:off x="2552700" y="1409700"/>
            <a:ext cx="355600" cy="0"/>
          </a:xfrm>
          <a:prstGeom prst="line">
            <a:avLst/>
          </a:prstGeom>
          <a:ln w="9525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_018">
            <a:extLst>
              <a:ext uri="{FF2B5EF4-FFF2-40B4-BE49-F238E27FC236}">
                <a16:creationId xmlns:a16="http://schemas.microsoft.com/office/drawing/2014/main" id="{955EA8B2-52CE-EAF2-371B-6D53848575A4}"/>
              </a:ext>
            </a:extLst>
          </p:cNvPr>
          <p:cNvSpPr/>
          <p:nvPr/>
        </p:nvSpPr>
        <p:spPr>
          <a:xfrm>
            <a:off x="2959100" y="1054100"/>
            <a:ext cx="342900" cy="3429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text_019">
            <a:extLst>
              <a:ext uri="{FF2B5EF4-FFF2-40B4-BE49-F238E27FC236}">
                <a16:creationId xmlns:a16="http://schemas.microsoft.com/office/drawing/2014/main" id="{C430184B-55C3-EC0F-6C8C-D5B95464EFDB}"/>
              </a:ext>
            </a:extLst>
          </p:cNvPr>
          <p:cNvSpPr txBox="1"/>
          <p:nvPr/>
        </p:nvSpPr>
        <p:spPr>
          <a:xfrm>
            <a:off x="2959100" y="1066799"/>
            <a:ext cx="342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24" name="text_020">
            <a:extLst>
              <a:ext uri="{FF2B5EF4-FFF2-40B4-BE49-F238E27FC236}">
                <a16:creationId xmlns:a16="http://schemas.microsoft.com/office/drawing/2014/main" id="{C732D06A-C300-E16D-85F5-C5E3C8D7423E}"/>
              </a:ext>
            </a:extLst>
          </p:cNvPr>
          <p:cNvSpPr txBox="1"/>
          <p:nvPr/>
        </p:nvSpPr>
        <p:spPr>
          <a:xfrm>
            <a:off x="3429000" y="990599"/>
            <a:ext cx="3022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181818"/>
                </a:solidFill>
                <a:latin typeface="Times New Roman" panose="02020603050405020304" pitchFamily="18" charset="0"/>
              </a:rPr>
              <a:t>Real-only baseline</a:t>
            </a:r>
            <a:endParaRPr lang="zh-CN" altLang="en-US" sz="16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5" name="text_021">
            <a:extLst>
              <a:ext uri="{FF2B5EF4-FFF2-40B4-BE49-F238E27FC236}">
                <a16:creationId xmlns:a16="http://schemas.microsoft.com/office/drawing/2014/main" id="{4695CB81-1E22-0DEC-5A74-F63703D56BAF}"/>
              </a:ext>
            </a:extLst>
          </p:cNvPr>
          <p:cNvSpPr txBox="1"/>
          <p:nvPr/>
        </p:nvSpPr>
        <p:spPr>
          <a:xfrm>
            <a:off x="3429000" y="1384299"/>
            <a:ext cx="32131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Reviewed labels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" name="text_022">
            <a:extLst>
              <a:ext uri="{FF2B5EF4-FFF2-40B4-BE49-F238E27FC236}">
                <a16:creationId xmlns:a16="http://schemas.microsoft.com/office/drawing/2014/main" id="{FC6B680A-4C21-88C8-07F4-94502A458F17}"/>
              </a:ext>
            </a:extLst>
          </p:cNvPr>
          <p:cNvSpPr txBox="1"/>
          <p:nvPr/>
        </p:nvSpPr>
        <p:spPr>
          <a:xfrm>
            <a:off x="6502400" y="1015999"/>
            <a:ext cx="86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900">
                <a:solidFill>
                  <a:srgbClr val="181818"/>
                </a:solidFill>
                <a:latin typeface="Times New Roman" panose="02020603050405020304" pitchFamily="18" charset="0"/>
              </a:rPr>
              <a:t>93</a:t>
            </a:r>
            <a:endParaRPr lang="zh-CN" altLang="en-US" sz="19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27" name="line_023">
            <a:extLst>
              <a:ext uri="{FF2B5EF4-FFF2-40B4-BE49-F238E27FC236}">
                <a16:creationId xmlns:a16="http://schemas.microsoft.com/office/drawing/2014/main" id="{33FE6A9E-D53E-83E2-3AB7-602E4C105041}"/>
              </a:ext>
            </a:extLst>
          </p:cNvPr>
          <p:cNvCxnSpPr/>
          <p:nvPr/>
        </p:nvCxnSpPr>
        <p:spPr>
          <a:xfrm>
            <a:off x="3429000" y="1765300"/>
            <a:ext cx="3937000" cy="0"/>
          </a:xfrm>
          <a:prstGeom prst="line">
            <a:avLst/>
          </a:prstGeom>
          <a:ln w="5715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line_024">
            <a:extLst>
              <a:ext uri="{FF2B5EF4-FFF2-40B4-BE49-F238E27FC236}">
                <a16:creationId xmlns:a16="http://schemas.microsoft.com/office/drawing/2014/main" id="{3FFAEB34-508E-CC09-402D-C027FC25AC26}"/>
              </a:ext>
            </a:extLst>
          </p:cNvPr>
          <p:cNvCxnSpPr/>
          <p:nvPr/>
        </p:nvCxnSpPr>
        <p:spPr>
          <a:xfrm>
            <a:off x="7391400" y="1409700"/>
            <a:ext cx="304800" cy="0"/>
          </a:xfrm>
          <a:prstGeom prst="line">
            <a:avLst/>
          </a:prstGeom>
          <a:ln w="9525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line_025">
            <a:extLst>
              <a:ext uri="{FF2B5EF4-FFF2-40B4-BE49-F238E27FC236}">
                <a16:creationId xmlns:a16="http://schemas.microsoft.com/office/drawing/2014/main" id="{75526E3C-A667-5C88-17B4-EEB8400E3DF4}"/>
              </a:ext>
            </a:extLst>
          </p:cNvPr>
          <p:cNvCxnSpPr/>
          <p:nvPr/>
        </p:nvCxnSpPr>
        <p:spPr>
          <a:xfrm>
            <a:off x="2552700" y="2362200"/>
            <a:ext cx="355600" cy="0"/>
          </a:xfrm>
          <a:prstGeom prst="line">
            <a:avLst/>
          </a:prstGeom>
          <a:ln w="9525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_026">
            <a:extLst>
              <a:ext uri="{FF2B5EF4-FFF2-40B4-BE49-F238E27FC236}">
                <a16:creationId xmlns:a16="http://schemas.microsoft.com/office/drawing/2014/main" id="{0DBFCEF3-7EE9-F116-F242-1C628C349D4A}"/>
              </a:ext>
            </a:extLst>
          </p:cNvPr>
          <p:cNvSpPr/>
          <p:nvPr/>
        </p:nvSpPr>
        <p:spPr>
          <a:xfrm>
            <a:off x="2959100" y="2006600"/>
            <a:ext cx="342900" cy="3429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text_027">
            <a:extLst>
              <a:ext uri="{FF2B5EF4-FFF2-40B4-BE49-F238E27FC236}">
                <a16:creationId xmlns:a16="http://schemas.microsoft.com/office/drawing/2014/main" id="{BF10C983-B63F-A478-A654-4930EAE62E76}"/>
              </a:ext>
            </a:extLst>
          </p:cNvPr>
          <p:cNvSpPr txBox="1"/>
          <p:nvPr/>
        </p:nvSpPr>
        <p:spPr>
          <a:xfrm>
            <a:off x="2959100" y="2019299"/>
            <a:ext cx="342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</a:rPr>
              <a:t>B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32" name="text_028">
            <a:extLst>
              <a:ext uri="{FF2B5EF4-FFF2-40B4-BE49-F238E27FC236}">
                <a16:creationId xmlns:a16="http://schemas.microsoft.com/office/drawing/2014/main" id="{258DF9FB-6A63-615C-B0AA-063211099213}"/>
              </a:ext>
            </a:extLst>
          </p:cNvPr>
          <p:cNvSpPr txBox="1"/>
          <p:nvPr/>
        </p:nvSpPr>
        <p:spPr>
          <a:xfrm>
            <a:off x="3429000" y="1943099"/>
            <a:ext cx="3022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181818"/>
                </a:solidFill>
                <a:latin typeface="Times New Roman" panose="02020603050405020304" pitchFamily="18" charset="0"/>
              </a:rPr>
              <a:t>Classical augmentation</a:t>
            </a:r>
            <a:endParaRPr lang="zh-CN" altLang="en-US" sz="16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3" name="text_029">
            <a:extLst>
              <a:ext uri="{FF2B5EF4-FFF2-40B4-BE49-F238E27FC236}">
                <a16:creationId xmlns:a16="http://schemas.microsoft.com/office/drawing/2014/main" id="{C53B1A9C-80D1-1A9D-EE97-F168789377EE}"/>
              </a:ext>
            </a:extLst>
          </p:cNvPr>
          <p:cNvSpPr txBox="1"/>
          <p:nvPr/>
        </p:nvSpPr>
        <p:spPr>
          <a:xfrm>
            <a:off x="3429000" y="2336799"/>
            <a:ext cx="32131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Offline transformations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34" name="text_030">
            <a:extLst>
              <a:ext uri="{FF2B5EF4-FFF2-40B4-BE49-F238E27FC236}">
                <a16:creationId xmlns:a16="http://schemas.microsoft.com/office/drawing/2014/main" id="{86A791A9-1D51-E371-09C8-DC2CCC0315F1}"/>
              </a:ext>
            </a:extLst>
          </p:cNvPr>
          <p:cNvSpPr txBox="1"/>
          <p:nvPr/>
        </p:nvSpPr>
        <p:spPr>
          <a:xfrm>
            <a:off x="6502400" y="1968499"/>
            <a:ext cx="86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900">
                <a:solidFill>
                  <a:srgbClr val="181818"/>
                </a:solidFill>
                <a:latin typeface="Times New Roman" panose="02020603050405020304" pitchFamily="18" charset="0"/>
              </a:rPr>
              <a:t>1,085</a:t>
            </a:r>
            <a:endParaRPr lang="zh-CN" altLang="en-US" sz="19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5" name="line_031">
            <a:extLst>
              <a:ext uri="{FF2B5EF4-FFF2-40B4-BE49-F238E27FC236}">
                <a16:creationId xmlns:a16="http://schemas.microsoft.com/office/drawing/2014/main" id="{1E9D6AA7-8885-CF82-89B4-EA46019AA769}"/>
              </a:ext>
            </a:extLst>
          </p:cNvPr>
          <p:cNvCxnSpPr/>
          <p:nvPr/>
        </p:nvCxnSpPr>
        <p:spPr>
          <a:xfrm>
            <a:off x="3429000" y="2717800"/>
            <a:ext cx="3937000" cy="0"/>
          </a:xfrm>
          <a:prstGeom prst="line">
            <a:avLst/>
          </a:prstGeom>
          <a:ln w="5715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line_032">
            <a:extLst>
              <a:ext uri="{FF2B5EF4-FFF2-40B4-BE49-F238E27FC236}">
                <a16:creationId xmlns:a16="http://schemas.microsoft.com/office/drawing/2014/main" id="{78708179-FBB7-705E-C91B-9519E67BB66D}"/>
              </a:ext>
            </a:extLst>
          </p:cNvPr>
          <p:cNvCxnSpPr/>
          <p:nvPr/>
        </p:nvCxnSpPr>
        <p:spPr>
          <a:xfrm>
            <a:off x="7391400" y="2362200"/>
            <a:ext cx="304800" cy="0"/>
          </a:xfrm>
          <a:prstGeom prst="line">
            <a:avLst/>
          </a:prstGeom>
          <a:ln w="9525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line_033">
            <a:extLst>
              <a:ext uri="{FF2B5EF4-FFF2-40B4-BE49-F238E27FC236}">
                <a16:creationId xmlns:a16="http://schemas.microsoft.com/office/drawing/2014/main" id="{A6C70363-BF0B-CE92-6276-CA838C31CDBE}"/>
              </a:ext>
            </a:extLst>
          </p:cNvPr>
          <p:cNvCxnSpPr/>
          <p:nvPr/>
        </p:nvCxnSpPr>
        <p:spPr>
          <a:xfrm>
            <a:off x="2552700" y="3314700"/>
            <a:ext cx="355600" cy="0"/>
          </a:xfrm>
          <a:prstGeom prst="line">
            <a:avLst/>
          </a:prstGeom>
          <a:ln w="9525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_034">
            <a:extLst>
              <a:ext uri="{FF2B5EF4-FFF2-40B4-BE49-F238E27FC236}">
                <a16:creationId xmlns:a16="http://schemas.microsoft.com/office/drawing/2014/main" id="{EA7645FD-A984-B8B2-C2AE-29C2AA4E3061}"/>
              </a:ext>
            </a:extLst>
          </p:cNvPr>
          <p:cNvSpPr/>
          <p:nvPr/>
        </p:nvSpPr>
        <p:spPr>
          <a:xfrm>
            <a:off x="2959100" y="2959100"/>
            <a:ext cx="342900" cy="3429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text_035">
            <a:extLst>
              <a:ext uri="{FF2B5EF4-FFF2-40B4-BE49-F238E27FC236}">
                <a16:creationId xmlns:a16="http://schemas.microsoft.com/office/drawing/2014/main" id="{31D03537-49D9-B66B-7C24-E24B6AE618DA}"/>
              </a:ext>
            </a:extLst>
          </p:cNvPr>
          <p:cNvSpPr txBox="1"/>
          <p:nvPr/>
        </p:nvSpPr>
        <p:spPr>
          <a:xfrm>
            <a:off x="2959100" y="2971799"/>
            <a:ext cx="342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</a:rPr>
              <a:t>C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0" name="text_036">
            <a:extLst>
              <a:ext uri="{FF2B5EF4-FFF2-40B4-BE49-F238E27FC236}">
                <a16:creationId xmlns:a16="http://schemas.microsoft.com/office/drawing/2014/main" id="{6EAB762B-EDF5-C056-54A1-01235DB1F407}"/>
              </a:ext>
            </a:extLst>
          </p:cNvPr>
          <p:cNvSpPr txBox="1"/>
          <p:nvPr/>
        </p:nvSpPr>
        <p:spPr>
          <a:xfrm>
            <a:off x="3429000" y="2895599"/>
            <a:ext cx="3022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181818"/>
                </a:solidFill>
                <a:latin typeface="Times New Roman" panose="02020603050405020304" pitchFamily="18" charset="0"/>
              </a:rPr>
              <a:t>Image editing</a:t>
            </a:r>
            <a:endParaRPr lang="zh-CN" altLang="en-US" sz="16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1" name="text_037">
            <a:extLst>
              <a:ext uri="{FF2B5EF4-FFF2-40B4-BE49-F238E27FC236}">
                <a16:creationId xmlns:a16="http://schemas.microsoft.com/office/drawing/2014/main" id="{84919DFE-A72C-89B6-A7AE-FC42FD1DB1B0}"/>
              </a:ext>
            </a:extLst>
          </p:cNvPr>
          <p:cNvSpPr txBox="1"/>
          <p:nvPr/>
        </p:nvSpPr>
        <p:spPr>
          <a:xfrm>
            <a:off x="3429000" y="3289299"/>
            <a:ext cx="32131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Reviewed synthetic images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2" name="text_038">
            <a:extLst>
              <a:ext uri="{FF2B5EF4-FFF2-40B4-BE49-F238E27FC236}">
                <a16:creationId xmlns:a16="http://schemas.microsoft.com/office/drawing/2014/main" id="{DAF21576-82B0-16ED-2D6B-991BEFD03F12}"/>
              </a:ext>
            </a:extLst>
          </p:cNvPr>
          <p:cNvSpPr txBox="1"/>
          <p:nvPr/>
        </p:nvSpPr>
        <p:spPr>
          <a:xfrm>
            <a:off x="6502400" y="2920999"/>
            <a:ext cx="86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900">
                <a:solidFill>
                  <a:srgbClr val="181818"/>
                </a:solidFill>
                <a:latin typeface="Times New Roman" panose="02020603050405020304" pitchFamily="18" charset="0"/>
              </a:rPr>
              <a:t>1,085</a:t>
            </a:r>
            <a:endParaRPr lang="zh-CN" altLang="en-US" sz="19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43" name="line_039">
            <a:extLst>
              <a:ext uri="{FF2B5EF4-FFF2-40B4-BE49-F238E27FC236}">
                <a16:creationId xmlns:a16="http://schemas.microsoft.com/office/drawing/2014/main" id="{28B561DA-4255-A58D-FC74-3AE06DC76142}"/>
              </a:ext>
            </a:extLst>
          </p:cNvPr>
          <p:cNvCxnSpPr/>
          <p:nvPr/>
        </p:nvCxnSpPr>
        <p:spPr>
          <a:xfrm>
            <a:off x="3429000" y="3670300"/>
            <a:ext cx="3937000" cy="0"/>
          </a:xfrm>
          <a:prstGeom prst="line">
            <a:avLst/>
          </a:prstGeom>
          <a:ln w="5715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line_040">
            <a:extLst>
              <a:ext uri="{FF2B5EF4-FFF2-40B4-BE49-F238E27FC236}">
                <a16:creationId xmlns:a16="http://schemas.microsoft.com/office/drawing/2014/main" id="{BC928F7F-FFC3-92CD-92D3-AA7DDE732318}"/>
              </a:ext>
            </a:extLst>
          </p:cNvPr>
          <p:cNvCxnSpPr/>
          <p:nvPr/>
        </p:nvCxnSpPr>
        <p:spPr>
          <a:xfrm>
            <a:off x="7391400" y="3314700"/>
            <a:ext cx="304800" cy="0"/>
          </a:xfrm>
          <a:prstGeom prst="line">
            <a:avLst/>
          </a:prstGeom>
          <a:ln w="9525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line_041">
            <a:extLst>
              <a:ext uri="{FF2B5EF4-FFF2-40B4-BE49-F238E27FC236}">
                <a16:creationId xmlns:a16="http://schemas.microsoft.com/office/drawing/2014/main" id="{8CA384C2-2C76-27EA-77CF-E3ED380EDBCF}"/>
              </a:ext>
            </a:extLst>
          </p:cNvPr>
          <p:cNvCxnSpPr/>
          <p:nvPr/>
        </p:nvCxnSpPr>
        <p:spPr>
          <a:xfrm>
            <a:off x="2552700" y="4267200"/>
            <a:ext cx="355600" cy="0"/>
          </a:xfrm>
          <a:prstGeom prst="line">
            <a:avLst/>
          </a:prstGeom>
          <a:ln w="9525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ect_042">
            <a:extLst>
              <a:ext uri="{FF2B5EF4-FFF2-40B4-BE49-F238E27FC236}">
                <a16:creationId xmlns:a16="http://schemas.microsoft.com/office/drawing/2014/main" id="{41E53A9E-E27A-9F58-5111-25A3F7FD1A67}"/>
              </a:ext>
            </a:extLst>
          </p:cNvPr>
          <p:cNvSpPr/>
          <p:nvPr/>
        </p:nvSpPr>
        <p:spPr>
          <a:xfrm>
            <a:off x="2959100" y="3911600"/>
            <a:ext cx="342900" cy="342900"/>
          </a:xfrm>
          <a:prstGeom prst="rect">
            <a:avLst/>
          </a:prstGeom>
          <a:solidFill>
            <a:srgbClr val="44444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text_043">
            <a:extLst>
              <a:ext uri="{FF2B5EF4-FFF2-40B4-BE49-F238E27FC236}">
                <a16:creationId xmlns:a16="http://schemas.microsoft.com/office/drawing/2014/main" id="{680039DF-D086-3CA3-FAEB-D22FC45AB111}"/>
              </a:ext>
            </a:extLst>
          </p:cNvPr>
          <p:cNvSpPr txBox="1"/>
          <p:nvPr/>
        </p:nvSpPr>
        <p:spPr>
          <a:xfrm>
            <a:off x="2959100" y="3924299"/>
            <a:ext cx="342900" cy="3175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 b="1">
                <a:solidFill>
                  <a:srgbClr val="FFFFFF"/>
                </a:solidFill>
                <a:latin typeface="Arial" panose="020B0604020202020204" pitchFamily="34" charset="0"/>
              </a:rPr>
              <a:t>D</a:t>
            </a:r>
            <a:endParaRPr lang="zh-CN" altLang="en-US" sz="1400" b="1">
              <a:solidFill>
                <a:srgbClr val="FFFFFF"/>
              </a:solidFill>
              <a:latin typeface="Arial" panose="020B0604020202020204" pitchFamily="34" charset="0"/>
            </a:endParaRPr>
          </a:p>
        </p:txBody>
      </p:sp>
      <p:sp>
        <p:nvSpPr>
          <p:cNvPr id="48" name="text_044">
            <a:extLst>
              <a:ext uri="{FF2B5EF4-FFF2-40B4-BE49-F238E27FC236}">
                <a16:creationId xmlns:a16="http://schemas.microsoft.com/office/drawing/2014/main" id="{EBA06171-5EB7-694A-F3B9-FBC4DF2F8CF1}"/>
              </a:ext>
            </a:extLst>
          </p:cNvPr>
          <p:cNvSpPr txBox="1"/>
          <p:nvPr/>
        </p:nvSpPr>
        <p:spPr>
          <a:xfrm>
            <a:off x="3429000" y="3848099"/>
            <a:ext cx="30226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600" b="1">
                <a:solidFill>
                  <a:srgbClr val="181818"/>
                </a:solidFill>
                <a:latin typeface="Times New Roman" panose="02020603050405020304" pitchFamily="18" charset="0"/>
              </a:rPr>
              <a:t>LoRA text-to-image</a:t>
            </a:r>
            <a:endParaRPr lang="zh-CN" altLang="en-US" sz="16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49" name="text_045">
            <a:extLst>
              <a:ext uri="{FF2B5EF4-FFF2-40B4-BE49-F238E27FC236}">
                <a16:creationId xmlns:a16="http://schemas.microsoft.com/office/drawing/2014/main" id="{676551D3-27A6-94C5-910D-0FBB4FE1D893}"/>
              </a:ext>
            </a:extLst>
          </p:cNvPr>
          <p:cNvSpPr txBox="1"/>
          <p:nvPr/>
        </p:nvSpPr>
        <p:spPr>
          <a:xfrm>
            <a:off x="3429000" y="4241799"/>
            <a:ext cx="3213100" cy="3302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Reviewed images and labels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50" name="text_046">
            <a:extLst>
              <a:ext uri="{FF2B5EF4-FFF2-40B4-BE49-F238E27FC236}">
                <a16:creationId xmlns:a16="http://schemas.microsoft.com/office/drawing/2014/main" id="{3694544F-DCD3-C988-CD27-FA81AA06F42B}"/>
              </a:ext>
            </a:extLst>
          </p:cNvPr>
          <p:cNvSpPr txBox="1"/>
          <p:nvPr/>
        </p:nvSpPr>
        <p:spPr>
          <a:xfrm>
            <a:off x="6502400" y="3873499"/>
            <a:ext cx="8636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r"/>
            <a:r>
              <a:rPr lang="en-US" altLang="zh-CN" sz="1900">
                <a:solidFill>
                  <a:srgbClr val="181818"/>
                </a:solidFill>
                <a:latin typeface="Times New Roman" panose="02020603050405020304" pitchFamily="18" charset="0"/>
              </a:rPr>
              <a:t>1,085</a:t>
            </a:r>
            <a:endParaRPr lang="zh-CN" altLang="en-US" sz="19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51" name="line_047">
            <a:extLst>
              <a:ext uri="{FF2B5EF4-FFF2-40B4-BE49-F238E27FC236}">
                <a16:creationId xmlns:a16="http://schemas.microsoft.com/office/drawing/2014/main" id="{B2FF2568-2402-EFCC-116C-1EF3918451AD}"/>
              </a:ext>
            </a:extLst>
          </p:cNvPr>
          <p:cNvCxnSpPr/>
          <p:nvPr/>
        </p:nvCxnSpPr>
        <p:spPr>
          <a:xfrm>
            <a:off x="3429000" y="4622800"/>
            <a:ext cx="3937000" cy="0"/>
          </a:xfrm>
          <a:prstGeom prst="line">
            <a:avLst/>
          </a:prstGeom>
          <a:ln w="5715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line_048">
            <a:extLst>
              <a:ext uri="{FF2B5EF4-FFF2-40B4-BE49-F238E27FC236}">
                <a16:creationId xmlns:a16="http://schemas.microsoft.com/office/drawing/2014/main" id="{E690023F-FF8A-5302-07F9-C4254E5DF3BD}"/>
              </a:ext>
            </a:extLst>
          </p:cNvPr>
          <p:cNvCxnSpPr/>
          <p:nvPr/>
        </p:nvCxnSpPr>
        <p:spPr>
          <a:xfrm>
            <a:off x="7391400" y="4267200"/>
            <a:ext cx="304800" cy="0"/>
          </a:xfrm>
          <a:prstGeom prst="line">
            <a:avLst/>
          </a:prstGeom>
          <a:ln w="9525">
            <a:solidFill>
              <a:srgbClr val="181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line_049">
            <a:extLst>
              <a:ext uri="{FF2B5EF4-FFF2-40B4-BE49-F238E27FC236}">
                <a16:creationId xmlns:a16="http://schemas.microsoft.com/office/drawing/2014/main" id="{9DA281DE-5693-A4AA-8057-5FF47EA06351}"/>
              </a:ext>
            </a:extLst>
          </p:cNvPr>
          <p:cNvCxnSpPr/>
          <p:nvPr/>
        </p:nvCxnSpPr>
        <p:spPr>
          <a:xfrm>
            <a:off x="7696200" y="1409700"/>
            <a:ext cx="0" cy="285750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line_050">
            <a:extLst>
              <a:ext uri="{FF2B5EF4-FFF2-40B4-BE49-F238E27FC236}">
                <a16:creationId xmlns:a16="http://schemas.microsoft.com/office/drawing/2014/main" id="{405AE5CF-44DB-E471-05B9-B69D1FEB1AA0}"/>
              </a:ext>
            </a:extLst>
          </p:cNvPr>
          <p:cNvCxnSpPr/>
          <p:nvPr/>
        </p:nvCxnSpPr>
        <p:spPr>
          <a:xfrm>
            <a:off x="7696200" y="2667000"/>
            <a:ext cx="330200" cy="0"/>
          </a:xfrm>
          <a:prstGeom prst="line">
            <a:avLst/>
          </a:prstGeom>
          <a:ln w="9525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_051">
            <a:extLst>
              <a:ext uri="{FF2B5EF4-FFF2-40B4-BE49-F238E27FC236}">
                <a16:creationId xmlns:a16="http://schemas.microsoft.com/office/drawing/2014/main" id="{8FF27421-7BEE-90A4-69B8-78EB018B0E68}"/>
              </a:ext>
            </a:extLst>
          </p:cNvPr>
          <p:cNvSpPr txBox="1"/>
          <p:nvPr/>
        </p:nvSpPr>
        <p:spPr>
          <a:xfrm>
            <a:off x="8089900" y="939799"/>
            <a:ext cx="31115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300" b="1">
                <a:solidFill>
                  <a:srgbClr val="181818"/>
                </a:solidFill>
                <a:latin typeface="Arial" panose="020B0604020202020204" pitchFamily="34" charset="0"/>
              </a:rPr>
              <a:t>Six detectors per arm</a:t>
            </a:r>
            <a:endParaRPr lang="zh-CN" altLang="en-US" sz="130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6" name="text_052">
            <a:extLst>
              <a:ext uri="{FF2B5EF4-FFF2-40B4-BE49-F238E27FC236}">
                <a16:creationId xmlns:a16="http://schemas.microsoft.com/office/drawing/2014/main" id="{3BCC7E68-C5A7-8E35-5EBE-CF9FA18D3071}"/>
              </a:ext>
            </a:extLst>
          </p:cNvPr>
          <p:cNvSpPr txBox="1"/>
          <p:nvPr/>
        </p:nvSpPr>
        <p:spPr>
          <a:xfrm>
            <a:off x="8255000" y="1409699"/>
            <a:ext cx="13843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181818"/>
                </a:solidFill>
                <a:latin typeface="Arial" panose="020B0604020202020204" pitchFamily="34" charset="0"/>
              </a:rPr>
              <a:t>Small (s)</a:t>
            </a:r>
            <a:endParaRPr lang="zh-CN" altLang="en-US" sz="120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sp>
        <p:nvSpPr>
          <p:cNvPr id="57" name="text_053">
            <a:extLst>
              <a:ext uri="{FF2B5EF4-FFF2-40B4-BE49-F238E27FC236}">
                <a16:creationId xmlns:a16="http://schemas.microsoft.com/office/drawing/2014/main" id="{825BB99F-3B1F-F43F-E9B2-F7E2C1E03B90}"/>
              </a:ext>
            </a:extLst>
          </p:cNvPr>
          <p:cNvSpPr txBox="1"/>
          <p:nvPr/>
        </p:nvSpPr>
        <p:spPr>
          <a:xfrm>
            <a:off x="9804400" y="1409699"/>
            <a:ext cx="1435100" cy="3048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200" b="1">
                <a:solidFill>
                  <a:srgbClr val="181818"/>
                </a:solidFill>
                <a:latin typeface="Arial" panose="020B0604020202020204" pitchFamily="34" charset="0"/>
              </a:rPr>
              <a:t>Medium (m)</a:t>
            </a:r>
            <a:endParaRPr lang="zh-CN" altLang="en-US" sz="1200" b="1">
              <a:solidFill>
                <a:srgbClr val="181818"/>
              </a:solidFill>
              <a:latin typeface="Arial" panose="020B0604020202020204" pitchFamily="34" charset="0"/>
            </a:endParaRPr>
          </a:p>
        </p:txBody>
      </p:sp>
      <p:cxnSp>
        <p:nvCxnSpPr>
          <p:cNvPr id="58" name="line_054">
            <a:extLst>
              <a:ext uri="{FF2B5EF4-FFF2-40B4-BE49-F238E27FC236}">
                <a16:creationId xmlns:a16="http://schemas.microsoft.com/office/drawing/2014/main" id="{41737076-E1BD-2C91-005E-B7DB7AAFF851}"/>
              </a:ext>
            </a:extLst>
          </p:cNvPr>
          <p:cNvCxnSpPr/>
          <p:nvPr/>
        </p:nvCxnSpPr>
        <p:spPr>
          <a:xfrm>
            <a:off x="8216900" y="1765300"/>
            <a:ext cx="3022600" cy="0"/>
          </a:xfrm>
          <a:prstGeom prst="line">
            <a:avLst/>
          </a:prstGeom>
          <a:ln w="825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_055">
            <a:extLst>
              <a:ext uri="{FF2B5EF4-FFF2-40B4-BE49-F238E27FC236}">
                <a16:creationId xmlns:a16="http://schemas.microsoft.com/office/drawing/2014/main" id="{23AD98C8-947A-D900-5374-C188EF9C22B8}"/>
              </a:ext>
            </a:extLst>
          </p:cNvPr>
          <p:cNvSpPr txBox="1"/>
          <p:nvPr/>
        </p:nvSpPr>
        <p:spPr>
          <a:xfrm>
            <a:off x="8242300" y="1879599"/>
            <a:ext cx="14478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81818"/>
                </a:solidFill>
                <a:latin typeface="Times New Roman" panose="02020603050405020304" pitchFamily="18" charset="0"/>
              </a:rPr>
              <a:t>YOLOv8s</a:t>
            </a:r>
            <a:endParaRPr lang="zh-CN" altLang="en-US" sz="15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0" name="text_056">
            <a:extLst>
              <a:ext uri="{FF2B5EF4-FFF2-40B4-BE49-F238E27FC236}">
                <a16:creationId xmlns:a16="http://schemas.microsoft.com/office/drawing/2014/main" id="{6BF149CE-82CA-541E-FECA-C0A96CBEC364}"/>
              </a:ext>
            </a:extLst>
          </p:cNvPr>
          <p:cNvSpPr txBox="1"/>
          <p:nvPr/>
        </p:nvSpPr>
        <p:spPr>
          <a:xfrm>
            <a:off x="9779000" y="1879599"/>
            <a:ext cx="14732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81818"/>
                </a:solidFill>
                <a:latin typeface="Times New Roman" panose="02020603050405020304" pitchFamily="18" charset="0"/>
              </a:rPr>
              <a:t>YOLOv8m</a:t>
            </a:r>
            <a:endParaRPr lang="zh-CN" altLang="en-US" sz="15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1" name="line_057">
            <a:extLst>
              <a:ext uri="{FF2B5EF4-FFF2-40B4-BE49-F238E27FC236}">
                <a16:creationId xmlns:a16="http://schemas.microsoft.com/office/drawing/2014/main" id="{84562846-DBC1-3B91-1DBA-7F662A6CCA42}"/>
              </a:ext>
            </a:extLst>
          </p:cNvPr>
          <p:cNvCxnSpPr/>
          <p:nvPr/>
        </p:nvCxnSpPr>
        <p:spPr>
          <a:xfrm>
            <a:off x="8216900" y="2286000"/>
            <a:ext cx="3022600" cy="0"/>
          </a:xfrm>
          <a:prstGeom prst="line">
            <a:avLst/>
          </a:prstGeom>
          <a:ln w="5080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_058">
            <a:extLst>
              <a:ext uri="{FF2B5EF4-FFF2-40B4-BE49-F238E27FC236}">
                <a16:creationId xmlns:a16="http://schemas.microsoft.com/office/drawing/2014/main" id="{E029B16A-1971-15C4-3B2C-11B6DA76F3D4}"/>
              </a:ext>
            </a:extLst>
          </p:cNvPr>
          <p:cNvSpPr txBox="1"/>
          <p:nvPr/>
        </p:nvSpPr>
        <p:spPr>
          <a:xfrm>
            <a:off x="8242300" y="2362199"/>
            <a:ext cx="14478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81818"/>
                </a:solidFill>
                <a:latin typeface="Times New Roman" panose="02020603050405020304" pitchFamily="18" charset="0"/>
              </a:rPr>
              <a:t>YOLO11s</a:t>
            </a:r>
            <a:endParaRPr lang="zh-CN" altLang="en-US" sz="15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" name="text_059">
            <a:extLst>
              <a:ext uri="{FF2B5EF4-FFF2-40B4-BE49-F238E27FC236}">
                <a16:creationId xmlns:a16="http://schemas.microsoft.com/office/drawing/2014/main" id="{B0A781BE-DD7F-722D-D8F9-AE9B362CC875}"/>
              </a:ext>
            </a:extLst>
          </p:cNvPr>
          <p:cNvSpPr txBox="1"/>
          <p:nvPr/>
        </p:nvSpPr>
        <p:spPr>
          <a:xfrm>
            <a:off x="9779000" y="2362199"/>
            <a:ext cx="14732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81818"/>
                </a:solidFill>
                <a:latin typeface="Times New Roman" panose="02020603050405020304" pitchFamily="18" charset="0"/>
              </a:rPr>
              <a:t>YOLO11m</a:t>
            </a:r>
            <a:endParaRPr lang="zh-CN" altLang="en-US" sz="15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4" name="line_060">
            <a:extLst>
              <a:ext uri="{FF2B5EF4-FFF2-40B4-BE49-F238E27FC236}">
                <a16:creationId xmlns:a16="http://schemas.microsoft.com/office/drawing/2014/main" id="{432CC02A-2BBA-5A37-3DF0-3DD3ACEFD087}"/>
              </a:ext>
            </a:extLst>
          </p:cNvPr>
          <p:cNvCxnSpPr/>
          <p:nvPr/>
        </p:nvCxnSpPr>
        <p:spPr>
          <a:xfrm>
            <a:off x="8216900" y="2768600"/>
            <a:ext cx="3022600" cy="0"/>
          </a:xfrm>
          <a:prstGeom prst="line">
            <a:avLst/>
          </a:prstGeom>
          <a:ln w="5080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_061">
            <a:extLst>
              <a:ext uri="{FF2B5EF4-FFF2-40B4-BE49-F238E27FC236}">
                <a16:creationId xmlns:a16="http://schemas.microsoft.com/office/drawing/2014/main" id="{26077CAD-817A-CD3A-0B78-135A5F46DFF4}"/>
              </a:ext>
            </a:extLst>
          </p:cNvPr>
          <p:cNvSpPr txBox="1"/>
          <p:nvPr/>
        </p:nvSpPr>
        <p:spPr>
          <a:xfrm>
            <a:off x="8242300" y="2844799"/>
            <a:ext cx="14478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81818"/>
                </a:solidFill>
                <a:latin typeface="Times New Roman" panose="02020603050405020304" pitchFamily="18" charset="0"/>
              </a:rPr>
              <a:t>YOLO26s</a:t>
            </a:r>
            <a:endParaRPr lang="zh-CN" altLang="en-US" sz="15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" name="text_062">
            <a:extLst>
              <a:ext uri="{FF2B5EF4-FFF2-40B4-BE49-F238E27FC236}">
                <a16:creationId xmlns:a16="http://schemas.microsoft.com/office/drawing/2014/main" id="{0F3818E5-C2F8-26E3-BBCA-F31B6A394E25}"/>
              </a:ext>
            </a:extLst>
          </p:cNvPr>
          <p:cNvSpPr txBox="1"/>
          <p:nvPr/>
        </p:nvSpPr>
        <p:spPr>
          <a:xfrm>
            <a:off x="9779000" y="2844799"/>
            <a:ext cx="14732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500">
                <a:solidFill>
                  <a:srgbClr val="181818"/>
                </a:solidFill>
                <a:latin typeface="Times New Roman" panose="02020603050405020304" pitchFamily="18" charset="0"/>
              </a:rPr>
              <a:t>YOLO26m</a:t>
            </a:r>
            <a:endParaRPr lang="zh-CN" altLang="en-US" sz="15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67" name="line_063">
            <a:extLst>
              <a:ext uri="{FF2B5EF4-FFF2-40B4-BE49-F238E27FC236}">
                <a16:creationId xmlns:a16="http://schemas.microsoft.com/office/drawing/2014/main" id="{EC9B16F7-01BF-5DE9-B7D6-5CDAEE6D5E29}"/>
              </a:ext>
            </a:extLst>
          </p:cNvPr>
          <p:cNvCxnSpPr/>
          <p:nvPr/>
        </p:nvCxnSpPr>
        <p:spPr>
          <a:xfrm>
            <a:off x="8216900" y="3251200"/>
            <a:ext cx="3022600" cy="0"/>
          </a:xfrm>
          <a:prstGeom prst="line">
            <a:avLst/>
          </a:prstGeom>
          <a:ln w="5080">
            <a:solidFill>
              <a:srgbClr val="B7B7B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line_064">
            <a:extLst>
              <a:ext uri="{FF2B5EF4-FFF2-40B4-BE49-F238E27FC236}">
                <a16:creationId xmlns:a16="http://schemas.microsoft.com/office/drawing/2014/main" id="{C6C94F5F-D453-F6E2-34A3-7D1FF4B8A02D}"/>
              </a:ext>
            </a:extLst>
          </p:cNvPr>
          <p:cNvCxnSpPr/>
          <p:nvPr/>
        </p:nvCxnSpPr>
        <p:spPr>
          <a:xfrm>
            <a:off x="9715500" y="3289300"/>
            <a:ext cx="0" cy="254000"/>
          </a:xfrm>
          <a:prstGeom prst="line">
            <a:avLst/>
          </a:prstGeom>
          <a:ln w="12700">
            <a:solidFill>
              <a:srgbClr val="181818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_065">
            <a:extLst>
              <a:ext uri="{FF2B5EF4-FFF2-40B4-BE49-F238E27FC236}">
                <a16:creationId xmlns:a16="http://schemas.microsoft.com/office/drawing/2014/main" id="{84B0F34D-6D32-4158-73B2-0326572A0422}"/>
              </a:ext>
            </a:extLst>
          </p:cNvPr>
          <p:cNvSpPr txBox="1"/>
          <p:nvPr/>
        </p:nvSpPr>
        <p:spPr>
          <a:xfrm>
            <a:off x="8255000" y="3632199"/>
            <a:ext cx="2997200" cy="3556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300 epochs per run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0" name="text_066">
            <a:extLst>
              <a:ext uri="{FF2B5EF4-FFF2-40B4-BE49-F238E27FC236}">
                <a16:creationId xmlns:a16="http://schemas.microsoft.com/office/drawing/2014/main" id="{38A93F60-EF71-81F5-5CEC-B2EED67978FD}"/>
              </a:ext>
            </a:extLst>
          </p:cNvPr>
          <p:cNvSpPr txBox="1"/>
          <p:nvPr/>
        </p:nvSpPr>
        <p:spPr>
          <a:xfrm>
            <a:off x="8204200" y="4063999"/>
            <a:ext cx="3111500" cy="546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pPr algn="ctr"/>
            <a:r>
              <a:rPr lang="en-US" altLang="zh-CN" sz="1400">
                <a:solidFill>
                  <a:srgbClr val="181818"/>
                </a:solidFill>
                <a:latin typeface="Times New Roman" panose="02020603050405020304" pitchFamily="18" charset="0"/>
              </a:rPr>
              <a:t>Checkpoints every 10 epochs
and final last.pt</a:t>
            </a:r>
            <a:endParaRPr lang="zh-CN" altLang="en-US" sz="14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1" name="line_067">
            <a:extLst>
              <a:ext uri="{FF2B5EF4-FFF2-40B4-BE49-F238E27FC236}">
                <a16:creationId xmlns:a16="http://schemas.microsoft.com/office/drawing/2014/main" id="{1B4EBF4E-A4B1-36EC-57FD-6A326D3E26C1}"/>
              </a:ext>
            </a:extLst>
          </p:cNvPr>
          <p:cNvCxnSpPr/>
          <p:nvPr/>
        </p:nvCxnSpPr>
        <p:spPr>
          <a:xfrm>
            <a:off x="11303000" y="4229100"/>
            <a:ext cx="381000" cy="0"/>
          </a:xfrm>
          <a:prstGeom prst="line">
            <a:avLst/>
          </a:prstGeom>
          <a:ln w="889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line_068">
            <a:extLst>
              <a:ext uri="{FF2B5EF4-FFF2-40B4-BE49-F238E27FC236}">
                <a16:creationId xmlns:a16="http://schemas.microsoft.com/office/drawing/2014/main" id="{60FAB822-FFC1-0770-9058-E54C24131C7D}"/>
              </a:ext>
            </a:extLst>
          </p:cNvPr>
          <p:cNvCxnSpPr/>
          <p:nvPr/>
        </p:nvCxnSpPr>
        <p:spPr>
          <a:xfrm flipV="1">
            <a:off x="11684000" y="1841500"/>
            <a:ext cx="0" cy="2387600"/>
          </a:xfrm>
          <a:prstGeom prst="line">
            <a:avLst/>
          </a:prstGeom>
          <a:ln w="889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line_069">
            <a:extLst>
              <a:ext uri="{FF2B5EF4-FFF2-40B4-BE49-F238E27FC236}">
                <a16:creationId xmlns:a16="http://schemas.microsoft.com/office/drawing/2014/main" id="{2195D955-1F6B-DEAB-FFE7-2440667974ED}"/>
              </a:ext>
            </a:extLst>
          </p:cNvPr>
          <p:cNvCxnSpPr/>
          <p:nvPr/>
        </p:nvCxnSpPr>
        <p:spPr>
          <a:xfrm>
            <a:off x="11684000" y="1841500"/>
            <a:ext cx="596900" cy="0"/>
          </a:xfrm>
          <a:prstGeom prst="line">
            <a:avLst/>
          </a:prstGeom>
          <a:ln w="8890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_070">
            <a:extLst>
              <a:ext uri="{FF2B5EF4-FFF2-40B4-BE49-F238E27FC236}">
                <a16:creationId xmlns:a16="http://schemas.microsoft.com/office/drawing/2014/main" id="{BA2B7B91-A3D6-AE48-E609-3B7D55905B10}"/>
              </a:ext>
            </a:extLst>
          </p:cNvPr>
          <p:cNvSpPr/>
          <p:nvPr/>
        </p:nvSpPr>
        <p:spPr>
          <a:xfrm>
            <a:off x="12065000" y="965200"/>
            <a:ext cx="4521200" cy="609600"/>
          </a:xfrm>
          <a:prstGeom prst="rect">
            <a:avLst/>
          </a:prstGeom>
          <a:solidFill>
            <a:srgbClr val="F1F1F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text_071">
            <a:extLst>
              <a:ext uri="{FF2B5EF4-FFF2-40B4-BE49-F238E27FC236}">
                <a16:creationId xmlns:a16="http://schemas.microsoft.com/office/drawing/2014/main" id="{1D8E15F0-923D-1269-1EB1-CBEAED1E99DB}"/>
              </a:ext>
            </a:extLst>
          </p:cNvPr>
          <p:cNvSpPr txBox="1"/>
          <p:nvPr/>
        </p:nvSpPr>
        <p:spPr>
          <a:xfrm>
            <a:off x="12204700" y="1041399"/>
            <a:ext cx="9017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2000" b="1">
                <a:solidFill>
                  <a:srgbClr val="181818"/>
                </a:solidFill>
                <a:latin typeface="Times New Roman" panose="02020603050405020304" pitchFamily="18" charset="0"/>
              </a:rPr>
              <a:t>dev61</a:t>
            </a:r>
            <a:endParaRPr lang="zh-CN" altLang="en-US" sz="20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76" name="text_072">
            <a:extLst>
              <a:ext uri="{FF2B5EF4-FFF2-40B4-BE49-F238E27FC236}">
                <a16:creationId xmlns:a16="http://schemas.microsoft.com/office/drawing/2014/main" id="{AC0D60E2-3117-8DA0-B1B0-1EA0864A873D}"/>
              </a:ext>
            </a:extLst>
          </p:cNvPr>
          <p:cNvSpPr txBox="1"/>
          <p:nvPr/>
        </p:nvSpPr>
        <p:spPr>
          <a:xfrm>
            <a:off x="13208000" y="1015999"/>
            <a:ext cx="3238500" cy="419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61 development images
Excluded from detector training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77" name="line_073">
            <a:extLst>
              <a:ext uri="{FF2B5EF4-FFF2-40B4-BE49-F238E27FC236}">
                <a16:creationId xmlns:a16="http://schemas.microsoft.com/office/drawing/2014/main" id="{8909D51B-22FA-AD4B-3305-B426F445F9A3}"/>
              </a:ext>
            </a:extLst>
          </p:cNvPr>
          <p:cNvCxnSpPr/>
          <p:nvPr/>
        </p:nvCxnSpPr>
        <p:spPr>
          <a:xfrm>
            <a:off x="14325600" y="1574800"/>
            <a:ext cx="0" cy="26670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line_074">
            <a:extLst>
              <a:ext uri="{FF2B5EF4-FFF2-40B4-BE49-F238E27FC236}">
                <a16:creationId xmlns:a16="http://schemas.microsoft.com/office/drawing/2014/main" id="{57A332B0-8164-7879-D777-594934EAF6FD}"/>
              </a:ext>
            </a:extLst>
          </p:cNvPr>
          <p:cNvCxnSpPr/>
          <p:nvPr/>
        </p:nvCxnSpPr>
        <p:spPr>
          <a:xfrm flipH="1">
            <a:off x="12280900" y="1841500"/>
            <a:ext cx="2044700" cy="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line_075">
            <a:extLst>
              <a:ext uri="{FF2B5EF4-FFF2-40B4-BE49-F238E27FC236}">
                <a16:creationId xmlns:a16="http://schemas.microsoft.com/office/drawing/2014/main" id="{B66F1499-A274-9A09-3C93-5BE27FEACA6F}"/>
              </a:ext>
            </a:extLst>
          </p:cNvPr>
          <p:cNvCxnSpPr/>
          <p:nvPr/>
        </p:nvCxnSpPr>
        <p:spPr>
          <a:xfrm>
            <a:off x="12280900" y="1841500"/>
            <a:ext cx="0" cy="2413000"/>
          </a:xfrm>
          <a:prstGeom prst="line">
            <a:avLst/>
          </a:prstGeom>
          <a:ln w="9525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line_076">
            <a:extLst>
              <a:ext uri="{FF2B5EF4-FFF2-40B4-BE49-F238E27FC236}">
                <a16:creationId xmlns:a16="http://schemas.microsoft.com/office/drawing/2014/main" id="{B60F85E0-D10B-2418-5CB0-6E3F0A4FA787}"/>
              </a:ext>
            </a:extLst>
          </p:cNvPr>
          <p:cNvCxnSpPr/>
          <p:nvPr/>
        </p:nvCxnSpPr>
        <p:spPr>
          <a:xfrm>
            <a:off x="12280900" y="2298700"/>
            <a:ext cx="317500" cy="0"/>
          </a:xfrm>
          <a:prstGeom prst="line">
            <a:avLst/>
          </a:prstGeom>
          <a:ln w="9525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_077">
            <a:extLst>
              <a:ext uri="{FF2B5EF4-FFF2-40B4-BE49-F238E27FC236}">
                <a16:creationId xmlns:a16="http://schemas.microsoft.com/office/drawing/2014/main" id="{62C17FFE-6D45-1F10-F86B-DA3D2A59E49C}"/>
              </a:ext>
            </a:extLst>
          </p:cNvPr>
          <p:cNvSpPr txBox="1"/>
          <p:nvPr/>
        </p:nvSpPr>
        <p:spPr>
          <a:xfrm>
            <a:off x="12712700" y="2095499"/>
            <a:ext cx="3873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Fixed endpoint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2" name="text_078">
            <a:extLst>
              <a:ext uri="{FF2B5EF4-FFF2-40B4-BE49-F238E27FC236}">
                <a16:creationId xmlns:a16="http://schemas.microsoft.com/office/drawing/2014/main" id="{604585F8-7280-D015-D3E6-3F7C962B0100}"/>
              </a:ext>
            </a:extLst>
          </p:cNvPr>
          <p:cNvSpPr txBox="1"/>
          <p:nvPr/>
        </p:nvSpPr>
        <p:spPr>
          <a:xfrm>
            <a:off x="12712700" y="2476499"/>
            <a:ext cx="3873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last.pt evaluated on dev61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3" name="line_079">
            <a:extLst>
              <a:ext uri="{FF2B5EF4-FFF2-40B4-BE49-F238E27FC236}">
                <a16:creationId xmlns:a16="http://schemas.microsoft.com/office/drawing/2014/main" id="{4A614A75-D7D0-CA4E-AE4B-CBF36E367907}"/>
              </a:ext>
            </a:extLst>
          </p:cNvPr>
          <p:cNvCxnSpPr/>
          <p:nvPr/>
        </p:nvCxnSpPr>
        <p:spPr>
          <a:xfrm>
            <a:off x="12280900" y="3225800"/>
            <a:ext cx="317500" cy="0"/>
          </a:xfrm>
          <a:prstGeom prst="line">
            <a:avLst/>
          </a:prstGeom>
          <a:ln w="9525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_080">
            <a:extLst>
              <a:ext uri="{FF2B5EF4-FFF2-40B4-BE49-F238E27FC236}">
                <a16:creationId xmlns:a16="http://schemas.microsoft.com/office/drawing/2014/main" id="{5AE34D61-5D0F-8727-37A6-16FE56017C91}"/>
              </a:ext>
            </a:extLst>
          </p:cNvPr>
          <p:cNvSpPr txBox="1"/>
          <p:nvPr/>
        </p:nvSpPr>
        <p:spPr>
          <a:xfrm>
            <a:off x="12712700" y="3022599"/>
            <a:ext cx="3873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Five-fold cross-fitting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5" name="text_081">
            <a:extLst>
              <a:ext uri="{FF2B5EF4-FFF2-40B4-BE49-F238E27FC236}">
                <a16:creationId xmlns:a16="http://schemas.microsoft.com/office/drawing/2014/main" id="{22CDBA8C-0591-B246-A992-AFC7193C2671}"/>
              </a:ext>
            </a:extLst>
          </p:cNvPr>
          <p:cNvSpPr txBox="1"/>
          <p:nvPr/>
        </p:nvSpPr>
        <p:spPr>
          <a:xfrm>
            <a:off x="12712700" y="3403599"/>
            <a:ext cx="3873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Joint model + checkpoint; pooled OOF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6" name="text_082">
            <a:extLst>
              <a:ext uri="{FF2B5EF4-FFF2-40B4-BE49-F238E27FC236}">
                <a16:creationId xmlns:a16="http://schemas.microsoft.com/office/drawing/2014/main" id="{8FD3977A-3000-1CD2-C454-6354DBD3E26B}"/>
              </a:ext>
            </a:extLst>
          </p:cNvPr>
          <p:cNvSpPr txBox="1"/>
          <p:nvPr/>
        </p:nvSpPr>
        <p:spPr>
          <a:xfrm>
            <a:off x="12712700" y="3670299"/>
            <a:ext cx="3873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200">
                <a:solidFill>
                  <a:srgbClr val="181818"/>
                </a:solidFill>
                <a:latin typeface="Times New Roman" panose="02020603050405020304" pitchFamily="18" charset="0"/>
              </a:rPr>
              <a:t>Paired bootstrap: 10,000 resamples</a:t>
            </a:r>
            <a:endParaRPr lang="zh-CN" altLang="en-US" sz="12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87" name="line_083">
            <a:extLst>
              <a:ext uri="{FF2B5EF4-FFF2-40B4-BE49-F238E27FC236}">
                <a16:creationId xmlns:a16="http://schemas.microsoft.com/office/drawing/2014/main" id="{B86EB901-4E6E-6ED3-3AB3-F59E7A952010}"/>
              </a:ext>
            </a:extLst>
          </p:cNvPr>
          <p:cNvCxnSpPr/>
          <p:nvPr/>
        </p:nvCxnSpPr>
        <p:spPr>
          <a:xfrm>
            <a:off x="12280900" y="4254500"/>
            <a:ext cx="317500" cy="0"/>
          </a:xfrm>
          <a:prstGeom prst="line">
            <a:avLst/>
          </a:prstGeom>
          <a:ln w="9525">
            <a:solidFill>
              <a:srgbClr val="202020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_084">
            <a:extLst>
              <a:ext uri="{FF2B5EF4-FFF2-40B4-BE49-F238E27FC236}">
                <a16:creationId xmlns:a16="http://schemas.microsoft.com/office/drawing/2014/main" id="{4B3E4CE5-0E1E-9466-3A76-FEEC5638E8DC}"/>
              </a:ext>
            </a:extLst>
          </p:cNvPr>
          <p:cNvSpPr txBox="1"/>
          <p:nvPr/>
        </p:nvSpPr>
        <p:spPr>
          <a:xfrm>
            <a:off x="12712700" y="4051299"/>
            <a:ext cx="3873500" cy="3429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700" b="1">
                <a:solidFill>
                  <a:srgbClr val="181818"/>
                </a:solidFill>
                <a:latin typeface="Times New Roman" panose="02020603050405020304" pitchFamily="18" charset="0"/>
              </a:rPr>
              <a:t>Deployment selection</a:t>
            </a:r>
            <a:endParaRPr lang="zh-CN" altLang="en-US" sz="1700" b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" name="text_085">
            <a:extLst>
              <a:ext uri="{FF2B5EF4-FFF2-40B4-BE49-F238E27FC236}">
                <a16:creationId xmlns:a16="http://schemas.microsoft.com/office/drawing/2014/main" id="{27273C58-1977-5BB3-747F-9A9B0D81FB6A}"/>
              </a:ext>
            </a:extLst>
          </p:cNvPr>
          <p:cNvSpPr txBox="1"/>
          <p:nvPr/>
        </p:nvSpPr>
        <p:spPr>
          <a:xfrm>
            <a:off x="12712700" y="4432299"/>
            <a:ext cx="3873500" cy="2921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300">
                <a:solidFill>
                  <a:srgbClr val="181818"/>
                </a:solidFill>
                <a:latin typeface="Times New Roman" panose="02020603050405020304" pitchFamily="18" charset="0"/>
              </a:rPr>
              <a:t>All dev61; development score</a:t>
            </a:r>
            <a:endParaRPr lang="zh-CN" altLang="en-US" sz="1300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  <p:sp>
        <p:nvSpPr>
          <p:cNvPr id="90" name="text_086">
            <a:extLst>
              <a:ext uri="{FF2B5EF4-FFF2-40B4-BE49-F238E27FC236}">
                <a16:creationId xmlns:a16="http://schemas.microsoft.com/office/drawing/2014/main" id="{97242511-7888-DDD3-9C67-2F9D6334A114}"/>
              </a:ext>
            </a:extLst>
          </p:cNvPr>
          <p:cNvSpPr txBox="1"/>
          <p:nvPr/>
        </p:nvSpPr>
        <p:spPr>
          <a:xfrm>
            <a:off x="304800" y="4813300"/>
            <a:ext cx="16281400" cy="254000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en-US" altLang="zh-CN" sz="1100" i="1">
                <a:solidFill>
                  <a:srgbClr val="181818"/>
                </a:solidFill>
                <a:latin typeface="Times New Roman" panose="02020603050405020304" pitchFamily="18" charset="0"/>
              </a:rPr>
              <a:t>All four arms completed. dev61 supports development analysis; a frozen external test remains to be collected.</a:t>
            </a:r>
            <a:endParaRPr lang="zh-CN" altLang="en-US" sz="1100" i="1">
              <a:solidFill>
                <a:srgbClr val="181818"/>
              </a:solidFill>
              <a:latin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2708621"/>
      </p:ext>
    </p:extLst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GURENUMBER" val="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自定义</PresentationFormat>
  <Paragraphs>44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等线</vt:lpstr>
      <vt:lpstr>Times New Roman</vt:lpstr>
      <vt:lpstr>等线 Light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zhangyizhou@connect.hku.hk</dc:creator>
  <cp:lastModifiedBy>zhangyizhou@connect.hku.hk</cp:lastModifiedBy>
  <cp:revision>1</cp:revision>
  <dcterms:created xsi:type="dcterms:W3CDTF">2026-10-09T14:14:48Z</dcterms:created>
  <dcterms:modified xsi:type="dcterms:W3CDTF">2026-10-09T14:14:48Z</dcterms:modified>
</cp:coreProperties>
</file>