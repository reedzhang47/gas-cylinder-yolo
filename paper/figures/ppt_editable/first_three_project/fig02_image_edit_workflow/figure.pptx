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526000" cy="8255000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等线 Light" panose="02010600030101010101" pitchFamily="2" charset="-122"/>
      <p:regular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A65AE-361D-4F3E-BEC6-4BCA23245EAC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1143000"/>
            <a:ext cx="655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CECA2-F27B-4885-917A-899DE023F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13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Image-Edit workflow. Styling only adapted from supplied Li2025 reference: pale-blue field, separated input/processing regions, pastel modules and direct arrows. No reference scientific content is reused. C example Placement_Issues_0301.png: PNG prompt nodes 23 and 25 explicitly load real_photo_12.png and real_photo_36.png; node 7 conditions on both. The displayed instruction is an English summary, not a verbatim prompt. Model and encoders: docs/v5_prompts/generation_models.md. Lightning is optional across C; do not infer all 1085 images used the same sampling settings. Final C dataset has 1085 retained and annotated images.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CECA2-F27B-4885-917A-899DE023F0E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028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B95CD-B802-4ED6-FB2D-2162B5E7B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50992"/>
            <a:ext cx="13144500" cy="2873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3EE811-92DA-48E9-F005-733EE8ECB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50" y="4335786"/>
            <a:ext cx="13144500" cy="19930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EDD3C-C757-9BEB-1C02-EA0665A5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072B0-898A-1BBF-6031-C9F8601D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887975-E48F-7B64-1A64-580AA939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3C8C0-3F3B-9BF2-A413-182C7694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9CE09-6D1E-CE6D-8788-A359265C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26CD4-5A2C-AB50-F85D-A1625F49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9678-B577-9C5B-E694-379D7108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92CD3-8D16-C995-B549-82D1AB55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32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8D898-3233-688E-18D8-40D55435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785" y="2058020"/>
            <a:ext cx="15116175" cy="34338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D30023-BDC8-8916-FFC5-207AE9DC3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785" y="5524355"/>
            <a:ext cx="15116175" cy="18057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E564A-C10C-0960-F8E2-F7E6C79F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86163-59DE-9A01-BCDA-32C2E87B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F3A9A-23A9-0D80-5A44-23E42D8E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7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A410D-C6DB-21E1-B698-BAC5C977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493C2A-1B57-788A-E50D-5AC3B34C5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4913" y="2197511"/>
            <a:ext cx="7448550" cy="52377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B8288A-0635-83C1-8314-CE2CAD3A3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72538" y="2197511"/>
            <a:ext cx="7448550" cy="52377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1276A1-E665-6602-36B5-93CCDCEE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9803D8-534F-4827-DD54-D2EEF329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0742F-B4A1-0788-F803-22A59E3E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17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F6AE2-EC4F-EAF2-34CB-05072EAC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96" y="439504"/>
            <a:ext cx="15116175" cy="15955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949D15-074E-C6D6-2AF6-C9065DD00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7197" y="2023622"/>
            <a:ext cx="7414319" cy="9917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DA9DC-E2A6-2CC5-04CF-8BE9D5A1E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7197" y="3015368"/>
            <a:ext cx="7414319" cy="4435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7E7F55-6514-1BFB-A1EB-AA09D6FDD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72538" y="2023622"/>
            <a:ext cx="7450833" cy="9917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80F17D-330D-0681-41DE-BFA9C2A50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72538" y="3015368"/>
            <a:ext cx="7450833" cy="4435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B20C7F-5AE9-E53E-E51B-00EC5C1C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2776D0-CD23-D403-E866-8F342070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3645FB-ADF9-9D1F-ACFC-D3AE70ED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3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33BCA-1652-85D6-644E-BAE32A36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BDC3D0-3A2E-9E22-3C3B-D7806E7E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AB6B2-9EDC-FFB0-7AE6-C2F3B7A7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BF0587-2BE8-8F42-8456-F25BB3C5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28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509878-8C80-562A-17E1-92A925A2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9C558F-34C1-F6FB-A650-3F7EDD03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1CE6E2-69B7-0DDA-F961-DF9A270A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13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45DA6-E027-AF58-08FA-EEC539C6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97" y="550333"/>
            <a:ext cx="5652591" cy="19261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67C20-3812-0542-6041-B8C87EF2B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832" y="1188569"/>
            <a:ext cx="8872538" cy="586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55771A-D660-D5A2-8596-9107F5861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197" y="2476500"/>
            <a:ext cx="5652591" cy="4588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DC9A03-7ACF-AFF5-DD3E-75CD6F25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E0695-8859-632F-1BE5-ECE1E695D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0C2BDE-865D-EAEC-54D5-A6823148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42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086A3-E957-E146-32D0-FA19A7F5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97" y="550333"/>
            <a:ext cx="5652591" cy="19261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D336D3-DBDF-5A92-C33D-5A06221CA2E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450832" y="1188569"/>
            <a:ext cx="8872538" cy="586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E3D000-ADB2-C9FA-BE9A-DD29E623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197" y="2476500"/>
            <a:ext cx="5652591" cy="45880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12F061-4B58-6BDB-E91D-68982ABD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C566DA-1247-E436-4E0F-6F98B1A3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F63F5A-FE0B-BDAF-C11A-85BB7E57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47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62E60-DD84-4058-4087-65424175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7D36C0-1941-3338-8AFC-EE4E5F3E1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319067-AEAD-10E3-25EE-F4040140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94E27-1DA6-52BD-9C6F-8BC75990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C296A-0DA8-ECFA-2CED-BED5FC1C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23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28FC9C-D536-914B-8D3A-74424A252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542044" y="439502"/>
            <a:ext cx="3779044" cy="699573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947201-C36F-7611-ECA7-BD7F4461F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04913" y="439502"/>
            <a:ext cx="11118056" cy="699573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0D8E4-0146-EDD2-0616-06EB7970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8727E-A94C-70B4-5857-08A1F8F6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17F477-FB67-180A-800D-50C27FE4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67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2C90F6-BC5E-2BE1-CE1D-633A2C831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914" y="439504"/>
            <a:ext cx="15116175" cy="1595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0E067-0BD5-0C0D-7684-6E2FB6F2C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914" y="2197511"/>
            <a:ext cx="15116175" cy="523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EC889-B462-7C05-DFEF-224BFCED5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04913" y="7651164"/>
            <a:ext cx="3943350" cy="4395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47BBF-35D0-4785-BB1A-24495BBE301F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81FA1-7CFA-DB5B-07DD-5B3987C15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5489" y="7651164"/>
            <a:ext cx="5915025" cy="4395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BDF811-4A59-1DD4-5DF8-2FB57F2A8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77738" y="7651164"/>
            <a:ext cx="3943350" cy="4395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C3B88-3BED-4C5A-A8AB-C7491EE0F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09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_001">
            <a:extLst>
              <a:ext uri="{FF2B5EF4-FFF2-40B4-BE49-F238E27FC236}">
                <a16:creationId xmlns:a16="http://schemas.microsoft.com/office/drawing/2014/main" id="{4AE5931D-3338-F3D0-2E29-0730E0C2A65F}"/>
              </a:ext>
            </a:extLst>
          </p:cNvPr>
          <p:cNvSpPr/>
          <p:nvPr/>
        </p:nvSpPr>
        <p:spPr>
          <a:xfrm>
            <a:off x="152400" y="152400"/>
            <a:ext cx="17221200" cy="7950200"/>
          </a:xfrm>
          <a:prstGeom prst="roundRect">
            <a:avLst>
              <a:gd name="adj" fmla="val 8000"/>
            </a:avLst>
          </a:prstGeom>
          <a:solidFill>
            <a:srgbClr val="E2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line_002">
            <a:extLst>
              <a:ext uri="{FF2B5EF4-FFF2-40B4-BE49-F238E27FC236}">
                <a16:creationId xmlns:a16="http://schemas.microsoft.com/office/drawing/2014/main" id="{F686F81A-6D48-8B12-80AD-19F6D2237808}"/>
              </a:ext>
            </a:extLst>
          </p:cNvPr>
          <p:cNvCxnSpPr/>
          <p:nvPr/>
        </p:nvCxnSpPr>
        <p:spPr>
          <a:xfrm>
            <a:off x="4800600" y="457200"/>
            <a:ext cx="0" cy="7302500"/>
          </a:xfrm>
          <a:prstGeom prst="line">
            <a:avLst/>
          </a:prstGeom>
          <a:ln w="15875">
            <a:solidFill>
              <a:srgbClr val="74859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_003">
            <a:extLst>
              <a:ext uri="{FF2B5EF4-FFF2-40B4-BE49-F238E27FC236}">
                <a16:creationId xmlns:a16="http://schemas.microsoft.com/office/drawing/2014/main" id="{DD608EB1-1BA9-2831-4C42-36C716FA5200}"/>
              </a:ext>
            </a:extLst>
          </p:cNvPr>
          <p:cNvSpPr txBox="1"/>
          <p:nvPr/>
        </p:nvSpPr>
        <p:spPr>
          <a:xfrm>
            <a:off x="457200" y="393699"/>
            <a:ext cx="4013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(a) Reference composition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_004">
            <a:extLst>
              <a:ext uri="{FF2B5EF4-FFF2-40B4-BE49-F238E27FC236}">
                <a16:creationId xmlns:a16="http://schemas.microsoft.com/office/drawing/2014/main" id="{BC3369CA-44A0-D67B-AFFD-62135261192B}"/>
              </a:ext>
            </a:extLst>
          </p:cNvPr>
          <p:cNvSpPr txBox="1"/>
          <p:nvPr/>
        </p:nvSpPr>
        <p:spPr>
          <a:xfrm>
            <a:off x="5257800" y="393699"/>
            <a:ext cx="1165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(b) Conditioned image editing and dataset assembly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_005">
            <a:extLst>
              <a:ext uri="{FF2B5EF4-FFF2-40B4-BE49-F238E27FC236}">
                <a16:creationId xmlns:a16="http://schemas.microsoft.com/office/drawing/2014/main" id="{BAC14321-4D85-C3F2-2CB0-DDFA7FEB91C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03699"/>
            <a:ext cx="2209800" cy="1656702"/>
          </a:xfrm>
          <a:prstGeom prst="rect">
            <a:avLst/>
          </a:prstGeom>
        </p:spPr>
      </p:pic>
      <p:sp>
        <p:nvSpPr>
          <p:cNvPr id="8" name="rect_006">
            <a:extLst>
              <a:ext uri="{FF2B5EF4-FFF2-40B4-BE49-F238E27FC236}">
                <a16:creationId xmlns:a16="http://schemas.microsoft.com/office/drawing/2014/main" id="{1FFE4474-F89F-3EE5-E716-F4EAC5EF4DEB}"/>
              </a:ext>
            </a:extLst>
          </p:cNvPr>
          <p:cNvSpPr/>
          <p:nvPr/>
        </p:nvSpPr>
        <p:spPr>
          <a:xfrm>
            <a:off x="508000" y="1603699"/>
            <a:ext cx="2209800" cy="1656702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_007">
            <a:extLst>
              <a:ext uri="{FF2B5EF4-FFF2-40B4-BE49-F238E27FC236}">
                <a16:creationId xmlns:a16="http://schemas.microsoft.com/office/drawing/2014/main" id="{98DCD094-FA14-4AAB-16ED-4F14002E535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800" y="1505031"/>
            <a:ext cx="1346200" cy="1815938"/>
          </a:xfrm>
          <a:prstGeom prst="rect">
            <a:avLst/>
          </a:prstGeom>
        </p:spPr>
      </p:pic>
      <p:sp>
        <p:nvSpPr>
          <p:cNvPr id="11" name="rect_008">
            <a:extLst>
              <a:ext uri="{FF2B5EF4-FFF2-40B4-BE49-F238E27FC236}">
                <a16:creationId xmlns:a16="http://schemas.microsoft.com/office/drawing/2014/main" id="{BDBABA9B-28F5-0E82-7B55-A40F5F8B6AD1}"/>
              </a:ext>
            </a:extLst>
          </p:cNvPr>
          <p:cNvSpPr/>
          <p:nvPr/>
        </p:nvSpPr>
        <p:spPr>
          <a:xfrm>
            <a:off x="3225800" y="1505031"/>
            <a:ext cx="1346200" cy="1815938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_009">
            <a:extLst>
              <a:ext uri="{FF2B5EF4-FFF2-40B4-BE49-F238E27FC236}">
                <a16:creationId xmlns:a16="http://schemas.microsoft.com/office/drawing/2014/main" id="{27FD6B43-88AA-155A-A2A7-7BA86933FF3A}"/>
              </a:ext>
            </a:extLst>
          </p:cNvPr>
          <p:cNvSpPr txBox="1"/>
          <p:nvPr/>
        </p:nvSpPr>
        <p:spPr>
          <a:xfrm>
            <a:off x="2743200" y="2031999"/>
            <a:ext cx="431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3000" b="1">
                <a:solidFill>
                  <a:srgbClr val="181818"/>
                </a:solidFill>
                <a:latin typeface="Times New Roman" panose="02020603050405020304" pitchFamily="18" charset="0"/>
              </a:rPr>
              <a:t>+</a:t>
            </a:r>
            <a:endParaRPr lang="zh-CN" altLang="en-US" sz="3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_010">
            <a:extLst>
              <a:ext uri="{FF2B5EF4-FFF2-40B4-BE49-F238E27FC236}">
                <a16:creationId xmlns:a16="http://schemas.microsoft.com/office/drawing/2014/main" id="{8802BAD8-0789-9701-ED03-C41AFCD4D614}"/>
              </a:ext>
            </a:extLst>
          </p:cNvPr>
          <p:cNvSpPr txBox="1"/>
          <p:nvPr/>
        </p:nvSpPr>
        <p:spPr>
          <a:xfrm>
            <a:off x="558800" y="3632199"/>
            <a:ext cx="2133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81818"/>
                </a:solidFill>
                <a:latin typeface="Arial" panose="020B0604020202020204" pitchFamily="34" charset="0"/>
              </a:rPr>
              <a:t>Reference 12</a:t>
            </a:r>
            <a:endParaRPr lang="zh-CN" altLang="en-US" sz="1200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_011">
            <a:extLst>
              <a:ext uri="{FF2B5EF4-FFF2-40B4-BE49-F238E27FC236}">
                <a16:creationId xmlns:a16="http://schemas.microsoft.com/office/drawing/2014/main" id="{59BCBF8A-329A-339B-A324-300D9D81031A}"/>
              </a:ext>
            </a:extLst>
          </p:cNvPr>
          <p:cNvSpPr txBox="1"/>
          <p:nvPr/>
        </p:nvSpPr>
        <p:spPr>
          <a:xfrm>
            <a:off x="3086100" y="3632199"/>
            <a:ext cx="1587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81818"/>
                </a:solidFill>
                <a:latin typeface="Arial" panose="020B0604020202020204" pitchFamily="34" charset="0"/>
              </a:rPr>
              <a:t>Reference 36</a:t>
            </a:r>
            <a:endParaRPr lang="zh-CN" altLang="en-US" sz="1200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line_012">
            <a:extLst>
              <a:ext uri="{FF2B5EF4-FFF2-40B4-BE49-F238E27FC236}">
                <a16:creationId xmlns:a16="http://schemas.microsoft.com/office/drawing/2014/main" id="{6C44199B-8696-46ED-685F-EEA664DA2C33}"/>
              </a:ext>
            </a:extLst>
          </p:cNvPr>
          <p:cNvCxnSpPr/>
          <p:nvPr/>
        </p:nvCxnSpPr>
        <p:spPr>
          <a:xfrm>
            <a:off x="1574800" y="4013200"/>
            <a:ext cx="0" cy="22860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013">
            <a:extLst>
              <a:ext uri="{FF2B5EF4-FFF2-40B4-BE49-F238E27FC236}">
                <a16:creationId xmlns:a16="http://schemas.microsoft.com/office/drawing/2014/main" id="{AA59D272-7D28-2A33-6E78-09BB5A32A89E}"/>
              </a:ext>
            </a:extLst>
          </p:cNvPr>
          <p:cNvCxnSpPr/>
          <p:nvPr/>
        </p:nvCxnSpPr>
        <p:spPr>
          <a:xfrm>
            <a:off x="1574800" y="4241800"/>
            <a:ext cx="2298700" cy="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_014">
            <a:extLst>
              <a:ext uri="{FF2B5EF4-FFF2-40B4-BE49-F238E27FC236}">
                <a16:creationId xmlns:a16="http://schemas.microsoft.com/office/drawing/2014/main" id="{913944E8-3ADB-2EEC-3A57-2B49D0EE6A23}"/>
              </a:ext>
            </a:extLst>
          </p:cNvPr>
          <p:cNvCxnSpPr/>
          <p:nvPr/>
        </p:nvCxnSpPr>
        <p:spPr>
          <a:xfrm flipV="1">
            <a:off x="3873500" y="4013200"/>
            <a:ext cx="0" cy="22860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015">
            <a:extLst>
              <a:ext uri="{FF2B5EF4-FFF2-40B4-BE49-F238E27FC236}">
                <a16:creationId xmlns:a16="http://schemas.microsoft.com/office/drawing/2014/main" id="{27C46BF6-9EC5-F2A9-2692-3BF7E00DDB21}"/>
              </a:ext>
            </a:extLst>
          </p:cNvPr>
          <p:cNvCxnSpPr/>
          <p:nvPr/>
        </p:nvCxnSpPr>
        <p:spPr>
          <a:xfrm>
            <a:off x="2717800" y="4241800"/>
            <a:ext cx="0" cy="25400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016">
            <a:extLst>
              <a:ext uri="{FF2B5EF4-FFF2-40B4-BE49-F238E27FC236}">
                <a16:creationId xmlns:a16="http://schemas.microsoft.com/office/drawing/2014/main" id="{13505D0F-6BBC-8469-E45D-73B08584ED75}"/>
              </a:ext>
            </a:extLst>
          </p:cNvPr>
          <p:cNvSpPr txBox="1"/>
          <p:nvPr/>
        </p:nvSpPr>
        <p:spPr>
          <a:xfrm>
            <a:off x="546100" y="4495799"/>
            <a:ext cx="3848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Joint visual conditioning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_017">
            <a:extLst>
              <a:ext uri="{FF2B5EF4-FFF2-40B4-BE49-F238E27FC236}">
                <a16:creationId xmlns:a16="http://schemas.microsoft.com/office/drawing/2014/main" id="{CBB41A33-369F-8893-E594-4922DD74950B}"/>
              </a:ext>
            </a:extLst>
          </p:cNvPr>
          <p:cNvSpPr/>
          <p:nvPr/>
        </p:nvSpPr>
        <p:spPr>
          <a:xfrm>
            <a:off x="520700" y="5257800"/>
            <a:ext cx="3975100" cy="1460500"/>
          </a:xfrm>
          <a:prstGeom prst="rect">
            <a:avLst/>
          </a:prstGeom>
          <a:solidFill>
            <a:srgbClr val="FFF4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_018">
            <a:extLst>
              <a:ext uri="{FF2B5EF4-FFF2-40B4-BE49-F238E27FC236}">
                <a16:creationId xmlns:a16="http://schemas.microsoft.com/office/drawing/2014/main" id="{30F19E1B-9B74-EA78-BF47-C7236D356EE5}"/>
              </a:ext>
            </a:extLst>
          </p:cNvPr>
          <p:cNvSpPr txBox="1"/>
          <p:nvPr/>
        </p:nvSpPr>
        <p:spPr>
          <a:xfrm>
            <a:off x="660400" y="5384799"/>
            <a:ext cx="3695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Edit instruction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_019">
            <a:extLst>
              <a:ext uri="{FF2B5EF4-FFF2-40B4-BE49-F238E27FC236}">
                <a16:creationId xmlns:a16="http://schemas.microsoft.com/office/drawing/2014/main" id="{59424F19-E19E-60A1-30A8-7E7EC22EDEF7}"/>
              </a:ext>
            </a:extLst>
          </p:cNvPr>
          <p:cNvSpPr txBox="1"/>
          <p:nvPr/>
        </p:nvSpPr>
        <p:spPr>
          <a:xfrm>
            <a:off x="749300" y="5867399"/>
            <a:ext cx="35179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81818"/>
                </a:solidFill>
                <a:latin typeface="Times New Roman" panose="02020603050405020304" pitchFamily="18" charset="0"/>
              </a:rPr>
              <a:t>Combine the cage and cylinders
with the reference scene</a:t>
            </a:r>
            <a:endParaRPr lang="zh-CN" altLang="en-US" sz="17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_020">
            <a:extLst>
              <a:ext uri="{FF2B5EF4-FFF2-40B4-BE49-F238E27FC236}">
                <a16:creationId xmlns:a16="http://schemas.microsoft.com/office/drawing/2014/main" id="{D4810D6F-66BE-FC99-63E7-96115CA9E0DA}"/>
              </a:ext>
            </a:extLst>
          </p:cNvPr>
          <p:cNvSpPr txBox="1"/>
          <p:nvPr/>
        </p:nvSpPr>
        <p:spPr>
          <a:xfrm>
            <a:off x="533400" y="7048499"/>
            <a:ext cx="39497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i="1">
                <a:solidFill>
                  <a:srgbClr val="181818"/>
                </a:solidFill>
                <a:latin typeface="Times New Roman" panose="02020603050405020304" pitchFamily="18" charset="0"/>
              </a:rPr>
              <a:t>Two reference photographs
contribute to image 301</a:t>
            </a:r>
            <a:endParaRPr lang="zh-CN" altLang="en-US" sz="16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4" name="line_021">
            <a:extLst>
              <a:ext uri="{FF2B5EF4-FFF2-40B4-BE49-F238E27FC236}">
                <a16:creationId xmlns:a16="http://schemas.microsoft.com/office/drawing/2014/main" id="{107519E7-0EEE-B2C0-C93D-0DA08068166A}"/>
              </a:ext>
            </a:extLst>
          </p:cNvPr>
          <p:cNvCxnSpPr/>
          <p:nvPr/>
        </p:nvCxnSpPr>
        <p:spPr>
          <a:xfrm>
            <a:off x="4495800" y="5981700"/>
            <a:ext cx="812800" cy="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_022">
            <a:extLst>
              <a:ext uri="{FF2B5EF4-FFF2-40B4-BE49-F238E27FC236}">
                <a16:creationId xmlns:a16="http://schemas.microsoft.com/office/drawing/2014/main" id="{399E1CA7-9982-A7E1-1B5D-4BB9CDF4162C}"/>
              </a:ext>
            </a:extLst>
          </p:cNvPr>
          <p:cNvCxnSpPr/>
          <p:nvPr/>
        </p:nvCxnSpPr>
        <p:spPr>
          <a:xfrm flipV="1">
            <a:off x="5308600" y="2184400"/>
            <a:ext cx="0" cy="379730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e_023">
            <a:extLst>
              <a:ext uri="{FF2B5EF4-FFF2-40B4-BE49-F238E27FC236}">
                <a16:creationId xmlns:a16="http://schemas.microsoft.com/office/drawing/2014/main" id="{E605F72C-B3BA-7EB2-1AE6-F87A3F267513}"/>
              </a:ext>
            </a:extLst>
          </p:cNvPr>
          <p:cNvCxnSpPr/>
          <p:nvPr/>
        </p:nvCxnSpPr>
        <p:spPr>
          <a:xfrm>
            <a:off x="5308600" y="2184400"/>
            <a:ext cx="203200" cy="0"/>
          </a:xfrm>
          <a:prstGeom prst="line">
            <a:avLst/>
          </a:prstGeom>
          <a:ln w="1397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_024">
            <a:extLst>
              <a:ext uri="{FF2B5EF4-FFF2-40B4-BE49-F238E27FC236}">
                <a16:creationId xmlns:a16="http://schemas.microsoft.com/office/drawing/2014/main" id="{E0A80D8E-4437-4FA1-03BF-FB488EAF81B8}"/>
              </a:ext>
            </a:extLst>
          </p:cNvPr>
          <p:cNvCxnSpPr/>
          <p:nvPr/>
        </p:nvCxnSpPr>
        <p:spPr>
          <a:xfrm>
            <a:off x="4495800" y="4660900"/>
            <a:ext cx="609600" cy="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5">
            <a:extLst>
              <a:ext uri="{FF2B5EF4-FFF2-40B4-BE49-F238E27FC236}">
                <a16:creationId xmlns:a16="http://schemas.microsoft.com/office/drawing/2014/main" id="{A973CB92-0B56-F499-9302-8E73A74B63F6}"/>
              </a:ext>
            </a:extLst>
          </p:cNvPr>
          <p:cNvCxnSpPr/>
          <p:nvPr/>
        </p:nvCxnSpPr>
        <p:spPr>
          <a:xfrm flipV="1">
            <a:off x="5105400" y="1816100"/>
            <a:ext cx="0" cy="284480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026">
            <a:extLst>
              <a:ext uri="{FF2B5EF4-FFF2-40B4-BE49-F238E27FC236}">
                <a16:creationId xmlns:a16="http://schemas.microsoft.com/office/drawing/2014/main" id="{3FFBB8E0-FB7E-2BBC-1DD8-98CA864F4934}"/>
              </a:ext>
            </a:extLst>
          </p:cNvPr>
          <p:cNvCxnSpPr/>
          <p:nvPr/>
        </p:nvCxnSpPr>
        <p:spPr>
          <a:xfrm>
            <a:off x="5105400" y="1816100"/>
            <a:ext cx="406400" cy="0"/>
          </a:xfrm>
          <a:prstGeom prst="line">
            <a:avLst/>
          </a:prstGeom>
          <a:ln w="1397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rect_027">
            <a:extLst>
              <a:ext uri="{FF2B5EF4-FFF2-40B4-BE49-F238E27FC236}">
                <a16:creationId xmlns:a16="http://schemas.microsoft.com/office/drawing/2014/main" id="{010E2996-4337-06D2-3D93-6953AD89D0BB}"/>
              </a:ext>
            </a:extLst>
          </p:cNvPr>
          <p:cNvSpPr/>
          <p:nvPr/>
        </p:nvSpPr>
        <p:spPr>
          <a:xfrm>
            <a:off x="5511800" y="1333500"/>
            <a:ext cx="4292600" cy="1016000"/>
          </a:xfrm>
          <a:prstGeom prst="roundRect">
            <a:avLst>
              <a:gd name="adj" fmla="val 8000"/>
            </a:avLst>
          </a:prstGeom>
          <a:solidFill>
            <a:srgbClr val="F5E6D5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_028">
            <a:extLst>
              <a:ext uri="{FF2B5EF4-FFF2-40B4-BE49-F238E27FC236}">
                <a16:creationId xmlns:a16="http://schemas.microsoft.com/office/drawing/2014/main" id="{6273B2F3-16E5-7855-5469-1581DA5A80A4}"/>
              </a:ext>
            </a:extLst>
          </p:cNvPr>
          <p:cNvSpPr txBox="1"/>
          <p:nvPr/>
        </p:nvSpPr>
        <p:spPr>
          <a:xfrm>
            <a:off x="5638800" y="1422399"/>
            <a:ext cx="403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Multimodal encoder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_029">
            <a:extLst>
              <a:ext uri="{FF2B5EF4-FFF2-40B4-BE49-F238E27FC236}">
                <a16:creationId xmlns:a16="http://schemas.microsoft.com/office/drawing/2014/main" id="{7BA763F7-ECD4-A31B-BB43-3C5CFB5B5CB0}"/>
              </a:ext>
            </a:extLst>
          </p:cNvPr>
          <p:cNvSpPr txBox="1"/>
          <p:nvPr/>
        </p:nvSpPr>
        <p:spPr>
          <a:xfrm>
            <a:off x="5638800" y="1816099"/>
            <a:ext cx="403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Qwen2.5-VL 7B · FP8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_030">
            <a:extLst>
              <a:ext uri="{FF2B5EF4-FFF2-40B4-BE49-F238E27FC236}">
                <a16:creationId xmlns:a16="http://schemas.microsoft.com/office/drawing/2014/main" id="{BCB6933A-769C-8F87-A0C4-36B37ABD7130}"/>
              </a:ext>
            </a:extLst>
          </p:cNvPr>
          <p:cNvSpPr txBox="1"/>
          <p:nvPr/>
        </p:nvSpPr>
        <p:spPr>
          <a:xfrm>
            <a:off x="6032500" y="2400299"/>
            <a:ext cx="3251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i="1">
                <a:solidFill>
                  <a:srgbClr val="181818"/>
                </a:solidFill>
                <a:latin typeface="Times New Roman" panose="02020603050405020304" pitchFamily="18" charset="0"/>
              </a:rPr>
              <a:t>Visual + text conditioning</a:t>
            </a:r>
            <a:endParaRPr lang="zh-CN" altLang="en-US" sz="15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4" name="line_031">
            <a:extLst>
              <a:ext uri="{FF2B5EF4-FFF2-40B4-BE49-F238E27FC236}">
                <a16:creationId xmlns:a16="http://schemas.microsoft.com/office/drawing/2014/main" id="{8A5E6FC9-199F-F2EE-096F-F327F4B79A36}"/>
              </a:ext>
            </a:extLst>
          </p:cNvPr>
          <p:cNvCxnSpPr/>
          <p:nvPr/>
        </p:nvCxnSpPr>
        <p:spPr>
          <a:xfrm>
            <a:off x="9804400" y="1841500"/>
            <a:ext cx="1079500" cy="0"/>
          </a:xfrm>
          <a:prstGeom prst="line">
            <a:avLst/>
          </a:prstGeom>
          <a:ln w="1524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032">
            <a:extLst>
              <a:ext uri="{FF2B5EF4-FFF2-40B4-BE49-F238E27FC236}">
                <a16:creationId xmlns:a16="http://schemas.microsoft.com/office/drawing/2014/main" id="{0A77C0D0-28D6-D7DA-8F37-B93E32329131}"/>
              </a:ext>
            </a:extLst>
          </p:cNvPr>
          <p:cNvCxnSpPr/>
          <p:nvPr/>
        </p:nvCxnSpPr>
        <p:spPr>
          <a:xfrm>
            <a:off x="10883900" y="1841500"/>
            <a:ext cx="0" cy="124460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rect_033">
            <a:extLst>
              <a:ext uri="{FF2B5EF4-FFF2-40B4-BE49-F238E27FC236}">
                <a16:creationId xmlns:a16="http://schemas.microsoft.com/office/drawing/2014/main" id="{B131D652-B034-9FAF-4E88-9F641B2A4FD7}"/>
              </a:ext>
            </a:extLst>
          </p:cNvPr>
          <p:cNvSpPr/>
          <p:nvPr/>
        </p:nvSpPr>
        <p:spPr>
          <a:xfrm>
            <a:off x="5524500" y="3619500"/>
            <a:ext cx="2374900" cy="990600"/>
          </a:xfrm>
          <a:prstGeom prst="roundRect">
            <a:avLst>
              <a:gd name="adj" fmla="val 8000"/>
            </a:avLst>
          </a:prstGeom>
          <a:solidFill>
            <a:srgbClr val="E0EEEE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_034">
            <a:extLst>
              <a:ext uri="{FF2B5EF4-FFF2-40B4-BE49-F238E27FC236}">
                <a16:creationId xmlns:a16="http://schemas.microsoft.com/office/drawing/2014/main" id="{4AD99B4E-C718-3E41-DF15-E0CBE4A7EEB8}"/>
              </a:ext>
            </a:extLst>
          </p:cNvPr>
          <p:cNvSpPr txBox="1"/>
          <p:nvPr/>
        </p:nvSpPr>
        <p:spPr>
          <a:xfrm>
            <a:off x="5651500" y="3708399"/>
            <a:ext cx="212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Image encoding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_035">
            <a:extLst>
              <a:ext uri="{FF2B5EF4-FFF2-40B4-BE49-F238E27FC236}">
                <a16:creationId xmlns:a16="http://schemas.microsoft.com/office/drawing/2014/main" id="{554EC863-FCEC-530B-7C28-AC300DD5E7E5}"/>
              </a:ext>
            </a:extLst>
          </p:cNvPr>
          <p:cNvSpPr txBox="1"/>
          <p:nvPr/>
        </p:nvSpPr>
        <p:spPr>
          <a:xfrm>
            <a:off x="5651500" y="4102099"/>
            <a:ext cx="21209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Scale + Qwen VAE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9" name="line_036">
            <a:extLst>
              <a:ext uri="{FF2B5EF4-FFF2-40B4-BE49-F238E27FC236}">
                <a16:creationId xmlns:a16="http://schemas.microsoft.com/office/drawing/2014/main" id="{DB098281-EF10-4C39-214B-044A94376588}"/>
              </a:ext>
            </a:extLst>
          </p:cNvPr>
          <p:cNvCxnSpPr/>
          <p:nvPr/>
        </p:nvCxnSpPr>
        <p:spPr>
          <a:xfrm>
            <a:off x="5105400" y="4152900"/>
            <a:ext cx="419100" cy="0"/>
          </a:xfrm>
          <a:prstGeom prst="line">
            <a:avLst/>
          </a:prstGeom>
          <a:ln w="1397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ine_037">
            <a:extLst>
              <a:ext uri="{FF2B5EF4-FFF2-40B4-BE49-F238E27FC236}">
                <a16:creationId xmlns:a16="http://schemas.microsoft.com/office/drawing/2014/main" id="{7729D3B9-0961-B5C7-447B-9770038AE116}"/>
              </a:ext>
            </a:extLst>
          </p:cNvPr>
          <p:cNvCxnSpPr/>
          <p:nvPr/>
        </p:nvCxnSpPr>
        <p:spPr>
          <a:xfrm>
            <a:off x="7899400" y="4152900"/>
            <a:ext cx="774700" cy="0"/>
          </a:xfrm>
          <a:prstGeom prst="line">
            <a:avLst/>
          </a:prstGeom>
          <a:ln w="1651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_038">
            <a:extLst>
              <a:ext uri="{FF2B5EF4-FFF2-40B4-BE49-F238E27FC236}">
                <a16:creationId xmlns:a16="http://schemas.microsoft.com/office/drawing/2014/main" id="{B960C9B8-46E0-C8D0-EDC2-4D2CEB0843F0}"/>
              </a:ext>
            </a:extLst>
          </p:cNvPr>
          <p:cNvSpPr txBox="1"/>
          <p:nvPr/>
        </p:nvSpPr>
        <p:spPr>
          <a:xfrm>
            <a:off x="5562600" y="4698999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 i="1">
                <a:solidFill>
                  <a:srgbClr val="181818"/>
                </a:solidFill>
                <a:latin typeface="Times New Roman" panose="02020603050405020304" pitchFamily="18" charset="0"/>
              </a:rPr>
              <a:t>Reference latent</a:t>
            </a:r>
            <a:endParaRPr lang="zh-CN" altLang="en-US" sz="15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oundrect_039">
            <a:extLst>
              <a:ext uri="{FF2B5EF4-FFF2-40B4-BE49-F238E27FC236}">
                <a16:creationId xmlns:a16="http://schemas.microsoft.com/office/drawing/2014/main" id="{B9B56811-6077-5BC2-64A4-D3BC6547E456}"/>
              </a:ext>
            </a:extLst>
          </p:cNvPr>
          <p:cNvSpPr/>
          <p:nvPr/>
        </p:nvSpPr>
        <p:spPr>
          <a:xfrm>
            <a:off x="8674100" y="3086100"/>
            <a:ext cx="4419600" cy="2578100"/>
          </a:xfrm>
          <a:prstGeom prst="roundRect">
            <a:avLst>
              <a:gd name="adj" fmla="val 8000"/>
            </a:avLst>
          </a:prstGeom>
          <a:solidFill>
            <a:srgbClr val="BFD3E8"/>
          </a:solidFill>
          <a:ln w="15240">
            <a:solidFill>
              <a:srgbClr val="536F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_040">
            <a:extLst>
              <a:ext uri="{FF2B5EF4-FFF2-40B4-BE49-F238E27FC236}">
                <a16:creationId xmlns:a16="http://schemas.microsoft.com/office/drawing/2014/main" id="{27B86554-3116-EE99-C73F-BED31727DDAF}"/>
              </a:ext>
            </a:extLst>
          </p:cNvPr>
          <p:cNvSpPr txBox="1"/>
          <p:nvPr/>
        </p:nvSpPr>
        <p:spPr>
          <a:xfrm>
            <a:off x="8851900" y="31876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Qwen-Image-Edit-2509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_041">
            <a:extLst>
              <a:ext uri="{FF2B5EF4-FFF2-40B4-BE49-F238E27FC236}">
                <a16:creationId xmlns:a16="http://schemas.microsoft.com/office/drawing/2014/main" id="{49758A34-5981-CDB1-3D82-4EA58C934946}"/>
              </a:ext>
            </a:extLst>
          </p:cNvPr>
          <p:cNvSpPr txBox="1"/>
          <p:nvPr/>
        </p:nvSpPr>
        <p:spPr>
          <a:xfrm>
            <a:off x="8953500" y="3632199"/>
            <a:ext cx="3860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>
                <a:solidFill>
                  <a:srgbClr val="181818"/>
                </a:solidFill>
                <a:latin typeface="Times New Roman" panose="02020603050405020304" pitchFamily="18" charset="0"/>
              </a:rPr>
              <a:t>FP8 diffusion backbone</a:t>
            </a:r>
            <a:endParaRPr lang="zh-CN" altLang="en-US" sz="17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_042">
            <a:extLst>
              <a:ext uri="{FF2B5EF4-FFF2-40B4-BE49-F238E27FC236}">
                <a16:creationId xmlns:a16="http://schemas.microsoft.com/office/drawing/2014/main" id="{E7353F7E-3971-C7E3-CEAD-254F20DCBFEC}"/>
              </a:ext>
            </a:extLst>
          </p:cNvPr>
          <p:cNvSpPr/>
          <p:nvPr/>
        </p:nvSpPr>
        <p:spPr>
          <a:xfrm>
            <a:off x="8915400" y="4165600"/>
            <a:ext cx="3937000" cy="685800"/>
          </a:xfrm>
          <a:prstGeom prst="rect">
            <a:avLst/>
          </a:prstGeom>
          <a:solidFill>
            <a:srgbClr val="F7FAFD"/>
          </a:solidFill>
          <a:ln w="8890">
            <a:solidFill>
              <a:srgbClr val="536F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_043">
            <a:extLst>
              <a:ext uri="{FF2B5EF4-FFF2-40B4-BE49-F238E27FC236}">
                <a16:creationId xmlns:a16="http://schemas.microsoft.com/office/drawing/2014/main" id="{40351A26-1E6D-ABC1-4D50-A2940EBABC7F}"/>
              </a:ext>
            </a:extLst>
          </p:cNvPr>
          <p:cNvSpPr txBox="1"/>
          <p:nvPr/>
        </p:nvSpPr>
        <p:spPr>
          <a:xfrm>
            <a:off x="9042400" y="4267199"/>
            <a:ext cx="3683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Conditioned denoising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_044">
            <a:extLst>
              <a:ext uri="{FF2B5EF4-FFF2-40B4-BE49-F238E27FC236}">
                <a16:creationId xmlns:a16="http://schemas.microsoft.com/office/drawing/2014/main" id="{DE8F69D1-56BE-6A99-55F1-E3945ED628F5}"/>
              </a:ext>
            </a:extLst>
          </p:cNvPr>
          <p:cNvSpPr txBox="1"/>
          <p:nvPr/>
        </p:nvSpPr>
        <p:spPr>
          <a:xfrm>
            <a:off x="8966200" y="5092699"/>
            <a:ext cx="383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Arial" panose="020B0604020202020204" pitchFamily="34" charset="0"/>
              </a:rPr>
              <a:t>KSampler · Euler / simple</a:t>
            </a:r>
            <a:endParaRPr lang="zh-CN" altLang="en-US" sz="1400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48" name="roundrect_045">
            <a:extLst>
              <a:ext uri="{FF2B5EF4-FFF2-40B4-BE49-F238E27FC236}">
                <a16:creationId xmlns:a16="http://schemas.microsoft.com/office/drawing/2014/main" id="{86E7244C-651F-AC33-5A40-BEC330F95255}"/>
              </a:ext>
            </a:extLst>
          </p:cNvPr>
          <p:cNvSpPr/>
          <p:nvPr/>
        </p:nvSpPr>
        <p:spPr>
          <a:xfrm>
            <a:off x="8674100" y="6311900"/>
            <a:ext cx="4419600" cy="939800"/>
          </a:xfrm>
          <a:prstGeom prst="roundRect">
            <a:avLst>
              <a:gd name="adj" fmla="val 8000"/>
            </a:avLst>
          </a:prstGeom>
          <a:solidFill>
            <a:srgbClr val="F3F0E7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_046">
            <a:extLst>
              <a:ext uri="{FF2B5EF4-FFF2-40B4-BE49-F238E27FC236}">
                <a16:creationId xmlns:a16="http://schemas.microsoft.com/office/drawing/2014/main" id="{6919236E-6053-C46E-4035-A061DCD02D47}"/>
              </a:ext>
            </a:extLst>
          </p:cNvPr>
          <p:cNvSpPr txBox="1"/>
          <p:nvPr/>
        </p:nvSpPr>
        <p:spPr>
          <a:xfrm>
            <a:off x="8801100" y="6400799"/>
            <a:ext cx="4165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900" b="1">
                <a:solidFill>
                  <a:srgbClr val="181818"/>
                </a:solidFill>
                <a:latin typeface="Times New Roman" panose="02020603050405020304" pitchFamily="18" charset="0"/>
              </a:rPr>
              <a:t>Sampling configuration</a:t>
            </a:r>
            <a:endParaRPr lang="zh-CN" altLang="en-US" sz="19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_047">
            <a:extLst>
              <a:ext uri="{FF2B5EF4-FFF2-40B4-BE49-F238E27FC236}">
                <a16:creationId xmlns:a16="http://schemas.microsoft.com/office/drawing/2014/main" id="{D7948D9D-4BBC-ABBE-C4EB-9CB68FB3FCC7}"/>
              </a:ext>
            </a:extLst>
          </p:cNvPr>
          <p:cNvSpPr txBox="1"/>
          <p:nvPr/>
        </p:nvSpPr>
        <p:spPr>
          <a:xfrm>
            <a:off x="8801100" y="6794499"/>
            <a:ext cx="4165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Standard / optional Lightning path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1" name="line_048">
            <a:extLst>
              <a:ext uri="{FF2B5EF4-FFF2-40B4-BE49-F238E27FC236}">
                <a16:creationId xmlns:a16="http://schemas.microsoft.com/office/drawing/2014/main" id="{58D106B3-C3C3-237F-26DA-A10C87838624}"/>
              </a:ext>
            </a:extLst>
          </p:cNvPr>
          <p:cNvCxnSpPr/>
          <p:nvPr/>
        </p:nvCxnSpPr>
        <p:spPr>
          <a:xfrm flipV="1">
            <a:off x="10883900" y="5664200"/>
            <a:ext cx="0" cy="6477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rect_049">
            <a:extLst>
              <a:ext uri="{FF2B5EF4-FFF2-40B4-BE49-F238E27FC236}">
                <a16:creationId xmlns:a16="http://schemas.microsoft.com/office/drawing/2014/main" id="{0D42174E-DDCA-4430-40EE-19E8318A28A4}"/>
              </a:ext>
            </a:extLst>
          </p:cNvPr>
          <p:cNvSpPr/>
          <p:nvPr/>
        </p:nvSpPr>
        <p:spPr>
          <a:xfrm>
            <a:off x="5562600" y="6261100"/>
            <a:ext cx="2324100" cy="9906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_050">
            <a:extLst>
              <a:ext uri="{FF2B5EF4-FFF2-40B4-BE49-F238E27FC236}">
                <a16:creationId xmlns:a16="http://schemas.microsoft.com/office/drawing/2014/main" id="{01D1B805-99EC-A877-F755-26B574A211B7}"/>
              </a:ext>
            </a:extLst>
          </p:cNvPr>
          <p:cNvSpPr txBox="1"/>
          <p:nvPr/>
        </p:nvSpPr>
        <p:spPr>
          <a:xfrm>
            <a:off x="5689600" y="6349999"/>
            <a:ext cx="20701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Noise latent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text_051">
            <a:extLst>
              <a:ext uri="{FF2B5EF4-FFF2-40B4-BE49-F238E27FC236}">
                <a16:creationId xmlns:a16="http://schemas.microsoft.com/office/drawing/2014/main" id="{9FEEC65B-C266-EC1C-3E65-B220635AA7C1}"/>
              </a:ext>
            </a:extLst>
          </p:cNvPr>
          <p:cNvSpPr txBox="1"/>
          <p:nvPr/>
        </p:nvSpPr>
        <p:spPr>
          <a:xfrm>
            <a:off x="5689600" y="6743699"/>
            <a:ext cx="20701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Seed + output size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5" name="line_052">
            <a:extLst>
              <a:ext uri="{FF2B5EF4-FFF2-40B4-BE49-F238E27FC236}">
                <a16:creationId xmlns:a16="http://schemas.microsoft.com/office/drawing/2014/main" id="{2CCC80CA-038F-0573-7E74-3F665819F8CE}"/>
              </a:ext>
            </a:extLst>
          </p:cNvPr>
          <p:cNvCxnSpPr/>
          <p:nvPr/>
        </p:nvCxnSpPr>
        <p:spPr>
          <a:xfrm>
            <a:off x="7886700" y="6756400"/>
            <a:ext cx="342900" cy="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053">
            <a:extLst>
              <a:ext uri="{FF2B5EF4-FFF2-40B4-BE49-F238E27FC236}">
                <a16:creationId xmlns:a16="http://schemas.microsoft.com/office/drawing/2014/main" id="{8A591F61-D006-8264-3535-0399303791D3}"/>
              </a:ext>
            </a:extLst>
          </p:cNvPr>
          <p:cNvCxnSpPr/>
          <p:nvPr/>
        </p:nvCxnSpPr>
        <p:spPr>
          <a:xfrm flipV="1">
            <a:off x="8229600" y="5295900"/>
            <a:ext cx="0" cy="1460500"/>
          </a:xfrm>
          <a:prstGeom prst="line">
            <a:avLst/>
          </a:prstGeom>
          <a:ln w="1397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e_054">
            <a:extLst>
              <a:ext uri="{FF2B5EF4-FFF2-40B4-BE49-F238E27FC236}">
                <a16:creationId xmlns:a16="http://schemas.microsoft.com/office/drawing/2014/main" id="{69A25CF9-7859-9977-B62C-A97BC192CFF5}"/>
              </a:ext>
            </a:extLst>
          </p:cNvPr>
          <p:cNvCxnSpPr/>
          <p:nvPr/>
        </p:nvCxnSpPr>
        <p:spPr>
          <a:xfrm>
            <a:off x="8229600" y="5295900"/>
            <a:ext cx="444500" cy="0"/>
          </a:xfrm>
          <a:prstGeom prst="line">
            <a:avLst/>
          </a:prstGeom>
          <a:ln w="1397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line_055">
            <a:extLst>
              <a:ext uri="{FF2B5EF4-FFF2-40B4-BE49-F238E27FC236}">
                <a16:creationId xmlns:a16="http://schemas.microsoft.com/office/drawing/2014/main" id="{DBBEF47B-98FB-5B7B-CA92-4B0E753FAFCD}"/>
              </a:ext>
            </a:extLst>
          </p:cNvPr>
          <p:cNvCxnSpPr/>
          <p:nvPr/>
        </p:nvCxnSpPr>
        <p:spPr>
          <a:xfrm>
            <a:off x="13093700" y="4508500"/>
            <a:ext cx="368300" cy="0"/>
          </a:xfrm>
          <a:prstGeom prst="line">
            <a:avLst/>
          </a:prstGeom>
          <a:ln w="1524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ne_056">
            <a:extLst>
              <a:ext uri="{FF2B5EF4-FFF2-40B4-BE49-F238E27FC236}">
                <a16:creationId xmlns:a16="http://schemas.microsoft.com/office/drawing/2014/main" id="{CB4856AD-C333-CC0F-5368-7B965ADFE4E6}"/>
              </a:ext>
            </a:extLst>
          </p:cNvPr>
          <p:cNvCxnSpPr/>
          <p:nvPr/>
        </p:nvCxnSpPr>
        <p:spPr>
          <a:xfrm flipV="1">
            <a:off x="13462000" y="1866900"/>
            <a:ext cx="0" cy="2641600"/>
          </a:xfrm>
          <a:prstGeom prst="line">
            <a:avLst/>
          </a:prstGeom>
          <a:ln w="1524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ine_057">
            <a:extLst>
              <a:ext uri="{FF2B5EF4-FFF2-40B4-BE49-F238E27FC236}">
                <a16:creationId xmlns:a16="http://schemas.microsoft.com/office/drawing/2014/main" id="{55551BAA-C22E-C151-41B2-D38583308121}"/>
              </a:ext>
            </a:extLst>
          </p:cNvPr>
          <p:cNvCxnSpPr/>
          <p:nvPr/>
        </p:nvCxnSpPr>
        <p:spPr>
          <a:xfrm>
            <a:off x="13462000" y="1866900"/>
            <a:ext cx="381000" cy="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rect_058">
            <a:extLst>
              <a:ext uri="{FF2B5EF4-FFF2-40B4-BE49-F238E27FC236}">
                <a16:creationId xmlns:a16="http://schemas.microsoft.com/office/drawing/2014/main" id="{E7CF7C8A-D49D-3A99-32CC-EBE428B81BC2}"/>
              </a:ext>
            </a:extLst>
          </p:cNvPr>
          <p:cNvSpPr/>
          <p:nvPr/>
        </p:nvSpPr>
        <p:spPr>
          <a:xfrm>
            <a:off x="13843000" y="1384300"/>
            <a:ext cx="3073400" cy="965200"/>
          </a:xfrm>
          <a:prstGeom prst="roundRect">
            <a:avLst>
              <a:gd name="adj" fmla="val 8000"/>
            </a:avLst>
          </a:prstGeom>
          <a:solidFill>
            <a:srgbClr val="E0EEEE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xt_059">
            <a:extLst>
              <a:ext uri="{FF2B5EF4-FFF2-40B4-BE49-F238E27FC236}">
                <a16:creationId xmlns:a16="http://schemas.microsoft.com/office/drawing/2014/main" id="{3165572C-D135-29EE-6567-64DC3EADB4E5}"/>
              </a:ext>
            </a:extLst>
          </p:cNvPr>
          <p:cNvSpPr txBox="1"/>
          <p:nvPr/>
        </p:nvSpPr>
        <p:spPr>
          <a:xfrm>
            <a:off x="13970000" y="1473199"/>
            <a:ext cx="2819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VAE decoding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text_060">
            <a:extLst>
              <a:ext uri="{FF2B5EF4-FFF2-40B4-BE49-F238E27FC236}">
                <a16:creationId xmlns:a16="http://schemas.microsoft.com/office/drawing/2014/main" id="{658ABE34-F252-2978-844D-E54FA6A933DF}"/>
              </a:ext>
            </a:extLst>
          </p:cNvPr>
          <p:cNvSpPr txBox="1"/>
          <p:nvPr/>
        </p:nvSpPr>
        <p:spPr>
          <a:xfrm>
            <a:off x="13970000" y="1866899"/>
            <a:ext cx="2819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Qwen image VAE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" name="line_061">
            <a:extLst>
              <a:ext uri="{FF2B5EF4-FFF2-40B4-BE49-F238E27FC236}">
                <a16:creationId xmlns:a16="http://schemas.microsoft.com/office/drawing/2014/main" id="{534937F3-8B6B-AA29-24D0-C8F5D4DB44E0}"/>
              </a:ext>
            </a:extLst>
          </p:cNvPr>
          <p:cNvCxnSpPr/>
          <p:nvPr/>
        </p:nvCxnSpPr>
        <p:spPr>
          <a:xfrm>
            <a:off x="15379700" y="2349500"/>
            <a:ext cx="0" cy="6096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_062">
            <a:extLst>
              <a:ext uri="{FF2B5EF4-FFF2-40B4-BE49-F238E27FC236}">
                <a16:creationId xmlns:a16="http://schemas.microsoft.com/office/drawing/2014/main" id="{4378C24F-2AD7-C773-98C9-A9CE7BA64DB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900" y="2982441"/>
            <a:ext cx="3149600" cy="2340919"/>
          </a:xfrm>
          <a:prstGeom prst="rect">
            <a:avLst/>
          </a:prstGeom>
          <a:effectLst>
            <a:outerShdw blurRad="50800" dist="45790" dir="3378598" rotWithShape="0">
              <a:srgbClr val="000000">
                <a:alpha val="18000"/>
              </a:srgbClr>
            </a:outerShdw>
          </a:effectLst>
        </p:spPr>
      </p:pic>
      <p:sp>
        <p:nvSpPr>
          <p:cNvPr id="67" name="rect_063">
            <a:extLst>
              <a:ext uri="{FF2B5EF4-FFF2-40B4-BE49-F238E27FC236}">
                <a16:creationId xmlns:a16="http://schemas.microsoft.com/office/drawing/2014/main" id="{87C2F8AE-355A-CE18-0885-ED1547E72861}"/>
              </a:ext>
            </a:extLst>
          </p:cNvPr>
          <p:cNvSpPr/>
          <p:nvPr/>
        </p:nvSpPr>
        <p:spPr>
          <a:xfrm>
            <a:off x="13804900" y="2982441"/>
            <a:ext cx="3149600" cy="2340919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text_064">
            <a:extLst>
              <a:ext uri="{FF2B5EF4-FFF2-40B4-BE49-F238E27FC236}">
                <a16:creationId xmlns:a16="http://schemas.microsoft.com/office/drawing/2014/main" id="{35CC092E-AE98-0979-35D1-6A95D3BDEC02}"/>
              </a:ext>
            </a:extLst>
          </p:cNvPr>
          <p:cNvSpPr txBox="1"/>
          <p:nvPr/>
        </p:nvSpPr>
        <p:spPr>
          <a:xfrm>
            <a:off x="13804900" y="5448299"/>
            <a:ext cx="3149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Generated image 301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9" name="line_065">
            <a:extLst>
              <a:ext uri="{FF2B5EF4-FFF2-40B4-BE49-F238E27FC236}">
                <a16:creationId xmlns:a16="http://schemas.microsoft.com/office/drawing/2014/main" id="{4332B18F-C19B-4230-B42E-3E85D849E07A}"/>
              </a:ext>
            </a:extLst>
          </p:cNvPr>
          <p:cNvCxnSpPr/>
          <p:nvPr/>
        </p:nvCxnSpPr>
        <p:spPr>
          <a:xfrm>
            <a:off x="15379700" y="5905500"/>
            <a:ext cx="0" cy="3937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_066">
            <a:extLst>
              <a:ext uri="{FF2B5EF4-FFF2-40B4-BE49-F238E27FC236}">
                <a16:creationId xmlns:a16="http://schemas.microsoft.com/office/drawing/2014/main" id="{116C3C66-04BA-5A76-24B4-90128753D3D4}"/>
              </a:ext>
            </a:extLst>
          </p:cNvPr>
          <p:cNvSpPr txBox="1"/>
          <p:nvPr/>
        </p:nvSpPr>
        <p:spPr>
          <a:xfrm>
            <a:off x="13665200" y="6349999"/>
            <a:ext cx="34290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Human review
and YOLO annotation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1" name="line_067">
            <a:extLst>
              <a:ext uri="{FF2B5EF4-FFF2-40B4-BE49-F238E27FC236}">
                <a16:creationId xmlns:a16="http://schemas.microsoft.com/office/drawing/2014/main" id="{5CBDD36C-E0A1-FA98-C521-62F3FEBE0DF8}"/>
              </a:ext>
            </a:extLst>
          </p:cNvPr>
          <p:cNvCxnSpPr/>
          <p:nvPr/>
        </p:nvCxnSpPr>
        <p:spPr>
          <a:xfrm>
            <a:off x="15379700" y="7099300"/>
            <a:ext cx="0" cy="2794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_068">
            <a:extLst>
              <a:ext uri="{FF2B5EF4-FFF2-40B4-BE49-F238E27FC236}">
                <a16:creationId xmlns:a16="http://schemas.microsoft.com/office/drawing/2014/main" id="{88D8E823-5280-3D4E-E537-E15DBB35A480}"/>
              </a:ext>
            </a:extLst>
          </p:cNvPr>
          <p:cNvSpPr txBox="1"/>
          <p:nvPr/>
        </p:nvSpPr>
        <p:spPr>
          <a:xfrm>
            <a:off x="13309600" y="7429499"/>
            <a:ext cx="39243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Arm C: 1,085 images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text_069">
            <a:extLst>
              <a:ext uri="{FF2B5EF4-FFF2-40B4-BE49-F238E27FC236}">
                <a16:creationId xmlns:a16="http://schemas.microsoft.com/office/drawing/2014/main" id="{26C74784-1A56-E278-9374-EF5F8A11084C}"/>
              </a:ext>
            </a:extLst>
          </p:cNvPr>
          <p:cNvSpPr txBox="1"/>
          <p:nvPr/>
        </p:nvSpPr>
        <p:spPr>
          <a:xfrm>
            <a:off x="5257800" y="7594599"/>
            <a:ext cx="774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i="1">
                <a:solidFill>
                  <a:srgbClr val="181818"/>
                </a:solidFill>
                <a:latin typeface="Times New Roman" panose="02020603050405020304" pitchFamily="18" charset="0"/>
              </a:rPr>
              <a:t>Reference pairing shown for image 301; sampling settings can vary across C.</a:t>
            </a:r>
            <a:endParaRPr lang="zh-CN" altLang="en-US" sz="12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359769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等线</vt:lpstr>
      <vt:lpstr>Times New Roman</vt:lpstr>
      <vt:lpstr>等线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2026-10-09T14:14:49Z</dcterms:created>
  <dcterms:modified xsi:type="dcterms:W3CDTF">2026-10-09T14:14:49Z</dcterms:modified>
</cp:coreProperties>
</file>